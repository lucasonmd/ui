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859536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lIns="0" rIns="0" tIns="0" bIns="0" wrap="square"/>
          <a:lstStyle/>
          <a:p>
            <a:pPr algn="l"/>
            <a:r>
              <a:rPr sz="2400" b="1">
                <a:solidFill>
                  <a:srgbClr val="1F2A3C"/>
                </a:solidFill>
                <a:latin typeface="Malgun Gothic"/>
                <a:ea typeface="Malgun Gothic"/>
                <a:cs typeface="Malgun Gothic"/>
              </a:rPr>
              <a:t>GVA HMI UI 영역 구성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64240" cy="384048"/>
          </a:xfrm>
          <a:prstGeom prst="rect">
            <a:avLst/>
          </a:prstGeom>
          <a:noFill/>
          <a:ln>
            <a:noFill/>
          </a:ln>
        </p:spPr>
        <p:txBody>
          <a:bodyPr rtlCol="0" anchor="t" lIns="0" rIns="0" tIns="0" bIns="0" wrap="square"/>
          <a:lstStyle/>
          <a:p>
            <a:pPr algn="l"/>
            <a:r>
              <a:rPr sz="120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GVA HMI의 한 화면은 HMI Core가 관리하는 공통 UI 영역과 각 Application이 그리는 Content 영역으로 나뉨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43584"/>
            <a:ext cx="11091672" cy="0"/>
          </a:xfrm>
          <a:prstGeom prst="line">
            <a:avLst/>
          </a:prstGeom>
          <a:ln w="9525">
            <a:solidFill>
              <a:srgbClr val="C5CAD2"/>
            </a:solidFill>
          </a:ln>
        </p:spPr>
      </p:cxnSp>
      <p:sp>
        <p:nvSpPr>
          <p:cNvPr id="5" name="Rectangle 4"/>
          <p:cNvSpPr/>
          <p:nvPr/>
        </p:nvSpPr>
        <p:spPr>
          <a:xfrm>
            <a:off x="548640" y="6473952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rtlCol="0" anchor="ctr" lIns="0" rIns="0" tIns="0" bIns="0" wrap="square"/>
          <a:lstStyle/>
          <a:p>
            <a:pPr algn="l"/>
            <a:r>
              <a:rPr sz="900" b="0">
                <a:solidFill>
                  <a:srgbClr val="9AA1AC"/>
                </a:solidFill>
                <a:latin typeface="Malgun Gothic"/>
                <a:ea typeface="Malgun Gothic"/>
                <a:cs typeface="Malgun Gothic"/>
              </a:rPr>
              <a:t>GVA HMI 기술설명  ·  NGVA 기반 HMI 구조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25912" y="647395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rtlCol="0" anchor="ctr" lIns="0" rIns="0" tIns="0" bIns="0" wrap="square"/>
          <a:lstStyle/>
          <a:p>
            <a:pPr algn="r"/>
            <a:r>
              <a:rPr sz="900" b="0">
                <a:solidFill>
                  <a:srgbClr val="9AA1AC"/>
                </a:solidFill>
                <a:latin typeface="Malgun Gothic"/>
                <a:ea typeface="Malgun Gothic"/>
                <a:cs typeface="Malgun Gothic"/>
              </a:rPr>
              <a:t>1 / 10</a:t>
            </a:r>
          </a:p>
        </p:txBody>
      </p:sp>
      <p:pic>
        <p:nvPicPr>
          <p:cNvPr id="7" name="Picture 6" descr="UKGV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81328"/>
            <a:ext cx="5191492" cy="41148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867379" y="2658177"/>
            <a:ext cx="2487242" cy="1944722"/>
          </a:xfrm>
          <a:prstGeom prst="rect">
            <a:avLst/>
          </a:prstGeom>
          <a:noFill/>
          <a:ln w="28575">
            <a:solidFill>
              <a:srgbClr val="C0561B"/>
            </a:solidFill>
          </a:ln>
        </p:spPr>
        <p:txBody>
          <a:bodyPr rtlCol="0" anchor="ctr" lIns="36576" rIns="36576" tIns="36576" bIns="36576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37613" y="2699909"/>
            <a:ext cx="201168" cy="201168"/>
          </a:xfrm>
          <a:prstGeom prst="rect">
            <a:avLst/>
          </a:prstGeom>
          <a:solidFill>
            <a:srgbClr val="C0561B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5962" y="2015500"/>
            <a:ext cx="201168" cy="201168"/>
          </a:xfrm>
          <a:prstGeom prst="rect">
            <a:avLst/>
          </a:prstGeom>
          <a:solidFill>
            <a:srgbClr val="1F2A3C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16513" y="2474555"/>
            <a:ext cx="201168" cy="201168"/>
          </a:xfrm>
          <a:prstGeom prst="rect">
            <a:avLst/>
          </a:prstGeom>
          <a:solidFill>
            <a:srgbClr val="1F2A3C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5411" y="2599752"/>
            <a:ext cx="201168" cy="201168"/>
          </a:xfrm>
          <a:prstGeom prst="rect">
            <a:avLst/>
          </a:prstGeom>
          <a:solidFill>
            <a:srgbClr val="1F2A3C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9738" y="2599752"/>
            <a:ext cx="201168" cy="201168"/>
          </a:xfrm>
          <a:prstGeom prst="rect">
            <a:avLst/>
          </a:prstGeom>
          <a:solidFill>
            <a:srgbClr val="1F2A3C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16041" y="4970144"/>
            <a:ext cx="201168" cy="201168"/>
          </a:xfrm>
          <a:prstGeom prst="rect">
            <a:avLst/>
          </a:prstGeom>
          <a:solidFill>
            <a:srgbClr val="1F2A3C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650992"/>
            <a:ext cx="5191492" cy="228600"/>
          </a:xfrm>
          <a:prstGeom prst="rect">
            <a:avLst/>
          </a:prstGeom>
          <a:noFill/>
          <a:ln>
            <a:noFill/>
          </a:ln>
        </p:spPr>
        <p:txBody>
          <a:bodyPr rtlCol="0" anchor="t" lIns="0" rIns="0" tIns="0" bIns="0" wrap="square"/>
          <a:lstStyle/>
          <a:p>
            <a:pPr algn="l"/>
            <a:r>
              <a:rPr sz="90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UK GVA (Def Stan 23-09) 기준 HMI 화면 배치</a:t>
            </a:r>
          </a:p>
          <a:p>
            <a:pPr algn="l"/>
            <a:r>
              <a:rPr sz="90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F1–F20 · 상단 8개 버튼은 화면 테두리(베젤)의 물리 버튼이며, 화면에는 그 버튼의 라벨을 표시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517904"/>
            <a:ext cx="45720" cy="182880"/>
          </a:xfrm>
          <a:prstGeom prst="rect">
            <a:avLst/>
          </a:prstGeom>
          <a:solidFill>
            <a:srgbClr val="1F2A3C"/>
          </a:solidFill>
          <a:ln>
            <a:noFill/>
          </a:ln>
        </p:spPr>
        <p:txBody>
          <a:bodyPr rtlCol="0" anchor="ctr" lIns="36576" rIns="36576" tIns="36576" bIns="36576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10528" y="1481328"/>
            <a:ext cx="5129784" cy="256032"/>
          </a:xfrm>
          <a:prstGeom prst="rect">
            <a:avLst/>
          </a:prstGeom>
          <a:noFill/>
          <a:ln>
            <a:noFill/>
          </a:ln>
        </p:spPr>
        <p:txBody>
          <a:bodyPr rtlCol="0" anchor="ctr" lIns="0" rIns="0" tIns="0" bIns="0" wrap="square"/>
          <a:lstStyle/>
          <a:p>
            <a:pPr algn="l"/>
            <a:r>
              <a:rPr sz="1200" b="1">
                <a:solidFill>
                  <a:srgbClr val="1F2A3C"/>
                </a:solidFill>
                <a:latin typeface="Malgun Gothic"/>
                <a:ea typeface="Malgun Gothic"/>
                <a:cs typeface="Malgun Gothic"/>
              </a:rPr>
              <a:t>HMI Core가 관리하는 공통 UI 영역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847088"/>
            <a:ext cx="201168" cy="201168"/>
          </a:xfrm>
          <a:prstGeom prst="rect">
            <a:avLst/>
          </a:prstGeom>
          <a:solidFill>
            <a:srgbClr val="1F2A3C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11696" y="1810512"/>
            <a:ext cx="4928616" cy="256032"/>
          </a:xfrm>
          <a:prstGeom prst="rect">
            <a:avLst/>
          </a:prstGeom>
          <a:noFill/>
          <a:ln>
            <a:noFill/>
          </a:ln>
        </p:spPr>
        <p:txBody>
          <a:bodyPr rtlCol="0" anchor="t" lIns="0" rIns="0" tIns="0" bIns="0" wrap="square"/>
          <a:lstStyle/>
          <a:p>
            <a:pPr algn="l"/>
            <a:r>
              <a:rPr sz="1150" b="0">
                <a:solidFill>
                  <a:srgbClr val="2A2F38"/>
                </a:solidFill>
                <a:latin typeface="Malgun Gothic"/>
                <a:ea typeface="Malgun Gothic"/>
                <a:cs typeface="Malgun Gothic"/>
              </a:rPr>
              <a:t>Top Level Menu Buttons  ×8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11696" y="2066543"/>
            <a:ext cx="4928616" cy="411480"/>
          </a:xfrm>
          <a:prstGeom prst="rect">
            <a:avLst/>
          </a:prstGeom>
          <a:noFill/>
          <a:ln>
            <a:noFill/>
          </a:ln>
        </p:spPr>
        <p:txBody>
          <a:bodyPr rtlCol="0" anchor="t" lIns="0" rIns="0" tIns="0" bIns="0" wrap="square"/>
          <a:lstStyle/>
          <a:p>
            <a:pPr algn="l"/>
            <a:r>
              <a:rPr sz="100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SA · WPN · DEF · SYS · DRV · STR · COM · BMS — 기능 영역 선택 · 기능 영역 1개에 HMI Application 1개가 대응 (1:1)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2560320"/>
            <a:ext cx="201168" cy="201168"/>
          </a:xfrm>
          <a:prstGeom prst="rect">
            <a:avLst/>
          </a:prstGeom>
          <a:solidFill>
            <a:srgbClr val="1F2A3C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11696" y="2523744"/>
            <a:ext cx="4928616" cy="256032"/>
          </a:xfrm>
          <a:prstGeom prst="rect">
            <a:avLst/>
          </a:prstGeom>
          <a:noFill/>
          <a:ln>
            <a:noFill/>
          </a:ln>
        </p:spPr>
        <p:txBody>
          <a:bodyPr rtlCol="0" anchor="t" lIns="0" rIns="0" tIns="0" bIns="0" wrap="square"/>
          <a:lstStyle/>
          <a:p>
            <a:pPr algn="l"/>
            <a:r>
              <a:rPr sz="1150" b="0">
                <a:solidFill>
                  <a:srgbClr val="2A2F38"/>
                </a:solidFill>
                <a:latin typeface="Malgun Gothic"/>
                <a:ea typeface="Malgun Gothic"/>
                <a:cs typeface="Malgun Gothic"/>
              </a:rPr>
              <a:t>Status Information Bar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11696" y="2779776"/>
            <a:ext cx="4928616" cy="411480"/>
          </a:xfrm>
          <a:prstGeom prst="rect">
            <a:avLst/>
          </a:prstGeom>
          <a:noFill/>
          <a:ln>
            <a:noFill/>
          </a:ln>
        </p:spPr>
        <p:txBody>
          <a:bodyPr rtlCol="0" anchor="t" lIns="0" rIns="0" tIns="0" bIns="0" wrap="square"/>
          <a:lstStyle/>
          <a:p>
            <a:pPr algn="l"/>
            <a:r>
              <a:rPr sz="100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시간 · 위치 · 경보 등 공통 상태 정보  (본 시스템: StatusBar)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3273552"/>
            <a:ext cx="201168" cy="201168"/>
          </a:xfrm>
          <a:prstGeom prst="rect">
            <a:avLst/>
          </a:prstGeom>
          <a:solidFill>
            <a:srgbClr val="1F2A3C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11696" y="3236976"/>
            <a:ext cx="4928616" cy="256032"/>
          </a:xfrm>
          <a:prstGeom prst="rect">
            <a:avLst/>
          </a:prstGeom>
          <a:noFill/>
          <a:ln>
            <a:noFill/>
          </a:ln>
        </p:spPr>
        <p:txBody>
          <a:bodyPr rtlCol="0" anchor="t" lIns="0" rIns="0" tIns="0" bIns="0" wrap="square"/>
          <a:lstStyle/>
          <a:p>
            <a:pPr algn="l"/>
            <a:r>
              <a:rPr sz="1150" b="0">
                <a:solidFill>
                  <a:srgbClr val="2A2F38"/>
                </a:solidFill>
                <a:latin typeface="Malgun Gothic"/>
                <a:ea typeface="Malgun Gothic"/>
                <a:cs typeface="Malgun Gothic"/>
              </a:rPr>
              <a:t>Reconfigurable Labels / Buttons  F1–F6 · F7–F12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11696" y="3493008"/>
            <a:ext cx="4928616" cy="411480"/>
          </a:xfrm>
          <a:prstGeom prst="rect">
            <a:avLst/>
          </a:prstGeom>
          <a:noFill/>
          <a:ln>
            <a:noFill/>
          </a:ln>
        </p:spPr>
        <p:txBody>
          <a:bodyPr rtlCol="0" anchor="t" lIns="0" rIns="0" tIns="0" bIns="0" wrap="square"/>
          <a:lstStyle/>
          <a:p>
            <a:pPr algn="l"/>
            <a:r>
              <a:rPr sz="100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좌 · 우 각 6개. 현재 Menu / Page에 따라 라벨과 기능이 바뀐다  (본 시스템: SoftButton 12개)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3986784"/>
            <a:ext cx="201168" cy="201168"/>
          </a:xfrm>
          <a:prstGeom prst="rect">
            <a:avLst/>
          </a:prstGeom>
          <a:solidFill>
            <a:srgbClr val="1F2A3C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11696" y="3950208"/>
            <a:ext cx="4928616" cy="256032"/>
          </a:xfrm>
          <a:prstGeom prst="rect">
            <a:avLst/>
          </a:prstGeom>
          <a:noFill/>
          <a:ln>
            <a:noFill/>
          </a:ln>
        </p:spPr>
        <p:txBody>
          <a:bodyPr rtlCol="0" anchor="t" lIns="0" rIns="0" tIns="0" bIns="0" wrap="square"/>
          <a:lstStyle/>
          <a:p>
            <a:pPr algn="l"/>
            <a:r>
              <a:rPr sz="1150" b="0">
                <a:solidFill>
                  <a:srgbClr val="2A2F38"/>
                </a:solidFill>
                <a:latin typeface="Malgun Gothic"/>
                <a:ea typeface="Malgun Gothic"/>
                <a:cs typeface="Malgun Gothic"/>
              </a:rPr>
              <a:t>Common Function Labels / Buttons  F13–F20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11696" y="4206240"/>
            <a:ext cx="4928616" cy="411480"/>
          </a:xfrm>
          <a:prstGeom prst="rect">
            <a:avLst/>
          </a:prstGeom>
          <a:noFill/>
          <a:ln>
            <a:noFill/>
          </a:ln>
        </p:spPr>
        <p:txBody>
          <a:bodyPr rtlCol="0" anchor="t" lIns="0" rIns="0" tIns="0" bIns="0" wrap="square"/>
          <a:lstStyle/>
          <a:p>
            <a:pPr algn="l"/>
            <a:r>
              <a:rPr sz="100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화면과 무관한 공통 기능 — Navigate Up, Alarms, Acknowledge, Enter 등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4791456"/>
            <a:ext cx="45720" cy="182880"/>
          </a:xfrm>
          <a:prstGeom prst="rect">
            <a:avLst/>
          </a:prstGeom>
          <a:solidFill>
            <a:srgbClr val="C0561B"/>
          </a:solidFill>
          <a:ln>
            <a:noFill/>
          </a:ln>
        </p:spPr>
        <p:txBody>
          <a:bodyPr rtlCol="0" anchor="ctr" lIns="36576" rIns="36576" tIns="36576" bIns="36576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10528" y="4754880"/>
            <a:ext cx="5129784" cy="256032"/>
          </a:xfrm>
          <a:prstGeom prst="rect">
            <a:avLst/>
          </a:prstGeom>
          <a:noFill/>
          <a:ln>
            <a:noFill/>
          </a:ln>
        </p:spPr>
        <p:txBody>
          <a:bodyPr rtlCol="0" anchor="ctr" lIns="0" rIns="0" tIns="0" bIns="0" wrap="square"/>
          <a:lstStyle/>
          <a:p>
            <a:pPr algn="l"/>
            <a:r>
              <a:rPr sz="1200" b="1">
                <a:solidFill>
                  <a:srgbClr val="C0561B"/>
                </a:solidFill>
                <a:latin typeface="Malgun Gothic"/>
                <a:ea typeface="Malgun Gothic"/>
                <a:cs typeface="Malgun Gothic"/>
              </a:rPr>
              <a:t>Application이 사용하는 영역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5120640"/>
            <a:ext cx="201168" cy="201168"/>
          </a:xfrm>
          <a:prstGeom prst="rect">
            <a:avLst/>
          </a:prstGeom>
          <a:solidFill>
            <a:srgbClr val="C0561B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11696" y="5084064"/>
            <a:ext cx="4928616" cy="256032"/>
          </a:xfrm>
          <a:prstGeom prst="rect">
            <a:avLst/>
          </a:prstGeom>
          <a:noFill/>
          <a:ln>
            <a:noFill/>
          </a:ln>
        </p:spPr>
        <p:txBody>
          <a:bodyPr rtlCol="0" anchor="t" lIns="0" rIns="0" tIns="0" bIns="0" wrap="square"/>
          <a:lstStyle/>
          <a:p>
            <a:pPr algn="l"/>
            <a:r>
              <a:rPr sz="1150" b="0">
                <a:solidFill>
                  <a:srgbClr val="2A2F38"/>
                </a:solidFill>
                <a:latin typeface="Malgun Gothic"/>
                <a:ea typeface="Malgun Gothic"/>
                <a:cs typeface="Malgun Gothic"/>
              </a:rPr>
              <a:t>Content 영역 (Reconfigurable Area)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11696" y="5340096"/>
            <a:ext cx="4928616" cy="411480"/>
          </a:xfrm>
          <a:prstGeom prst="rect">
            <a:avLst/>
          </a:prstGeom>
          <a:noFill/>
          <a:ln>
            <a:noFill/>
          </a:ln>
        </p:spPr>
        <p:txBody>
          <a:bodyPr rtlCol="0" anchor="t" lIns="0" rIns="0" tIns="0" bIns="0" wrap="square"/>
          <a:lstStyle/>
          <a:p>
            <a:pPr algn="l"/>
            <a:r>
              <a:rPr sz="100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선택된 기능의 실제 화면(예: PPI). 각 HMI Application이 이 영역에 자신의 화면을 표시함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6053328"/>
            <a:ext cx="45720" cy="329184"/>
          </a:xfrm>
          <a:prstGeom prst="rect">
            <a:avLst/>
          </a:prstGeom>
          <a:solidFill>
            <a:srgbClr val="C0561B"/>
          </a:solidFill>
          <a:ln>
            <a:noFill/>
          </a:ln>
        </p:spPr>
        <p:txBody>
          <a:bodyPr rtlCol="0" anchor="ctr" lIns="36576" rIns="36576" tIns="36576" bIns="36576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13232" y="6053328"/>
            <a:ext cx="10927080" cy="329184"/>
          </a:xfrm>
          <a:prstGeom prst="rect">
            <a:avLst/>
          </a:prstGeom>
          <a:noFill/>
          <a:ln>
            <a:noFill/>
          </a:ln>
        </p:spPr>
        <p:txBody>
          <a:bodyPr rtlCol="0" anchor="ctr" lIns="0" rIns="0" tIns="0" bIns="0" wrap="square"/>
          <a:lstStyle/>
          <a:p>
            <a:pPr algn="l"/>
            <a:r>
              <a:rPr sz="1300" b="0">
                <a:solidFill>
                  <a:srgbClr val="1F2A3C"/>
                </a:solidFill>
                <a:latin typeface="Malgun Gothic"/>
                <a:ea typeface="Malgun Gothic"/>
                <a:cs typeface="Malgun Gothic"/>
              </a:rPr>
              <a:t>하나의 HMI 화면 = HMI Core 영역 (1–4) + Application 영역 (5)</a:t>
            </a:r>
            <a:r>
              <a:rPr sz="110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     → 다음 페이지부터 이 화면이 올라타는 NGVA 구조와 SW 구성을 설명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859536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lIns="0" rIns="0" tIns="0" bIns="0" wrap="square"/>
          <a:lstStyle/>
          <a:p>
            <a:pPr algn="l"/>
            <a:r>
              <a:rPr sz="2400" b="1">
                <a:solidFill>
                  <a:srgbClr val="1F2A3C"/>
                </a:solidFill>
                <a:latin typeface="Malgun Gothic"/>
                <a:ea typeface="Malgun Gothic"/>
                <a:cs typeface="Malgun Gothic"/>
              </a:rPr>
              <a:t>NGVA 기반 HMI 시스템 구성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64240" cy="384048"/>
          </a:xfrm>
          <a:prstGeom prst="rect">
            <a:avLst/>
          </a:prstGeom>
          <a:noFill/>
          <a:ln>
            <a:noFill/>
          </a:ln>
        </p:spPr>
        <p:txBody>
          <a:bodyPr rtlCol="0" anchor="t" lIns="0" rIns="0" tIns="0" bIns="0" wrap="square"/>
          <a:lstStyle/>
          <a:p>
            <a:pPr algn="l"/>
            <a:r>
              <a:rPr sz="120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NGVA는 차량 기능을 모듈로 정의하고 DDS 위의 NGVA Topic으로 데이터를 교환한다. 본 시스템은 Vehicle Configuration과 HMI Presentation을 사용한다.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43584"/>
            <a:ext cx="11091672" cy="0"/>
          </a:xfrm>
          <a:prstGeom prst="line">
            <a:avLst/>
          </a:prstGeom>
          <a:ln w="9525">
            <a:solidFill>
              <a:srgbClr val="C5CAD2"/>
            </a:solidFill>
          </a:ln>
        </p:spPr>
      </p:cxnSp>
      <p:sp>
        <p:nvSpPr>
          <p:cNvPr id="5" name="Rectangle 4"/>
          <p:cNvSpPr/>
          <p:nvPr/>
        </p:nvSpPr>
        <p:spPr>
          <a:xfrm>
            <a:off x="548640" y="6473952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rtlCol="0" anchor="ctr" lIns="0" rIns="0" tIns="0" bIns="0" wrap="square"/>
          <a:lstStyle/>
          <a:p>
            <a:pPr algn="l"/>
            <a:r>
              <a:rPr sz="900" b="0">
                <a:solidFill>
                  <a:srgbClr val="9AA1AC"/>
                </a:solidFill>
                <a:latin typeface="Malgun Gothic"/>
                <a:ea typeface="Malgun Gothic"/>
                <a:cs typeface="Malgun Gothic"/>
              </a:rPr>
              <a:t>GVA HMI 기술설명  ·  NGVA 기반 HMI 구조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25912" y="647395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rtlCol="0" anchor="ctr" lIns="0" rIns="0" tIns="0" bIns="0" wrap="square"/>
          <a:lstStyle/>
          <a:p>
            <a:pPr algn="r"/>
            <a:r>
              <a:rPr sz="900" b="0">
                <a:solidFill>
                  <a:srgbClr val="9AA1AC"/>
                </a:solidFill>
                <a:latin typeface="Malgun Gothic"/>
                <a:ea typeface="Malgun Gothic"/>
                <a:cs typeface="Malgun Gothic"/>
              </a:rPr>
              <a:t>2 /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44752"/>
            <a:ext cx="7269480" cy="3584448"/>
          </a:xfrm>
          <a:prstGeom prst="rect">
            <a:avLst/>
          </a:prstGeom>
          <a:noFill/>
          <a:ln w="12700">
            <a:solidFill>
              <a:srgbClr val="1F2A3C"/>
            </a:solidFill>
          </a:ln>
        </p:spPr>
        <p:txBody>
          <a:bodyPr rtlCol="0" anchor="ctr" lIns="36576" rIns="36576" tIns="36576" bIns="36576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499616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lIns="0" rIns="0" tIns="0" bIns="0" wrap="square"/>
          <a:lstStyle/>
          <a:p>
            <a:pPr algn="l"/>
            <a:r>
              <a:rPr sz="1100" b="0">
                <a:solidFill>
                  <a:srgbClr val="1F2A3C"/>
                </a:solidFill>
                <a:latin typeface="Malgun Gothic"/>
                <a:ea typeface="Malgun Gothic"/>
                <a:cs typeface="Malgun Gothic"/>
              </a:rPr>
              <a:t>NGVA Reference Data Model v1.1</a:t>
            </a:r>
            <a:r>
              <a:rPr sz="95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   21 modules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lIns="0" rIns="0" tIns="0" bIns="0" wrap="square"/>
          <a:lstStyle/>
          <a:p>
            <a:pPr algn="l"/>
            <a:r>
              <a:rPr sz="95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플랫폼 · 구성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74519" y="1828800"/>
            <a:ext cx="896112" cy="457200"/>
          </a:xfrm>
          <a:prstGeom prst="rect">
            <a:avLst/>
          </a:prstGeom>
          <a:solidFill>
            <a:srgbClr val="FBEEE6"/>
          </a:solidFill>
          <a:ln w="19050">
            <a:solidFill>
              <a:srgbClr val="C0561B"/>
            </a:solidFill>
          </a:ln>
        </p:spPr>
        <p:txBody>
          <a:bodyPr rtlCol="0" anchor="ctr" lIns="27432" rIns="27432" tIns="27432" bIns="27432" wrap="square"/>
          <a:lstStyle/>
          <a:p>
            <a:pPr algn="ctr"/>
            <a:r>
              <a:rPr sz="850" b="0">
                <a:solidFill>
                  <a:srgbClr val="C0561B"/>
                </a:solidFill>
                <a:latin typeface="Malgun Gothic"/>
                <a:ea typeface="Malgun Gothic"/>
                <a:cs typeface="Malgun Gothic"/>
              </a:rPr>
              <a:t>Vehicle Configuration</a:t>
            </a:r>
          </a:p>
          <a:p>
            <a:pPr algn="ctr"/>
            <a:r>
              <a:rPr sz="750" b="0">
                <a:solidFill>
                  <a:srgbClr val="C0561B"/>
                </a:solidFill>
                <a:latin typeface="Malgun Gothic"/>
                <a:ea typeface="Malgun Gothic"/>
                <a:cs typeface="Malgun Gothic"/>
              </a:rPr>
              <a:t>Registry Service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4639" y="1828800"/>
            <a:ext cx="896112" cy="457200"/>
          </a:xfrm>
          <a:prstGeom prst="rect">
            <a:avLst/>
          </a:prstGeom>
          <a:solidFill>
            <a:srgbClr val="EEF0F3"/>
          </a:solidFill>
          <a:ln>
            <a:noFill/>
          </a:ln>
        </p:spPr>
        <p:txBody>
          <a:bodyPr rtlCol="0" anchor="ctr" lIns="27432" rIns="27432" tIns="27432" bIns="27432" wrap="square"/>
          <a:lstStyle/>
          <a:p>
            <a:pPr algn="ctr"/>
            <a:r>
              <a:rPr sz="80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Arbitration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94760" y="1828800"/>
            <a:ext cx="896112" cy="457200"/>
          </a:xfrm>
          <a:prstGeom prst="rect">
            <a:avLst/>
          </a:prstGeom>
          <a:solidFill>
            <a:srgbClr val="EEF0F3"/>
          </a:solidFill>
          <a:ln>
            <a:noFill/>
          </a:ln>
        </p:spPr>
        <p:txBody>
          <a:bodyPr rtlCol="0" anchor="ctr" lIns="27432" rIns="27432" tIns="27432" bIns="27432" wrap="square"/>
          <a:lstStyle/>
          <a:p>
            <a:pPr algn="ctr"/>
            <a:r>
              <a:rPr sz="80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Power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0" y="1828800"/>
            <a:ext cx="896112" cy="457200"/>
          </a:xfrm>
          <a:prstGeom prst="rect">
            <a:avLst/>
          </a:prstGeom>
          <a:solidFill>
            <a:srgbClr val="EEF0F3"/>
          </a:solidFill>
          <a:ln>
            <a:noFill/>
          </a:ln>
        </p:spPr>
        <p:txBody>
          <a:bodyPr rtlCol="0" anchor="ctr" lIns="27432" rIns="27432" tIns="27432" bIns="27432" wrap="square"/>
          <a:lstStyle/>
          <a:p>
            <a:pPr algn="ctr"/>
            <a:r>
              <a:rPr sz="80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Brakes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0" y="1828800"/>
            <a:ext cx="896112" cy="457200"/>
          </a:xfrm>
          <a:prstGeom prst="rect">
            <a:avLst/>
          </a:prstGeom>
          <a:solidFill>
            <a:srgbClr val="EEF0F3"/>
          </a:solidFill>
          <a:ln>
            <a:noFill/>
          </a:ln>
        </p:spPr>
        <p:txBody>
          <a:bodyPr rtlCol="0" anchor="ctr" lIns="27432" rIns="27432" tIns="27432" bIns="27432" wrap="square"/>
          <a:lstStyle/>
          <a:p>
            <a:pPr algn="ctr"/>
            <a:r>
              <a:rPr sz="80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Usage And Condition Monitoring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2350008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lIns="0" rIns="0" tIns="0" bIns="0" wrap="square"/>
          <a:lstStyle/>
          <a:p>
            <a:pPr algn="l"/>
            <a:r>
              <a:rPr sz="95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HMI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74519" y="2350008"/>
            <a:ext cx="896112" cy="457200"/>
          </a:xfrm>
          <a:prstGeom prst="rect">
            <a:avLst/>
          </a:prstGeom>
          <a:solidFill>
            <a:srgbClr val="FBEEE6"/>
          </a:solidFill>
          <a:ln w="19050">
            <a:solidFill>
              <a:srgbClr val="C0561B"/>
            </a:solidFill>
          </a:ln>
        </p:spPr>
        <p:txBody>
          <a:bodyPr rtlCol="0" anchor="ctr" lIns="27432" rIns="27432" tIns="27432" bIns="27432" wrap="square"/>
          <a:lstStyle/>
          <a:p>
            <a:pPr algn="ctr"/>
            <a:r>
              <a:rPr sz="850" b="0">
                <a:solidFill>
                  <a:srgbClr val="C0561B"/>
                </a:solidFill>
                <a:latin typeface="Malgun Gothic"/>
                <a:ea typeface="Malgun Gothic"/>
                <a:cs typeface="Malgun Gothic"/>
              </a:rPr>
              <a:t>HMI Presentation</a:t>
            </a:r>
          </a:p>
          <a:p>
            <a:pPr algn="ctr"/>
            <a:r>
              <a:rPr sz="750" b="0">
                <a:solidFill>
                  <a:srgbClr val="C0561B"/>
                </a:solidFill>
                <a:latin typeface="Malgun Gothic"/>
                <a:ea typeface="Malgun Gothic"/>
                <a:cs typeface="Malgun Gothic"/>
              </a:rPr>
              <a:t>Menu · SoftButton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34639" y="2350008"/>
            <a:ext cx="896112" cy="457200"/>
          </a:xfrm>
          <a:prstGeom prst="rect">
            <a:avLst/>
          </a:prstGeom>
          <a:solidFill>
            <a:srgbClr val="EEF0F3"/>
          </a:solidFill>
          <a:ln>
            <a:noFill/>
          </a:ln>
        </p:spPr>
        <p:txBody>
          <a:bodyPr rtlCol="0" anchor="ctr" lIns="27432" rIns="27432" tIns="27432" bIns="27432" wrap="square"/>
          <a:lstStyle/>
          <a:p>
            <a:pPr algn="ctr"/>
            <a:r>
              <a:rPr sz="80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HMI Input Devices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94760" y="2350008"/>
            <a:ext cx="896112" cy="457200"/>
          </a:xfrm>
          <a:prstGeom prst="rect">
            <a:avLst/>
          </a:prstGeom>
          <a:solidFill>
            <a:srgbClr val="EEF0F3"/>
          </a:solidFill>
          <a:ln>
            <a:noFill/>
          </a:ln>
        </p:spPr>
        <p:txBody>
          <a:bodyPr rtlCol="0" anchor="ctr" lIns="27432" rIns="27432" tIns="27432" bIns="27432" wrap="square"/>
          <a:lstStyle/>
          <a:p>
            <a:pPr algn="ctr"/>
            <a:r>
              <a:rPr sz="80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Alarms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2871216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lIns="0" rIns="0" tIns="0" bIns="0" wrap="square"/>
          <a:lstStyle/>
          <a:p>
            <a:pPr algn="l"/>
            <a:r>
              <a:rPr sz="95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항법 · 경로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74519" y="2871216"/>
            <a:ext cx="896112" cy="457200"/>
          </a:xfrm>
          <a:prstGeom prst="rect">
            <a:avLst/>
          </a:prstGeom>
          <a:solidFill>
            <a:srgbClr val="EEF0F3"/>
          </a:solidFill>
          <a:ln>
            <a:noFill/>
          </a:ln>
        </p:spPr>
        <p:txBody>
          <a:bodyPr rtlCol="0" anchor="ctr" lIns="27432" rIns="27432" tIns="27432" bIns="27432" wrap="square"/>
          <a:lstStyle/>
          <a:p>
            <a:pPr algn="ctr"/>
            <a:r>
              <a:rPr sz="80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Navigation Reference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34639" y="2871216"/>
            <a:ext cx="896112" cy="457200"/>
          </a:xfrm>
          <a:prstGeom prst="rect">
            <a:avLst/>
          </a:prstGeom>
          <a:solidFill>
            <a:srgbClr val="EEF0F3"/>
          </a:solidFill>
          <a:ln>
            <a:noFill/>
          </a:ln>
        </p:spPr>
        <p:txBody>
          <a:bodyPr rtlCol="0" anchor="ctr" lIns="27432" rIns="27432" tIns="27432" bIns="27432" wrap="square"/>
          <a:lstStyle/>
          <a:p>
            <a:pPr algn="ctr"/>
            <a:r>
              <a:rPr sz="80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Routes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3392424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lIns="0" rIns="0" tIns="0" bIns="0" wrap="square"/>
          <a:lstStyle/>
          <a:p>
            <a:pPr algn="l"/>
            <a:r>
              <a:rPr sz="95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센서 · 영상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74519" y="3392424"/>
            <a:ext cx="896112" cy="457200"/>
          </a:xfrm>
          <a:prstGeom prst="rect">
            <a:avLst/>
          </a:prstGeom>
          <a:solidFill>
            <a:srgbClr val="EEF0F3"/>
          </a:solidFill>
          <a:ln>
            <a:noFill/>
          </a:ln>
        </p:spPr>
        <p:txBody>
          <a:bodyPr rtlCol="0" anchor="ctr" lIns="27432" rIns="27432" tIns="27432" bIns="27432" wrap="square"/>
          <a:lstStyle/>
          <a:p>
            <a:pPr algn="ctr"/>
            <a:r>
              <a:rPr sz="80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Tactical Sensor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34639" y="3392424"/>
            <a:ext cx="896112" cy="457200"/>
          </a:xfrm>
          <a:prstGeom prst="rect">
            <a:avLst/>
          </a:prstGeom>
          <a:solidFill>
            <a:srgbClr val="EEF0F3"/>
          </a:solidFill>
          <a:ln>
            <a:noFill/>
          </a:ln>
        </p:spPr>
        <p:txBody>
          <a:bodyPr rtlCol="0" anchor="ctr" lIns="27432" rIns="27432" tIns="27432" bIns="27432" wrap="square"/>
          <a:lstStyle/>
          <a:p>
            <a:pPr algn="ctr"/>
            <a:r>
              <a:rPr sz="80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Video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94760" y="3392424"/>
            <a:ext cx="896112" cy="457200"/>
          </a:xfrm>
          <a:prstGeom prst="rect">
            <a:avLst/>
          </a:prstGeom>
          <a:solidFill>
            <a:srgbClr val="EEF0F3"/>
          </a:solidFill>
          <a:ln>
            <a:noFill/>
          </a:ln>
        </p:spPr>
        <p:txBody>
          <a:bodyPr rtlCol="0" anchor="ctr" lIns="27432" rIns="27432" tIns="27432" bIns="27432" wrap="square"/>
          <a:lstStyle/>
          <a:p>
            <a:pPr algn="ctr"/>
            <a:r>
              <a:rPr sz="80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Video Tracking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80" y="3392424"/>
            <a:ext cx="896112" cy="457200"/>
          </a:xfrm>
          <a:prstGeom prst="rect">
            <a:avLst/>
          </a:prstGeom>
          <a:solidFill>
            <a:srgbClr val="EEF0F3"/>
          </a:solidFill>
          <a:ln>
            <a:noFill/>
          </a:ln>
        </p:spPr>
        <p:txBody>
          <a:bodyPr rtlCol="0" anchor="ctr" lIns="27432" rIns="27432" tIns="27432" bIns="27432" wrap="square"/>
          <a:lstStyle/>
          <a:p>
            <a:pPr algn="ctr"/>
            <a:r>
              <a:rPr sz="80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Laser Range Finder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15000" y="3392424"/>
            <a:ext cx="896112" cy="457200"/>
          </a:xfrm>
          <a:prstGeom prst="rect">
            <a:avLst/>
          </a:prstGeom>
          <a:solidFill>
            <a:srgbClr val="EEF0F3"/>
          </a:solidFill>
          <a:ln>
            <a:noFill/>
          </a:ln>
        </p:spPr>
        <p:txBody>
          <a:bodyPr rtlCol="0" anchor="ctr" lIns="27432" rIns="27432" tIns="27432" bIns="27432" wrap="square"/>
          <a:lstStyle/>
          <a:p>
            <a:pPr algn="ctr"/>
            <a:r>
              <a:rPr sz="80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Laser Warning System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75120" y="3392424"/>
            <a:ext cx="896112" cy="457200"/>
          </a:xfrm>
          <a:prstGeom prst="rect">
            <a:avLst/>
          </a:prstGeom>
          <a:solidFill>
            <a:srgbClr val="EEF0F3"/>
          </a:solidFill>
          <a:ln>
            <a:noFill/>
          </a:ln>
        </p:spPr>
        <p:txBody>
          <a:bodyPr rtlCol="0" anchor="ctr" lIns="27432" rIns="27432" tIns="27432" bIns="27432" wrap="square"/>
          <a:lstStyle/>
          <a:p>
            <a:pPr algn="ctr"/>
            <a:r>
              <a:rPr sz="80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Acoustic Gunshot Detection System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3913632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lIns="0" rIns="0" tIns="0" bIns="0" wrap="square"/>
          <a:lstStyle/>
          <a:p>
            <a:pPr algn="l"/>
            <a:r>
              <a:rPr sz="95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무장 · 마운트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74519" y="3913632"/>
            <a:ext cx="896112" cy="457200"/>
          </a:xfrm>
          <a:prstGeom prst="rect">
            <a:avLst/>
          </a:prstGeom>
          <a:solidFill>
            <a:srgbClr val="EEF0F3"/>
          </a:solidFill>
          <a:ln>
            <a:noFill/>
          </a:ln>
        </p:spPr>
        <p:txBody>
          <a:bodyPr rtlCol="0" anchor="ctr" lIns="27432" rIns="27432" tIns="27432" bIns="27432" wrap="square"/>
          <a:lstStyle/>
          <a:p>
            <a:pPr algn="ctr"/>
            <a:r>
              <a:rPr sz="80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Tactical Effector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34639" y="3913632"/>
            <a:ext cx="896112" cy="457200"/>
          </a:xfrm>
          <a:prstGeom prst="rect">
            <a:avLst/>
          </a:prstGeom>
          <a:solidFill>
            <a:srgbClr val="EEF0F3"/>
          </a:solidFill>
          <a:ln>
            <a:noFill/>
          </a:ln>
        </p:spPr>
        <p:txBody>
          <a:bodyPr rtlCol="0" anchor="ctr" lIns="27432" rIns="27432" tIns="27432" bIns="27432" wrap="square"/>
          <a:lstStyle/>
          <a:p>
            <a:pPr algn="ctr"/>
            <a:r>
              <a:rPr sz="80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Automatic Weapon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794760" y="3913632"/>
            <a:ext cx="896112" cy="457200"/>
          </a:xfrm>
          <a:prstGeom prst="rect">
            <a:avLst/>
          </a:prstGeom>
          <a:solidFill>
            <a:srgbClr val="EEF0F3"/>
          </a:solidFill>
          <a:ln>
            <a:noFill/>
          </a:ln>
        </p:spPr>
        <p:txBody>
          <a:bodyPr rtlCol="0" anchor="ctr" lIns="27432" rIns="27432" tIns="27432" bIns="27432" wrap="square"/>
          <a:lstStyle/>
          <a:p>
            <a:pPr algn="ctr"/>
            <a:r>
              <a:rPr sz="80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Single Shot Grenade Launcher Array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54880" y="3913632"/>
            <a:ext cx="896112" cy="457200"/>
          </a:xfrm>
          <a:prstGeom prst="rect">
            <a:avLst/>
          </a:prstGeom>
          <a:solidFill>
            <a:srgbClr val="EEF0F3"/>
          </a:solidFill>
          <a:ln>
            <a:noFill/>
          </a:ln>
        </p:spPr>
        <p:txBody>
          <a:bodyPr rtlCol="0" anchor="ctr" lIns="27432" rIns="27432" tIns="27432" bIns="27432" wrap="square"/>
          <a:lstStyle/>
          <a:p>
            <a:pPr algn="ctr"/>
            <a:r>
              <a:rPr sz="80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Mount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" y="443484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lIns="0" rIns="0" tIns="0" bIns="0" wrap="square"/>
          <a:lstStyle/>
          <a:p>
            <a:pPr algn="l"/>
            <a:r>
              <a:rPr sz="95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공통 타입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874519" y="4434840"/>
            <a:ext cx="896112" cy="457200"/>
          </a:xfrm>
          <a:prstGeom prst="rect">
            <a:avLst/>
          </a:prstGeom>
          <a:solidFill>
            <a:srgbClr val="EEF0F3"/>
          </a:solidFill>
          <a:ln>
            <a:noFill/>
          </a:ln>
        </p:spPr>
        <p:txBody>
          <a:bodyPr rtlCol="0" anchor="ctr" lIns="27432" rIns="27432" tIns="27432" bIns="27432" wrap="square"/>
          <a:lstStyle/>
          <a:p>
            <a:pPr algn="ctr"/>
            <a:r>
              <a:rPr sz="80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LDM Common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074920"/>
            <a:ext cx="7269480" cy="201168"/>
          </a:xfrm>
          <a:prstGeom prst="rect">
            <a:avLst/>
          </a:prstGeom>
          <a:noFill/>
          <a:ln>
            <a:noFill/>
          </a:ln>
        </p:spPr>
        <p:txBody>
          <a:bodyPr rtlCol="0" anchor="t" lIns="0" rIns="0" tIns="0" bIns="0" wrap="square"/>
          <a:lstStyle/>
          <a:p>
            <a:pPr algn="r"/>
            <a:r>
              <a:rPr sz="800" b="0">
                <a:solidFill>
                  <a:srgbClr val="9AA1AC"/>
                </a:solidFill>
                <a:latin typeface="Malgun Gothic"/>
                <a:ea typeface="Malgun Gothic"/>
                <a:cs typeface="Malgun Gothic"/>
              </a:rPr>
              <a:t>모듈 목록: NGVA DM v1.1 Release Notes (Table 1) · 그룹 구분은 이해를 돕기 위해 정리한 것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5349240"/>
            <a:ext cx="7269480" cy="566928"/>
          </a:xfrm>
          <a:prstGeom prst="rect">
            <a:avLst/>
          </a:prstGeom>
          <a:solidFill>
            <a:srgbClr val="F5F6F8"/>
          </a:solidFill>
          <a:ln w="9525">
            <a:solidFill>
              <a:srgbClr val="C5CAD2"/>
            </a:solidFill>
          </a:ln>
        </p:spPr>
        <p:txBody>
          <a:bodyPr rtlCol="0" anchor="ctr" lIns="36576" rIns="36576" tIns="36576" bIns="36576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85800" y="5367528"/>
            <a:ext cx="6995160" cy="530352"/>
          </a:xfrm>
          <a:prstGeom prst="rect">
            <a:avLst/>
          </a:prstGeom>
          <a:noFill/>
          <a:ln>
            <a:noFill/>
          </a:ln>
        </p:spPr>
        <p:txBody>
          <a:bodyPr rtlCol="0" anchor="ctr" lIns="0" rIns="0" tIns="0" bIns="0" wrap="square"/>
          <a:lstStyle/>
          <a:p>
            <a:pPr algn="l"/>
            <a:r>
              <a:rPr sz="1050" b="0">
                <a:solidFill>
                  <a:srgbClr val="1F2A3C"/>
                </a:solidFill>
                <a:latin typeface="Malgun Gothic"/>
                <a:ea typeface="Malgun Gothic"/>
                <a:cs typeface="Malgun Gothic"/>
              </a:rPr>
              <a:t>DDS (Data Distribution Service)</a:t>
            </a:r>
            <a:r>
              <a:rPr sz="950" b="0">
                <a:solidFill>
                  <a:srgbClr val="2A2F38"/>
                </a:solidFill>
                <a:latin typeface="Malgun Gothic"/>
                <a:ea typeface="Malgun Gothic"/>
                <a:cs typeface="Malgun Gothic"/>
              </a:rPr>
              <a:t>   모듈별 데이터를 NGVA Topic 단위로 발행(Publish) / 구독(Subscribe)</a:t>
            </a:r>
          </a:p>
          <a:p>
            <a:pPr algn="l"/>
            <a:r>
              <a:rPr sz="85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Topic 이름 예   </a:t>
            </a:r>
            <a:r>
              <a:rPr sz="850" b="0">
                <a:solidFill>
                  <a:srgbClr val="2A2F38"/>
                </a:solidFill>
                <a:latin typeface="Consolas"/>
                <a:ea typeface="Consolas"/>
                <a:cs typeface="Consolas"/>
              </a:rPr>
              <a:t>Vehicle_Configuration__Registry_Service   HMI_Presentation__Soft_Button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92440" y="1481328"/>
            <a:ext cx="45720" cy="182880"/>
          </a:xfrm>
          <a:prstGeom prst="rect">
            <a:avLst/>
          </a:prstGeom>
          <a:solidFill>
            <a:srgbClr val="C0561B"/>
          </a:solidFill>
          <a:ln>
            <a:noFill/>
          </a:ln>
        </p:spPr>
        <p:txBody>
          <a:bodyPr rtlCol="0" anchor="ctr" lIns="36576" rIns="36576" tIns="36576" bIns="36576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202167" y="1444752"/>
            <a:ext cx="3438144" cy="256032"/>
          </a:xfrm>
          <a:prstGeom prst="rect">
            <a:avLst/>
          </a:prstGeom>
          <a:noFill/>
          <a:ln>
            <a:noFill/>
          </a:ln>
        </p:spPr>
        <p:txBody>
          <a:bodyPr rtlCol="0" anchor="ctr" lIns="0" rIns="0" tIns="0" bIns="0" wrap="square"/>
          <a:lstStyle/>
          <a:p>
            <a:pPr algn="l"/>
            <a:r>
              <a:rPr sz="1200" b="1">
                <a:solidFill>
                  <a:srgbClr val="C0561B"/>
                </a:solidFill>
                <a:latin typeface="Malgun Gothic"/>
                <a:ea typeface="Malgun Gothic"/>
                <a:cs typeface="Malgun Gothic"/>
              </a:rPr>
              <a:t>본 시스템에서 사용하는 요소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92440" y="1783080"/>
            <a:ext cx="3547872" cy="1207008"/>
          </a:xfrm>
          <a:prstGeom prst="rect">
            <a:avLst/>
          </a:prstGeom>
          <a:noFill/>
          <a:ln w="12700">
            <a:solidFill>
              <a:srgbClr val="C0561B"/>
            </a:solidFill>
          </a:ln>
        </p:spPr>
        <p:txBody>
          <a:bodyPr rtlCol="0" anchor="ctr" lIns="36576" rIns="36576" tIns="36576" bIns="36576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220456" y="1847088"/>
            <a:ext cx="3291839" cy="256032"/>
          </a:xfrm>
          <a:prstGeom prst="rect">
            <a:avLst/>
          </a:prstGeom>
          <a:noFill/>
          <a:ln>
            <a:noFill/>
          </a:ln>
        </p:spPr>
        <p:txBody>
          <a:bodyPr rtlCol="0" anchor="ctr" lIns="0" rIns="0" tIns="0" bIns="0" wrap="square"/>
          <a:lstStyle/>
          <a:p>
            <a:pPr algn="l"/>
            <a:r>
              <a:rPr sz="1150" b="0">
                <a:solidFill>
                  <a:srgbClr val="C0561B"/>
                </a:solidFill>
                <a:latin typeface="Malgun Gothic"/>
                <a:ea typeface="Malgun Gothic"/>
                <a:cs typeface="Malgun Gothic"/>
              </a:rPr>
              <a:t>Vehicle Configuration</a:t>
            </a:r>
            <a:r>
              <a:rPr sz="90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   → p.4 Registry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0456" y="2121408"/>
            <a:ext cx="3291839" cy="822960"/>
          </a:xfrm>
          <a:prstGeom prst="rect">
            <a:avLst/>
          </a:prstGeom>
          <a:noFill/>
          <a:ln>
            <a:noFill/>
          </a:ln>
        </p:spPr>
        <p:txBody>
          <a:bodyPr rtlCol="0" anchor="t" lIns="0" rIns="0" tIns="0" bIns="0" wrap="square"/>
          <a:lstStyle/>
          <a:p>
            <a:pPr algn="l">
              <a:spcAft>
                <a:spcPts val="150"/>
              </a:spcAft>
            </a:pPr>
            <a:r>
              <a:rPr sz="900" b="0">
                <a:solidFill>
                  <a:srgbClr val="2A2F38"/>
                </a:solidFill>
                <a:latin typeface="Malgun Gothic"/>
                <a:ea typeface="Malgun Gothic"/>
                <a:cs typeface="Malgun Gothic"/>
              </a:rPr>
              <a:t>차량 구성과 기동을 지원. 차량의 모든 Resource에 ResourceID를 제공</a:t>
            </a:r>
          </a:p>
          <a:p>
            <a:pPr algn="l">
              <a:spcAft>
                <a:spcPts val="150"/>
              </a:spcAft>
            </a:pPr>
            <a:r>
              <a:rPr sz="90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사용: </a:t>
            </a:r>
            <a:r>
              <a:rPr sz="900" b="0">
                <a:solidFill>
                  <a:srgbClr val="1F2A3C"/>
                </a:solidFill>
                <a:latin typeface="Malgun Gothic"/>
                <a:ea typeface="Malgun Gothic"/>
                <a:cs typeface="Malgun Gothic"/>
              </a:rPr>
              <a:t>Registry Service</a:t>
            </a:r>
          </a:p>
          <a:p>
            <a:pPr algn="l">
              <a:spcAft>
                <a:spcPts val="150"/>
              </a:spcAft>
            </a:pPr>
            <a:r>
              <a:rPr sz="90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DM 클래스: </a:t>
            </a:r>
            <a:r>
              <a:rPr sz="850" b="0">
                <a:solidFill>
                  <a:srgbClr val="2A2F38"/>
                </a:solidFill>
                <a:latin typeface="Consolas"/>
                <a:ea typeface="Consolas"/>
                <a:cs typeface="Consolas"/>
              </a:rPr>
              <a:t>Registry_Service · Actual_Resource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866376" y="2990088"/>
            <a:ext cx="0" cy="210312"/>
          </a:xfrm>
          <a:prstGeom prst="line">
            <a:avLst/>
          </a:prstGeom>
          <a:ln w="15875">
            <a:solidFill>
              <a:srgbClr val="C0561B"/>
            </a:solidFill>
            <a:tailEnd type="triangle" w="sm" len="sm"/>
          </a:ln>
        </p:spPr>
      </p:cxnSp>
      <p:sp>
        <p:nvSpPr>
          <p:cNvPr id="45" name="Rectangle 44"/>
          <p:cNvSpPr/>
          <p:nvPr/>
        </p:nvSpPr>
        <p:spPr>
          <a:xfrm>
            <a:off x="9957815" y="2990088"/>
            <a:ext cx="1737360" cy="210312"/>
          </a:xfrm>
          <a:prstGeom prst="rect">
            <a:avLst/>
          </a:prstGeom>
          <a:noFill/>
          <a:ln>
            <a:noFill/>
          </a:ln>
        </p:spPr>
        <p:txBody>
          <a:bodyPr rtlCol="0" anchor="ctr" lIns="0" rIns="0" tIns="0" bIns="0" wrap="square"/>
          <a:lstStyle/>
          <a:p>
            <a:pPr algn="l"/>
            <a:r>
              <a:rPr sz="85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Resource 식별 후 화면 구성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92440" y="3200400"/>
            <a:ext cx="3547872" cy="1371600"/>
          </a:xfrm>
          <a:prstGeom prst="rect">
            <a:avLst/>
          </a:prstGeom>
          <a:noFill/>
          <a:ln w="12700">
            <a:solidFill>
              <a:srgbClr val="C0561B"/>
            </a:solidFill>
          </a:ln>
        </p:spPr>
        <p:txBody>
          <a:bodyPr rtlCol="0" anchor="ctr" lIns="36576" rIns="36576" tIns="36576" bIns="36576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220456" y="3264408"/>
            <a:ext cx="3291839" cy="256032"/>
          </a:xfrm>
          <a:prstGeom prst="rect">
            <a:avLst/>
          </a:prstGeom>
          <a:noFill/>
          <a:ln>
            <a:noFill/>
          </a:ln>
        </p:spPr>
        <p:txBody>
          <a:bodyPr rtlCol="0" anchor="ctr" lIns="0" rIns="0" tIns="0" bIns="0" wrap="square"/>
          <a:lstStyle/>
          <a:p>
            <a:pPr algn="l"/>
            <a:r>
              <a:rPr sz="1150" b="0">
                <a:solidFill>
                  <a:srgbClr val="C0561B"/>
                </a:solidFill>
                <a:latin typeface="Malgun Gothic"/>
                <a:ea typeface="Malgun Gothic"/>
                <a:cs typeface="Malgun Gothic"/>
              </a:rPr>
              <a:t>HMI Presentation</a:t>
            </a:r>
            <a:r>
              <a:rPr sz="90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   → p.5 Core / Application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220456" y="3538728"/>
            <a:ext cx="3291839" cy="987552"/>
          </a:xfrm>
          <a:prstGeom prst="rect">
            <a:avLst/>
          </a:prstGeom>
          <a:noFill/>
          <a:ln>
            <a:noFill/>
          </a:ln>
        </p:spPr>
        <p:txBody>
          <a:bodyPr rtlCol="0" anchor="t" lIns="0" rIns="0" tIns="0" bIns="0" wrap="square"/>
          <a:lstStyle/>
          <a:p>
            <a:pPr algn="l">
              <a:spcAft>
                <a:spcPts val="150"/>
              </a:spcAft>
            </a:pPr>
            <a:r>
              <a:rPr sz="900" b="0">
                <a:solidFill>
                  <a:srgbClr val="2A2F38"/>
                </a:solidFill>
                <a:latin typeface="Malgun Gothic"/>
                <a:ea typeface="Malgun Gothic"/>
                <a:cs typeface="Malgun Gothic"/>
              </a:rPr>
              <a:t>HMI 표현 계층의 데이터 구조, GUI 제어 요소(Menu, Soft Button 등), HMI Application 제어 구조를 정의</a:t>
            </a:r>
          </a:p>
          <a:p>
            <a:pPr algn="l">
              <a:spcAft>
                <a:spcPts val="150"/>
              </a:spcAft>
            </a:pPr>
            <a:r>
              <a:rPr sz="90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사용: </a:t>
            </a:r>
            <a:r>
              <a:rPr sz="900" b="0">
                <a:solidFill>
                  <a:srgbClr val="1F2A3C"/>
                </a:solidFill>
                <a:latin typeface="Malgun Gothic"/>
                <a:ea typeface="Malgun Gothic"/>
                <a:cs typeface="Malgun Gothic"/>
              </a:rPr>
              <a:t>Menu · SoftButton · CrewRole</a:t>
            </a:r>
          </a:p>
          <a:p>
            <a:pPr algn="l">
              <a:spcAft>
                <a:spcPts val="150"/>
              </a:spcAft>
            </a:pPr>
            <a:r>
              <a:rPr sz="90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DM 클래스: </a:t>
            </a:r>
            <a:r>
              <a:rPr sz="850" b="0">
                <a:solidFill>
                  <a:srgbClr val="2A2F38"/>
                </a:solidFill>
                <a:latin typeface="Consolas"/>
                <a:ea typeface="Consolas"/>
                <a:cs typeface="Consolas"/>
              </a:rPr>
              <a:t>HMI_Application · Menu · Soft_Button · Crew_Role · Status_Information_Bar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92440" y="4709160"/>
            <a:ext cx="3547872" cy="1207008"/>
          </a:xfrm>
          <a:prstGeom prst="rect">
            <a:avLst/>
          </a:prstGeom>
          <a:noFill/>
          <a:ln w="12700">
            <a:solidFill>
              <a:srgbClr val="C0561B"/>
            </a:solidFill>
            <a:prstDash val="dash"/>
          </a:ln>
        </p:spPr>
        <p:txBody>
          <a:bodyPr rtlCol="0" anchor="ctr" lIns="36576" rIns="36576" tIns="36576" bIns="36576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220456" y="4773168"/>
            <a:ext cx="3291839" cy="256032"/>
          </a:xfrm>
          <a:prstGeom prst="rect">
            <a:avLst/>
          </a:prstGeom>
          <a:noFill/>
          <a:ln>
            <a:noFill/>
          </a:ln>
        </p:spPr>
        <p:txBody>
          <a:bodyPr rtlCol="0" anchor="ctr" lIns="0" rIns="0" tIns="0" bIns="0" wrap="square"/>
          <a:lstStyle/>
          <a:p>
            <a:pPr algn="l"/>
            <a:r>
              <a:rPr sz="1150" b="0">
                <a:solidFill>
                  <a:srgbClr val="C0561B"/>
                </a:solidFill>
                <a:latin typeface="Malgun Gothic"/>
                <a:ea typeface="Malgun Gothic"/>
                <a:cs typeface="Malgun Gothic"/>
              </a:rPr>
              <a:t>Login Service</a:t>
            </a:r>
            <a:r>
              <a:rPr sz="90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   → p.6 Sequence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220456" y="5047488"/>
            <a:ext cx="3291839" cy="822960"/>
          </a:xfrm>
          <a:prstGeom prst="rect">
            <a:avLst/>
          </a:prstGeom>
          <a:noFill/>
          <a:ln>
            <a:noFill/>
          </a:ln>
        </p:spPr>
        <p:txBody>
          <a:bodyPr rtlCol="0" anchor="t" lIns="0" rIns="0" tIns="0" bIns="0" wrap="square"/>
          <a:lstStyle/>
          <a:p>
            <a:pPr algn="l">
              <a:spcAft>
                <a:spcPts val="150"/>
              </a:spcAft>
            </a:pPr>
            <a:r>
              <a:rPr sz="900" b="0">
                <a:solidFill>
                  <a:srgbClr val="2A2F38"/>
                </a:solidFill>
                <a:latin typeface="Malgun Gothic"/>
                <a:ea typeface="Malgun Gothic"/>
                <a:cs typeface="Malgun Gothic"/>
              </a:rPr>
              <a:t>로그인 계정 확인 → CrewRole 결정. 본 시스템에서는 HMISimulator가 제공</a:t>
            </a:r>
          </a:p>
          <a:p>
            <a:pPr algn="l">
              <a:spcAft>
                <a:spcPts val="150"/>
              </a:spcAft>
            </a:pPr>
            <a:r>
              <a:rPr sz="90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NGVA DM의 Crew_Role은 로그인 정보를 담지 않도록 정의되어 있어, 로그인은 별도 서비스가 담당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6053328"/>
            <a:ext cx="45720" cy="329184"/>
          </a:xfrm>
          <a:prstGeom prst="rect">
            <a:avLst/>
          </a:prstGeom>
          <a:solidFill>
            <a:srgbClr val="C0561B"/>
          </a:solidFill>
          <a:ln>
            <a:noFill/>
          </a:ln>
        </p:spPr>
        <p:txBody>
          <a:bodyPr rtlCol="0" anchor="ctr" lIns="36576" rIns="36576" tIns="36576" bIns="36576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13232" y="6053328"/>
            <a:ext cx="10927080" cy="329184"/>
          </a:xfrm>
          <a:prstGeom prst="rect">
            <a:avLst/>
          </a:prstGeom>
          <a:noFill/>
          <a:ln>
            <a:noFill/>
          </a:ln>
        </p:spPr>
        <p:txBody>
          <a:bodyPr rtlCol="0" anchor="ctr" lIns="0" rIns="0" tIns="0" bIns="0" wrap="square"/>
          <a:lstStyle/>
          <a:p>
            <a:pPr algn="l"/>
            <a:r>
              <a:rPr sz="1300" b="0">
                <a:solidFill>
                  <a:srgbClr val="1F2A3C"/>
                </a:solidFill>
                <a:latin typeface="Malgun Gothic"/>
                <a:ea typeface="Malgun Gothic"/>
                <a:cs typeface="Malgun Gothic"/>
              </a:rPr>
              <a:t>GVA HMI는 NGVA의 Registry 및 HMI 관련 서비스를 기반으로 Core와 Application 간 기능을 구성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859536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lIns="0" rIns="0" tIns="0" bIns="0" wrap="square"/>
          <a:lstStyle/>
          <a:p>
            <a:pPr algn="l"/>
            <a:r>
              <a:rPr sz="2400" b="1">
                <a:solidFill>
                  <a:srgbClr val="1F2A3C"/>
                </a:solidFill>
                <a:latin typeface="Malgun Gothic"/>
                <a:ea typeface="Malgun Gothic"/>
                <a:cs typeface="Malgun Gothic"/>
              </a:rPr>
              <a:t>소프트웨어 인터페이스 구조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64240" cy="384048"/>
          </a:xfrm>
          <a:prstGeom prst="rect">
            <a:avLst/>
          </a:prstGeom>
          <a:noFill/>
          <a:ln>
            <a:noFill/>
          </a:ln>
        </p:spPr>
        <p:txBody>
          <a:bodyPr rtlCol="0" anchor="t" lIns="0" rIns="0" tIns="0" bIns="0" wrap="square"/>
          <a:lstStyle/>
          <a:p>
            <a:pPr algn="l"/>
            <a:r>
              <a:rPr sz="120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HMI Core와 Application은 Topic Manager와만 연동, NGVA 관련 처리는 Topic Manager가 1차로 담당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43584"/>
            <a:ext cx="11091672" cy="0"/>
          </a:xfrm>
          <a:prstGeom prst="line">
            <a:avLst/>
          </a:prstGeom>
          <a:ln w="9525">
            <a:solidFill>
              <a:srgbClr val="C5CAD2"/>
            </a:solidFill>
          </a:ln>
        </p:spPr>
      </p:cxnSp>
      <p:sp>
        <p:nvSpPr>
          <p:cNvPr id="5" name="Rectangle 4"/>
          <p:cNvSpPr/>
          <p:nvPr/>
        </p:nvSpPr>
        <p:spPr>
          <a:xfrm>
            <a:off x="548640" y="6473952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rtlCol="0" anchor="ctr" lIns="0" rIns="0" tIns="0" bIns="0" wrap="square"/>
          <a:lstStyle/>
          <a:p>
            <a:pPr algn="l"/>
            <a:r>
              <a:rPr sz="900" b="0">
                <a:solidFill>
                  <a:srgbClr val="9AA1AC"/>
                </a:solidFill>
                <a:latin typeface="Malgun Gothic"/>
                <a:ea typeface="Malgun Gothic"/>
                <a:cs typeface="Malgun Gothic"/>
              </a:rPr>
              <a:t>GVA HMI 기술설명  ·  NGVA 기반 HMI 구조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25912" y="647395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rtlCol="0" anchor="ctr" lIns="0" rIns="0" tIns="0" bIns="0" wrap="square"/>
          <a:lstStyle/>
          <a:p>
            <a:pPr algn="r"/>
            <a:r>
              <a:rPr sz="900" b="0">
                <a:solidFill>
                  <a:srgbClr val="9AA1AC"/>
                </a:solidFill>
                <a:latin typeface="Malgun Gothic"/>
                <a:ea typeface="Malgun Gothic"/>
                <a:cs typeface="Malgun Gothic"/>
              </a:rPr>
              <a:t>3 /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81328"/>
            <a:ext cx="4892040" cy="3200400"/>
          </a:xfrm>
          <a:prstGeom prst="rect">
            <a:avLst/>
          </a:prstGeom>
          <a:noFill/>
          <a:ln w="9525">
            <a:solidFill>
              <a:srgbClr val="1F2A3C"/>
            </a:solidFill>
            <a:prstDash val="dash"/>
          </a:ln>
        </p:spPr>
        <p:txBody>
          <a:bodyPr rtlCol="0" anchor="ctr" lIns="36576" rIns="36576" tIns="36576" bIns="36576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554480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rtlCol="0" anchor="t" lIns="0" rIns="0" tIns="0" bIns="0" wrap="square"/>
          <a:lstStyle/>
          <a:p>
            <a:pPr algn="l"/>
            <a:r>
              <a:rPr sz="1000" b="0">
                <a:solidFill>
                  <a:srgbClr val="1F2A3C"/>
                </a:solidFill>
                <a:latin typeface="Malgun Gothic"/>
                <a:ea typeface="Malgun Gothic"/>
                <a:cs typeface="Malgun Gothic"/>
              </a:rPr>
              <a:t>내부 인터페이스</a:t>
            </a:r>
            <a:r>
              <a:rPr sz="100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   함수 호출 / Callback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148840"/>
            <a:ext cx="1965960" cy="658368"/>
          </a:xfrm>
          <a:prstGeom prst="rect">
            <a:avLst/>
          </a:prstGeom>
          <a:solidFill>
            <a:srgbClr val="FFFFFF"/>
          </a:solidFill>
          <a:ln w="15875">
            <a:solidFill>
              <a:srgbClr val="1F2A3C"/>
            </a:solidFill>
          </a:ln>
        </p:spPr>
        <p:txBody>
          <a:bodyPr rtlCol="0" anchor="ctr" lIns="45720" rIns="45720" wrap="square"/>
          <a:lstStyle/>
          <a:p>
            <a:pPr algn="ctr"/>
            <a:r>
              <a:rPr sz="1150" b="0">
                <a:solidFill>
                  <a:srgbClr val="1F2A3C"/>
                </a:solidFill>
                <a:latin typeface="Malgun Gothic"/>
                <a:ea typeface="Malgun Gothic"/>
                <a:cs typeface="Malgun Gothic"/>
              </a:rPr>
              <a:t>HMI Core</a:t>
            </a:r>
          </a:p>
          <a:p>
            <a:pPr algn="ctr"/>
            <a:r>
              <a:rPr sz="80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공통 UI · Application 관리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200400"/>
            <a:ext cx="1965960" cy="658368"/>
          </a:xfrm>
          <a:prstGeom prst="rect">
            <a:avLst/>
          </a:prstGeom>
          <a:solidFill>
            <a:srgbClr val="FFFFFF"/>
          </a:solidFill>
          <a:ln w="15875">
            <a:solidFill>
              <a:srgbClr val="1F2A3C"/>
            </a:solidFill>
          </a:ln>
        </p:spPr>
        <p:txBody>
          <a:bodyPr rtlCol="0" anchor="ctr" lIns="45720" rIns="45720" wrap="square"/>
          <a:lstStyle/>
          <a:p>
            <a:pPr algn="ctr"/>
            <a:r>
              <a:rPr sz="1150" b="0">
                <a:solidFill>
                  <a:srgbClr val="1F2A3C"/>
                </a:solidFill>
                <a:latin typeface="Malgun Gothic"/>
                <a:ea typeface="Malgun Gothic"/>
                <a:cs typeface="Malgun Gothic"/>
              </a:rPr>
              <a:t>HMI Application × 8</a:t>
            </a:r>
          </a:p>
          <a:p>
            <a:pPr algn="ctr"/>
            <a:r>
              <a:rPr sz="80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Content 영역 · 기능 수행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1965960"/>
            <a:ext cx="1920240" cy="2103120"/>
          </a:xfrm>
          <a:prstGeom prst="rect">
            <a:avLst/>
          </a:prstGeom>
          <a:solidFill>
            <a:srgbClr val="FBEEE6"/>
          </a:solidFill>
          <a:ln w="22225">
            <a:solidFill>
              <a:srgbClr val="C0561B"/>
            </a:solidFill>
          </a:ln>
        </p:spPr>
        <p:txBody>
          <a:bodyPr rtlCol="0" anchor="ctr" lIns="36576" rIns="36576" tIns="36576" bIns="36576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9000" y="2057400"/>
            <a:ext cx="1737360" cy="475488"/>
          </a:xfrm>
          <a:prstGeom prst="rect">
            <a:avLst/>
          </a:prstGeom>
          <a:noFill/>
          <a:ln>
            <a:noFill/>
          </a:ln>
        </p:spPr>
        <p:txBody>
          <a:bodyPr rtlCol="0" anchor="ctr" lIns="0" rIns="0" tIns="0" bIns="0" wrap="square"/>
          <a:lstStyle/>
          <a:p>
            <a:pPr algn="ctr"/>
            <a:r>
              <a:rPr sz="1350" b="0">
                <a:solidFill>
                  <a:srgbClr val="C0561B"/>
                </a:solidFill>
                <a:latin typeface="Malgun Gothic"/>
                <a:ea typeface="Malgun Gothic"/>
                <a:cs typeface="Malgun Gothic"/>
              </a:rPr>
              <a:t>Topic Manager</a:t>
            </a:r>
          </a:p>
          <a:p>
            <a:pPr algn="ctr"/>
            <a:r>
              <a:rPr sz="90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HMI 측 · 라이브러리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474720" y="2587752"/>
            <a:ext cx="1645920" cy="0"/>
          </a:xfrm>
          <a:prstGeom prst="line">
            <a:avLst/>
          </a:prstGeom>
          <a:ln w="6350">
            <a:solidFill>
              <a:srgbClr val="C0561B"/>
            </a:solidFill>
          </a:ln>
        </p:spPr>
      </p:cxnSp>
      <p:sp>
        <p:nvSpPr>
          <p:cNvPr id="14" name="Rectangle 13"/>
          <p:cNvSpPr/>
          <p:nvPr/>
        </p:nvSpPr>
        <p:spPr>
          <a:xfrm>
            <a:off x="3447288" y="2679191"/>
            <a:ext cx="1700784" cy="1280160"/>
          </a:xfrm>
          <a:prstGeom prst="rect">
            <a:avLst/>
          </a:prstGeom>
          <a:noFill/>
          <a:ln>
            <a:noFill/>
          </a:ln>
        </p:spPr>
        <p:txBody>
          <a:bodyPr rtlCol="0" anchor="t" lIns="0" rIns="0" tIns="0" bIns="0" wrap="square"/>
          <a:lstStyle/>
          <a:p>
            <a:pPr algn="ctr"/>
            <a:r>
              <a:rPr sz="95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NGVA 모듈 PIM 구조</a:t>
            </a:r>
          </a:p>
          <a:p>
            <a:pPr algn="ctr"/>
            <a:r>
              <a:rPr sz="950" b="0">
                <a:solidFill>
                  <a:srgbClr val="1F2A3C"/>
                </a:solidFill>
                <a:latin typeface="Malgun Gothic"/>
                <a:ea typeface="Malgun Gothic"/>
                <a:cs typeface="Malgun Gothic"/>
              </a:rPr>
              <a:t>상호참조 관계 검사</a:t>
            </a:r>
          </a:p>
          <a:p>
            <a:pPr algn="ctr"/>
            <a:r>
              <a:rPr sz="500" b="0">
                <a:solidFill>
                  <a:srgbClr val="1F2A3C"/>
                </a:solidFill>
                <a:latin typeface="Malgun Gothic"/>
                <a:ea typeface="Malgun Gothic"/>
                <a:cs typeface="Malgun Gothic"/>
              </a:rPr>
              <a:t/>
            </a:r>
          </a:p>
          <a:p>
            <a:pPr algn="ctr"/>
            <a:r>
              <a:rPr sz="95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Resource · Topic</a:t>
            </a:r>
          </a:p>
          <a:p>
            <a:pPr algn="ctr"/>
            <a:r>
              <a:rPr sz="950" b="0">
                <a:solidFill>
                  <a:srgbClr val="1F2A3C"/>
                </a:solidFill>
                <a:latin typeface="Malgun Gothic"/>
                <a:ea typeface="Malgun Gothic"/>
                <a:cs typeface="Malgun Gothic"/>
              </a:rPr>
              <a:t>생명주기 관리</a:t>
            </a:r>
          </a:p>
          <a:p>
            <a:pPr algn="ctr"/>
            <a:r>
              <a:rPr sz="500" b="0">
                <a:solidFill>
                  <a:srgbClr val="1F2A3C"/>
                </a:solidFill>
                <a:latin typeface="Malgun Gothic"/>
                <a:ea typeface="Malgun Gothic"/>
                <a:cs typeface="Malgun Gothic"/>
              </a:rPr>
              <a:t/>
            </a:r>
          </a:p>
          <a:p>
            <a:pPr algn="ctr"/>
            <a:r>
              <a:rPr sz="95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NGVA Topic</a:t>
            </a:r>
          </a:p>
          <a:p>
            <a:pPr algn="ctr"/>
            <a:r>
              <a:rPr sz="950" b="0">
                <a:solidFill>
                  <a:srgbClr val="1F2A3C"/>
                </a:solidFill>
                <a:latin typeface="Malgun Gothic"/>
                <a:ea typeface="Malgun Gothic"/>
                <a:cs typeface="Malgun Gothic"/>
              </a:rPr>
              <a:t>발행 / 구독 처리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788920" y="2478024"/>
            <a:ext cx="502920" cy="0"/>
          </a:xfrm>
          <a:prstGeom prst="line">
            <a:avLst/>
          </a:prstGeom>
          <a:ln w="15875">
            <a:solidFill>
              <a:srgbClr val="C0561B"/>
            </a:solidFill>
            <a:headEnd type="triangle" w="sm" len="sm"/>
            <a:tailEnd type="triangle" w="sm" len="sm"/>
          </a:ln>
        </p:spPr>
      </p:cxnSp>
      <p:cxnSp>
        <p:nvCxnSpPr>
          <p:cNvPr id="16" name="Connector 15"/>
          <p:cNvCxnSpPr/>
          <p:nvPr/>
        </p:nvCxnSpPr>
        <p:spPr>
          <a:xfrm>
            <a:off x="2788920" y="3529584"/>
            <a:ext cx="502920" cy="0"/>
          </a:xfrm>
          <a:prstGeom prst="line">
            <a:avLst/>
          </a:prstGeom>
          <a:ln w="15875">
            <a:solidFill>
              <a:srgbClr val="C0561B"/>
            </a:solidFill>
            <a:headEnd type="triangle" w="sm" len="sm"/>
            <a:tailEnd type="triangle" w="sm" len="sm"/>
          </a:ln>
        </p:spPr>
      </p:cxnSp>
      <p:sp>
        <p:nvSpPr>
          <p:cNvPr id="17" name="Rectangle 16"/>
          <p:cNvSpPr/>
          <p:nvPr/>
        </p:nvSpPr>
        <p:spPr>
          <a:xfrm>
            <a:off x="685800" y="411480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rtlCol="0" anchor="t" lIns="0" rIns="0" tIns="0" bIns="0" wrap="square"/>
          <a:lstStyle/>
          <a:p>
            <a:pPr algn="l"/>
            <a:r>
              <a:rPr sz="90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함수 호출로 명령 전달 · Callback 으로 결과 · 이벤트 수신</a:t>
            </a:r>
          </a:p>
          <a:p>
            <a:pPr algn="l"/>
            <a:r>
              <a:rPr sz="90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Topic Manager 는 Core · Application 각 프로세스에 링크되는 라이브러리 형태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40680" y="2615184"/>
            <a:ext cx="1005840" cy="402336"/>
          </a:xfrm>
          <a:prstGeom prst="rect">
            <a:avLst/>
          </a:prstGeom>
          <a:noFill/>
          <a:ln>
            <a:noFill/>
          </a:ln>
        </p:spPr>
        <p:txBody>
          <a:bodyPr rtlCol="0" anchor="b" lIns="0" rIns="0" tIns="0" bIns="0" wrap="square"/>
          <a:lstStyle/>
          <a:p>
            <a:pPr algn="ctr"/>
            <a:r>
              <a:rPr sz="850" b="0">
                <a:solidFill>
                  <a:srgbClr val="1F2A3C"/>
                </a:solidFill>
                <a:latin typeface="Malgun Gothic"/>
                <a:ea typeface="Malgun Gothic"/>
                <a:cs typeface="Malgun Gothic"/>
              </a:rPr>
              <a:t>NGVA Topic</a:t>
            </a:r>
          </a:p>
          <a:p>
            <a:pPr algn="ctr"/>
            <a:r>
              <a:rPr sz="850" b="0">
                <a:solidFill>
                  <a:srgbClr val="1F2A3C"/>
                </a:solidFill>
                <a:latin typeface="Malgun Gothic"/>
                <a:ea typeface="Malgun Gothic"/>
                <a:cs typeface="Malgun Gothic"/>
              </a:rPr>
              <a:t>(DDS)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0" y="3108960"/>
            <a:ext cx="914400" cy="0"/>
          </a:xfrm>
          <a:prstGeom prst="line">
            <a:avLst/>
          </a:prstGeom>
          <a:ln w="19050">
            <a:solidFill>
              <a:srgbClr val="1F2A3C"/>
            </a:solidFill>
            <a:headEnd type="triangle" w="sm" len="sm"/>
            <a:tailEnd type="triangle" w="sm" len="sm"/>
          </a:ln>
        </p:spPr>
      </p:cxnSp>
      <p:sp>
        <p:nvSpPr>
          <p:cNvPr id="20" name="Rectangle 19"/>
          <p:cNvSpPr/>
          <p:nvPr/>
        </p:nvSpPr>
        <p:spPr>
          <a:xfrm>
            <a:off x="6446520" y="1481328"/>
            <a:ext cx="5193792" cy="3200400"/>
          </a:xfrm>
          <a:prstGeom prst="rect">
            <a:avLst/>
          </a:prstGeom>
          <a:noFill/>
          <a:ln w="9525">
            <a:solidFill>
              <a:srgbClr val="1F2A3C"/>
            </a:solidFill>
            <a:prstDash val="dash"/>
          </a:ln>
        </p:spPr>
        <p:txBody>
          <a:bodyPr rtlCol="0" anchor="ctr" lIns="36576" rIns="36576" tIns="36576" bIns="36576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0" y="1554480"/>
            <a:ext cx="4846320" cy="219456"/>
          </a:xfrm>
          <a:prstGeom prst="rect">
            <a:avLst/>
          </a:prstGeom>
          <a:noFill/>
          <a:ln>
            <a:noFill/>
          </a:ln>
        </p:spPr>
        <p:txBody>
          <a:bodyPr rtlCol="0" anchor="t" lIns="0" rIns="0" tIns="0" bIns="0" wrap="square"/>
          <a:lstStyle/>
          <a:p>
            <a:pPr algn="l"/>
            <a:r>
              <a:rPr sz="1000" b="0">
                <a:solidFill>
                  <a:srgbClr val="1F2A3C"/>
                </a:solidFill>
                <a:latin typeface="Malgun Gothic"/>
                <a:ea typeface="Malgun Gothic"/>
                <a:cs typeface="Malgun Gothic"/>
              </a:rPr>
              <a:t>외부 인터페이스</a:t>
            </a:r>
            <a:r>
              <a:rPr sz="100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   NGVA Topic (DDS)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75120" y="1965960"/>
            <a:ext cx="1920240" cy="2103120"/>
          </a:xfrm>
          <a:prstGeom prst="rect">
            <a:avLst/>
          </a:prstGeom>
          <a:solidFill>
            <a:srgbClr val="FBEEE6"/>
          </a:solidFill>
          <a:ln w="22225">
            <a:solidFill>
              <a:srgbClr val="C0561B"/>
            </a:solidFill>
          </a:ln>
        </p:spPr>
        <p:txBody>
          <a:bodyPr rtlCol="0" anchor="ctr" lIns="36576" rIns="36576" tIns="36576" bIns="36576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66559" y="2057400"/>
            <a:ext cx="1737360" cy="475488"/>
          </a:xfrm>
          <a:prstGeom prst="rect">
            <a:avLst/>
          </a:prstGeom>
          <a:noFill/>
          <a:ln>
            <a:noFill/>
          </a:ln>
        </p:spPr>
        <p:txBody>
          <a:bodyPr rtlCol="0" anchor="ctr" lIns="0" rIns="0" tIns="0" bIns="0" wrap="square"/>
          <a:lstStyle/>
          <a:p>
            <a:pPr algn="ctr"/>
            <a:r>
              <a:rPr sz="1350" b="0">
                <a:solidFill>
                  <a:srgbClr val="C0561B"/>
                </a:solidFill>
                <a:latin typeface="Malgun Gothic"/>
                <a:ea typeface="Malgun Gothic"/>
                <a:cs typeface="Malgun Gothic"/>
              </a:rPr>
              <a:t>Topic Manager</a:t>
            </a:r>
          </a:p>
          <a:p>
            <a:pPr algn="ctr"/>
            <a:r>
              <a:rPr sz="90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외부 체계 측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812280" y="2587752"/>
            <a:ext cx="1645920" cy="0"/>
          </a:xfrm>
          <a:prstGeom prst="line">
            <a:avLst/>
          </a:prstGeom>
          <a:ln w="6350">
            <a:solidFill>
              <a:srgbClr val="C0561B"/>
            </a:solidFill>
          </a:ln>
        </p:spPr>
      </p:cxnSp>
      <p:sp>
        <p:nvSpPr>
          <p:cNvPr id="25" name="Rectangle 24"/>
          <p:cNvSpPr/>
          <p:nvPr/>
        </p:nvSpPr>
        <p:spPr>
          <a:xfrm>
            <a:off x="6784848" y="2679191"/>
            <a:ext cx="1700784" cy="1280160"/>
          </a:xfrm>
          <a:prstGeom prst="rect">
            <a:avLst/>
          </a:prstGeom>
          <a:noFill/>
          <a:ln>
            <a:noFill/>
          </a:ln>
        </p:spPr>
        <p:txBody>
          <a:bodyPr rtlCol="0" anchor="t" lIns="0" rIns="0" tIns="0" bIns="0" wrap="square"/>
          <a:lstStyle/>
          <a:p>
            <a:pPr algn="ctr"/>
            <a:r>
              <a:rPr sz="95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NGVA 모듈 PIM 구조</a:t>
            </a:r>
          </a:p>
          <a:p>
            <a:pPr algn="ctr"/>
            <a:r>
              <a:rPr sz="950" b="0">
                <a:solidFill>
                  <a:srgbClr val="1F2A3C"/>
                </a:solidFill>
                <a:latin typeface="Malgun Gothic"/>
                <a:ea typeface="Malgun Gothic"/>
                <a:cs typeface="Malgun Gothic"/>
              </a:rPr>
              <a:t>상호참조 관계 검사</a:t>
            </a:r>
          </a:p>
          <a:p>
            <a:pPr algn="ctr"/>
            <a:r>
              <a:rPr sz="500" b="0">
                <a:solidFill>
                  <a:srgbClr val="1F2A3C"/>
                </a:solidFill>
                <a:latin typeface="Malgun Gothic"/>
                <a:ea typeface="Malgun Gothic"/>
                <a:cs typeface="Malgun Gothic"/>
              </a:rPr>
              <a:t/>
            </a:r>
          </a:p>
          <a:p>
            <a:pPr algn="ctr"/>
            <a:r>
              <a:rPr sz="95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Resource · Topic</a:t>
            </a:r>
          </a:p>
          <a:p>
            <a:pPr algn="ctr"/>
            <a:r>
              <a:rPr sz="950" b="0">
                <a:solidFill>
                  <a:srgbClr val="1F2A3C"/>
                </a:solidFill>
                <a:latin typeface="Malgun Gothic"/>
                <a:ea typeface="Malgun Gothic"/>
                <a:cs typeface="Malgun Gothic"/>
              </a:rPr>
              <a:t>생명주기 관리</a:t>
            </a:r>
          </a:p>
          <a:p>
            <a:pPr algn="ctr"/>
            <a:r>
              <a:rPr sz="500" b="0">
                <a:solidFill>
                  <a:srgbClr val="1F2A3C"/>
                </a:solidFill>
                <a:latin typeface="Malgun Gothic"/>
                <a:ea typeface="Malgun Gothic"/>
                <a:cs typeface="Malgun Gothic"/>
              </a:rPr>
              <a:t/>
            </a:r>
          </a:p>
          <a:p>
            <a:pPr algn="ctr"/>
            <a:r>
              <a:rPr sz="95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NGVA Topic</a:t>
            </a:r>
          </a:p>
          <a:p>
            <a:pPr algn="ctr"/>
            <a:r>
              <a:rPr sz="950" b="0">
                <a:solidFill>
                  <a:srgbClr val="1F2A3C"/>
                </a:solidFill>
                <a:latin typeface="Malgun Gothic"/>
                <a:ea typeface="Malgun Gothic"/>
                <a:cs typeface="Malgun Gothic"/>
              </a:rPr>
              <a:t>발행 / 구독 처리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26880" y="2048256"/>
            <a:ext cx="210312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1F2A3C"/>
            </a:solidFill>
          </a:ln>
        </p:spPr>
        <p:txBody>
          <a:bodyPr rtlCol="0" anchor="ctr" lIns="45720" rIns="45720" wrap="square"/>
          <a:lstStyle/>
          <a:p>
            <a:pPr algn="ctr"/>
            <a:r>
              <a:rPr sz="1150" b="0">
                <a:solidFill>
                  <a:srgbClr val="1F2A3C"/>
                </a:solidFill>
                <a:latin typeface="Malgun Gothic"/>
                <a:ea typeface="Malgun Gothic"/>
                <a:cs typeface="Malgun Gothic"/>
              </a:rPr>
              <a:t>CC</a:t>
            </a:r>
          </a:p>
          <a:p>
            <a:pPr algn="ctr"/>
            <a:r>
              <a:rPr sz="80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Central Computer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641080" y="2331720"/>
            <a:ext cx="640080" cy="0"/>
          </a:xfrm>
          <a:prstGeom prst="line">
            <a:avLst/>
          </a:prstGeom>
          <a:ln w="15875">
            <a:solidFill>
              <a:srgbClr val="1F2A3C"/>
            </a:solidFill>
            <a:headEnd type="triangle" w="sm" len="sm"/>
            <a:tailEnd type="triangle" w="sm" len="sm"/>
          </a:ln>
        </p:spPr>
      </p:cxnSp>
      <p:sp>
        <p:nvSpPr>
          <p:cNvPr id="28" name="Rectangle 27"/>
          <p:cNvSpPr/>
          <p:nvPr/>
        </p:nvSpPr>
        <p:spPr>
          <a:xfrm>
            <a:off x="9326880" y="2761488"/>
            <a:ext cx="210312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1F2A3C"/>
            </a:solidFill>
          </a:ln>
        </p:spPr>
        <p:txBody>
          <a:bodyPr rtlCol="0" anchor="ctr" lIns="45720" rIns="45720" wrap="square"/>
          <a:lstStyle/>
          <a:p>
            <a:pPr algn="ctr"/>
            <a:r>
              <a:rPr sz="1150" b="0">
                <a:solidFill>
                  <a:srgbClr val="1F2A3C"/>
                </a:solidFill>
                <a:latin typeface="Malgun Gothic"/>
                <a:ea typeface="Malgun Gothic"/>
                <a:cs typeface="Malgun Gothic"/>
              </a:rPr>
              <a:t>FCC</a:t>
            </a:r>
          </a:p>
          <a:p>
            <a:pPr algn="ctr"/>
            <a:r>
              <a:rPr sz="80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Fire Control Computer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641080" y="3044952"/>
            <a:ext cx="640080" cy="0"/>
          </a:xfrm>
          <a:prstGeom prst="line">
            <a:avLst/>
          </a:prstGeom>
          <a:ln w="15875">
            <a:solidFill>
              <a:srgbClr val="1F2A3C"/>
            </a:solidFill>
            <a:headEnd type="triangle" w="sm" len="sm"/>
            <a:tailEnd type="triangle" w="sm" len="sm"/>
          </a:ln>
        </p:spPr>
      </p:cxnSp>
      <p:sp>
        <p:nvSpPr>
          <p:cNvPr id="30" name="Rectangle 29"/>
          <p:cNvSpPr/>
          <p:nvPr/>
        </p:nvSpPr>
        <p:spPr>
          <a:xfrm>
            <a:off x="9326880" y="3474720"/>
            <a:ext cx="2103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9AA1AC"/>
            </a:solidFill>
            <a:prstDash val="dash"/>
          </a:ln>
        </p:spPr>
        <p:txBody>
          <a:bodyPr rtlCol="0" anchor="ctr" lIns="45720" rIns="45720" wrap="square"/>
          <a:lstStyle/>
          <a:p>
            <a:pPr algn="ctr"/>
            <a:r>
              <a:rPr sz="115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기타 NGVA 체계 장비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641080" y="3758184"/>
            <a:ext cx="640080" cy="0"/>
          </a:xfrm>
          <a:prstGeom prst="line">
            <a:avLst/>
          </a:prstGeom>
          <a:ln w="15875">
            <a:solidFill>
              <a:srgbClr val="9AA1AC"/>
            </a:solidFill>
            <a:prstDash val="dash"/>
            <a:headEnd type="triangle" w="sm" len="sm"/>
            <a:tailEnd type="triangle" w="sm" len="sm"/>
          </a:ln>
        </p:spPr>
      </p:cxnSp>
      <p:sp>
        <p:nvSpPr>
          <p:cNvPr id="32" name="Rectangle 31"/>
          <p:cNvSpPr/>
          <p:nvPr/>
        </p:nvSpPr>
        <p:spPr>
          <a:xfrm>
            <a:off x="6583680" y="4160520"/>
            <a:ext cx="4846320" cy="411480"/>
          </a:xfrm>
          <a:prstGeom prst="rect">
            <a:avLst/>
          </a:prstGeom>
          <a:noFill/>
          <a:ln>
            <a:noFill/>
          </a:ln>
        </p:spPr>
        <p:txBody>
          <a:bodyPr rtlCol="0" anchor="t" lIns="0" rIns="0" tIns="0" bIns="0" wrap="square"/>
          <a:lstStyle/>
          <a:p>
            <a:pPr algn="l"/>
            <a:r>
              <a:rPr sz="90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외부 체계와는 NGVA Topic 으로만 연동 · 대상 체계는 확정되는 대로 추가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901184"/>
            <a:ext cx="45720" cy="182880"/>
          </a:xfrm>
          <a:prstGeom prst="rect">
            <a:avLst/>
          </a:prstGeom>
          <a:solidFill>
            <a:srgbClr val="1F2A3C"/>
          </a:solidFill>
          <a:ln>
            <a:noFill/>
          </a:ln>
        </p:spPr>
        <p:txBody>
          <a:bodyPr rtlCol="0" anchor="ctr" lIns="36576" rIns="36576" tIns="36576" bIns="36576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4864608"/>
            <a:ext cx="5376672" cy="256032"/>
          </a:xfrm>
          <a:prstGeom prst="rect">
            <a:avLst/>
          </a:prstGeom>
          <a:noFill/>
          <a:ln>
            <a:noFill/>
          </a:ln>
        </p:spPr>
        <p:txBody>
          <a:bodyPr rtlCol="0" anchor="ctr" lIns="0" rIns="0" tIns="0" bIns="0" wrap="square"/>
          <a:lstStyle/>
          <a:p>
            <a:pPr algn="l"/>
            <a:r>
              <a:rPr sz="1200" b="1">
                <a:solidFill>
                  <a:srgbClr val="1F2A3C"/>
                </a:solidFill>
                <a:latin typeface="Malgun Gothic"/>
                <a:ea typeface="Malgun Gothic"/>
                <a:cs typeface="Malgun Gothic"/>
              </a:rPr>
              <a:t>Topic Manager가 1차로 처리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193792"/>
            <a:ext cx="5394960" cy="777240"/>
          </a:xfrm>
          <a:prstGeom prst="rect">
            <a:avLst/>
          </a:prstGeom>
          <a:noFill/>
          <a:ln>
            <a:noFill/>
          </a:ln>
        </p:spPr>
        <p:txBody>
          <a:bodyPr rtlCol="0" anchor="t" lIns="0" rIns="0" tIns="0" bIns="0" wrap="square"/>
          <a:lstStyle/>
          <a:p>
            <a:pPr algn="l">
              <a:spcAft>
                <a:spcPts val="150"/>
              </a:spcAft>
            </a:pPr>
            <a:r>
              <a:rPr sz="1050" b="0">
                <a:solidFill>
                  <a:srgbClr val="1F2A3C"/>
                </a:solidFill>
                <a:latin typeface="Malgun Gothic"/>
                <a:ea typeface="Malgun Gothic"/>
                <a:cs typeface="Malgun Gothic"/>
              </a:rPr>
              <a:t>·  </a:t>
            </a:r>
            <a:r>
              <a:rPr sz="1050" b="0">
                <a:solidFill>
                  <a:srgbClr val="2A2F38"/>
                </a:solidFill>
                <a:latin typeface="Malgun Gothic"/>
                <a:ea typeface="Malgun Gothic"/>
                <a:cs typeface="Malgun Gothic"/>
              </a:rPr>
              <a:t>NGVA 모듈 PIM 구조에 따른 상호참조 관계 검사</a:t>
            </a:r>
          </a:p>
          <a:p>
            <a:pPr algn="l">
              <a:spcAft>
                <a:spcPts val="150"/>
              </a:spcAft>
            </a:pPr>
            <a:r>
              <a:rPr sz="1050" b="0">
                <a:solidFill>
                  <a:srgbClr val="1F2A3C"/>
                </a:solidFill>
                <a:latin typeface="Malgun Gothic"/>
                <a:ea typeface="Malgun Gothic"/>
                <a:cs typeface="Malgun Gothic"/>
              </a:rPr>
              <a:t>·  </a:t>
            </a:r>
            <a:r>
              <a:rPr sz="1050" b="0">
                <a:solidFill>
                  <a:srgbClr val="2A2F38"/>
                </a:solidFill>
                <a:latin typeface="Malgun Gothic"/>
                <a:ea typeface="Malgun Gothic"/>
                <a:cs typeface="Malgun Gothic"/>
              </a:rPr>
              <a:t>Resource · Topic 생명주기 관리</a:t>
            </a:r>
          </a:p>
          <a:p>
            <a:pPr algn="l">
              <a:spcAft>
                <a:spcPts val="150"/>
              </a:spcAft>
            </a:pPr>
            <a:r>
              <a:rPr sz="1050" b="0">
                <a:solidFill>
                  <a:srgbClr val="1F2A3C"/>
                </a:solidFill>
                <a:latin typeface="Malgun Gothic"/>
                <a:ea typeface="Malgun Gothic"/>
                <a:cs typeface="Malgun Gothic"/>
              </a:rPr>
              <a:t>·  </a:t>
            </a:r>
            <a:r>
              <a:rPr sz="1050" b="0">
                <a:solidFill>
                  <a:srgbClr val="2A2F38"/>
                </a:solidFill>
                <a:latin typeface="Malgun Gothic"/>
                <a:ea typeface="Malgun Gothic"/>
                <a:cs typeface="Malgun Gothic"/>
              </a:rPr>
              <a:t>NGVA Topic 발행 / 구독 등 NGVA 규격 관련 처리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4901184"/>
            <a:ext cx="45720" cy="182880"/>
          </a:xfrm>
          <a:prstGeom prst="rect">
            <a:avLst/>
          </a:prstGeom>
          <a:solidFill>
            <a:srgbClr val="C0561B"/>
          </a:solidFill>
          <a:ln>
            <a:noFill/>
          </a:ln>
        </p:spPr>
        <p:txBody>
          <a:bodyPr rtlCol="0" anchor="ctr" lIns="36576" rIns="36576" tIns="36576" bIns="36576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19088" y="4864608"/>
            <a:ext cx="5221224" cy="256032"/>
          </a:xfrm>
          <a:prstGeom prst="rect">
            <a:avLst/>
          </a:prstGeom>
          <a:noFill/>
          <a:ln>
            <a:noFill/>
          </a:ln>
        </p:spPr>
        <p:txBody>
          <a:bodyPr rtlCol="0" anchor="ctr" lIns="0" rIns="0" tIns="0" bIns="0" wrap="square"/>
          <a:lstStyle/>
          <a:p>
            <a:pPr algn="l"/>
            <a:r>
              <a:rPr sz="1200" b="1">
                <a:solidFill>
                  <a:srgbClr val="C0561B"/>
                </a:solidFill>
                <a:latin typeface="Malgun Gothic"/>
                <a:ea typeface="Malgun Gothic"/>
                <a:cs typeface="Malgun Gothic"/>
              </a:rPr>
              <a:t>HMI Core · Application 개발 관점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19088" y="5193792"/>
            <a:ext cx="5212080" cy="777240"/>
          </a:xfrm>
          <a:prstGeom prst="rect">
            <a:avLst/>
          </a:prstGeom>
          <a:noFill/>
          <a:ln>
            <a:noFill/>
          </a:ln>
        </p:spPr>
        <p:txBody>
          <a:bodyPr rtlCol="0" anchor="t" lIns="0" rIns="0" tIns="0" bIns="0" wrap="square"/>
          <a:lstStyle/>
          <a:p>
            <a:pPr algn="l">
              <a:spcAft>
                <a:spcPts val="150"/>
              </a:spcAft>
            </a:pPr>
            <a:r>
              <a:rPr sz="1050" b="0">
                <a:solidFill>
                  <a:srgbClr val="C0561B"/>
                </a:solidFill>
                <a:latin typeface="Malgun Gothic"/>
                <a:ea typeface="Malgun Gothic"/>
                <a:cs typeface="Malgun Gothic"/>
              </a:rPr>
              <a:t>·  </a:t>
            </a:r>
            <a:r>
              <a:rPr sz="1050" b="0">
                <a:solidFill>
                  <a:srgbClr val="2A2F38"/>
                </a:solidFill>
                <a:latin typeface="Malgun Gothic"/>
                <a:ea typeface="Malgun Gothic"/>
                <a:cs typeface="Malgun Gothic"/>
              </a:rPr>
              <a:t>명령 전달은 Topic Manager 함수 호출로 처리</a:t>
            </a:r>
          </a:p>
          <a:p>
            <a:pPr algn="l">
              <a:spcAft>
                <a:spcPts val="150"/>
              </a:spcAft>
            </a:pPr>
            <a:r>
              <a:rPr sz="1050" b="0">
                <a:solidFill>
                  <a:srgbClr val="C0561B"/>
                </a:solidFill>
                <a:latin typeface="Malgun Gothic"/>
                <a:ea typeface="Malgun Gothic"/>
                <a:cs typeface="Malgun Gothic"/>
              </a:rPr>
              <a:t>·  </a:t>
            </a:r>
            <a:r>
              <a:rPr sz="1050" b="0">
                <a:solidFill>
                  <a:srgbClr val="2A2F38"/>
                </a:solidFill>
                <a:latin typeface="Malgun Gothic"/>
                <a:ea typeface="Malgun Gothic"/>
                <a:cs typeface="Malgun Gothic"/>
              </a:rPr>
              <a:t>이벤트 수신은 Callback으로 처리 (p.8 참고)</a:t>
            </a:r>
          </a:p>
          <a:p>
            <a:pPr algn="l">
              <a:spcAft>
                <a:spcPts val="150"/>
              </a:spcAft>
            </a:pPr>
            <a:r>
              <a:rPr sz="1050" b="0">
                <a:solidFill>
                  <a:srgbClr val="C0561B"/>
                </a:solidFill>
                <a:latin typeface="Malgun Gothic"/>
                <a:ea typeface="Malgun Gothic"/>
                <a:cs typeface="Malgun Gothic"/>
              </a:rPr>
              <a:t>·  </a:t>
            </a:r>
            <a:r>
              <a:rPr sz="1050" b="0">
                <a:solidFill>
                  <a:srgbClr val="2A2F38"/>
                </a:solidFill>
                <a:latin typeface="Malgun Gothic"/>
                <a:ea typeface="Malgun Gothic"/>
                <a:cs typeface="Malgun Gothic"/>
              </a:rPr>
              <a:t>NGVA 모듈 내부 구조까지 깊이 파악할 필요 없음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6053328"/>
            <a:ext cx="45720" cy="329184"/>
          </a:xfrm>
          <a:prstGeom prst="rect">
            <a:avLst/>
          </a:prstGeom>
          <a:solidFill>
            <a:srgbClr val="C0561B"/>
          </a:solidFill>
          <a:ln>
            <a:noFill/>
          </a:ln>
        </p:spPr>
        <p:txBody>
          <a:bodyPr rtlCol="0" anchor="ctr" lIns="36576" rIns="36576" tIns="36576" bIns="36576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13232" y="6053328"/>
            <a:ext cx="10927080" cy="329184"/>
          </a:xfrm>
          <a:prstGeom prst="rect">
            <a:avLst/>
          </a:prstGeom>
          <a:noFill/>
          <a:ln>
            <a:noFill/>
          </a:ln>
        </p:spPr>
        <p:txBody>
          <a:bodyPr rtlCol="0" anchor="ctr" lIns="0" rIns="0" tIns="0" bIns="0" wrap="square"/>
          <a:lstStyle/>
          <a:p>
            <a:pPr algn="l"/>
            <a:r>
              <a:rPr sz="1300" b="0">
                <a:solidFill>
                  <a:srgbClr val="1F2A3C"/>
                </a:solidFill>
                <a:latin typeface="Malgun Gothic"/>
                <a:ea typeface="Malgun Gothic"/>
                <a:cs typeface="Malgun Gothic"/>
              </a:rPr>
              <a:t>HMI Core와 Application은 NGVA를 직접 다루지 않음 — Topic Manager와 함수 호출 / Callback으로 연동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859536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lIns="0" rIns="0" tIns="0" bIns="0" wrap="square"/>
          <a:lstStyle/>
          <a:p>
            <a:pPr algn="l"/>
            <a:r>
              <a:rPr sz="2400" b="1">
                <a:solidFill>
                  <a:srgbClr val="1F2A3C"/>
                </a:solidFill>
                <a:latin typeface="Malgun Gothic"/>
                <a:ea typeface="Malgun Gothic"/>
                <a:cs typeface="Malgun Gothic"/>
              </a:rPr>
              <a:t>Registry Service 기반 Resource 식별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64240" cy="384048"/>
          </a:xfrm>
          <a:prstGeom prst="rect">
            <a:avLst/>
          </a:prstGeom>
          <a:noFill/>
          <a:ln>
            <a:noFill/>
          </a:ln>
        </p:spPr>
        <p:txBody>
          <a:bodyPr rtlCol="0" anchor="t" lIns="0" rIns="0" tIns="0" bIns="0" wrap="square"/>
          <a:lstStyle/>
          <a:p>
            <a:pPr algn="l"/>
            <a:r>
              <a:rPr sz="120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HMI Core와 각 HMI Application은 독립된 Resource이며, Registry Service가 할당한 ResourceID로 서로를 식별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43584"/>
            <a:ext cx="11091672" cy="0"/>
          </a:xfrm>
          <a:prstGeom prst="line">
            <a:avLst/>
          </a:prstGeom>
          <a:ln w="9525">
            <a:solidFill>
              <a:srgbClr val="C5CAD2"/>
            </a:solidFill>
          </a:ln>
        </p:spPr>
      </p:cxnSp>
      <p:sp>
        <p:nvSpPr>
          <p:cNvPr id="5" name="Rectangle 4"/>
          <p:cNvSpPr/>
          <p:nvPr/>
        </p:nvSpPr>
        <p:spPr>
          <a:xfrm>
            <a:off x="8988552" y="411480"/>
            <a:ext cx="2651760" cy="292608"/>
          </a:xfrm>
          <a:prstGeom prst="rect">
            <a:avLst/>
          </a:prstGeom>
          <a:noFill/>
          <a:ln w="12700">
            <a:solidFill>
              <a:srgbClr val="C0561B"/>
            </a:solidFill>
          </a:ln>
        </p:spPr>
        <p:txBody>
          <a:bodyPr rtlCol="0" anchor="ctr" lIns="36576" rIns="36576" tIns="36576" bIns="36576" wrap="square"/>
          <a:lstStyle/>
          <a:p>
            <a:pPr algn="ctr"/>
            <a:r>
              <a:rPr sz="95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사용 NGVA 모듈  </a:t>
            </a:r>
            <a:r>
              <a:rPr sz="1050" b="0">
                <a:solidFill>
                  <a:srgbClr val="C0561B"/>
                </a:solidFill>
                <a:latin typeface="Malgun Gothic"/>
                <a:ea typeface="Malgun Gothic"/>
                <a:cs typeface="Malgun Gothic"/>
              </a:rPr>
              <a:t>Vehicle Configuration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73952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rtlCol="0" anchor="ctr" lIns="0" rIns="0" tIns="0" bIns="0" wrap="square"/>
          <a:lstStyle/>
          <a:p>
            <a:pPr algn="l"/>
            <a:r>
              <a:rPr sz="900" b="0">
                <a:solidFill>
                  <a:srgbClr val="9AA1AC"/>
                </a:solidFill>
                <a:latin typeface="Malgun Gothic"/>
                <a:ea typeface="Malgun Gothic"/>
                <a:cs typeface="Malgun Gothic"/>
              </a:rPr>
              <a:t>GVA HMI 기술설명  ·  NGVA 기반 HMI 구조</a:t>
            </a:r>
          </a:p>
        </p:txBody>
      </p:sp>
      <p:sp>
        <p:nvSpPr>
          <p:cNvPr id="7" name="Rectangle 6"/>
          <p:cNvSpPr/>
          <p:nvPr/>
        </p:nvSpPr>
        <p:spPr>
          <a:xfrm>
            <a:off x="10725912" y="647395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rtlCol="0" anchor="ctr" lIns="0" rIns="0" tIns="0" bIns="0" wrap="square"/>
          <a:lstStyle/>
          <a:p>
            <a:pPr algn="r"/>
            <a:r>
              <a:rPr sz="900" b="0">
                <a:solidFill>
                  <a:srgbClr val="9AA1AC"/>
                </a:solidFill>
                <a:latin typeface="Malgun Gothic"/>
                <a:ea typeface="Malgun Gothic"/>
                <a:cs typeface="Malgun Gothic"/>
              </a:rPr>
              <a:t>4 /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99616"/>
            <a:ext cx="45720" cy="182880"/>
          </a:xfrm>
          <a:prstGeom prst="rect">
            <a:avLst/>
          </a:prstGeom>
          <a:solidFill>
            <a:srgbClr val="1F2A3C"/>
          </a:solidFill>
          <a:ln>
            <a:noFill/>
          </a:ln>
        </p:spPr>
        <p:txBody>
          <a:bodyPr rtlCol="0" anchor="ctr" lIns="36576" rIns="36576" tIns="36576" bIns="36576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463040"/>
            <a:ext cx="3456432" cy="256032"/>
          </a:xfrm>
          <a:prstGeom prst="rect">
            <a:avLst/>
          </a:prstGeom>
          <a:noFill/>
          <a:ln>
            <a:noFill/>
          </a:ln>
        </p:spPr>
        <p:txBody>
          <a:bodyPr rtlCol="0" anchor="ctr" lIns="0" rIns="0" tIns="0" bIns="0" wrap="square"/>
          <a:lstStyle/>
          <a:p>
            <a:pPr algn="l"/>
            <a:r>
              <a:rPr sz="1200" b="1">
                <a:solidFill>
                  <a:srgbClr val="1F2A3C"/>
                </a:solidFill>
                <a:latin typeface="Malgun Gothic"/>
                <a:ea typeface="Malgun Gothic"/>
                <a:cs typeface="Malgun Gothic"/>
              </a:rPr>
              <a:t>Resource 등록 구조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25880" y="2788920"/>
            <a:ext cx="1920240" cy="566928"/>
          </a:xfrm>
          <a:prstGeom prst="rect">
            <a:avLst/>
          </a:prstGeom>
          <a:solidFill>
            <a:srgbClr val="FBEEE6"/>
          </a:solidFill>
          <a:ln w="15875">
            <a:solidFill>
              <a:srgbClr val="C0561B"/>
            </a:solidFill>
          </a:ln>
        </p:spPr>
        <p:txBody>
          <a:bodyPr rtlCol="0" anchor="ctr" lIns="45720" rIns="45720" wrap="square"/>
          <a:lstStyle/>
          <a:p>
            <a:pPr algn="ctr"/>
            <a:r>
              <a:rPr sz="1200" b="0">
                <a:solidFill>
                  <a:srgbClr val="C0561B"/>
                </a:solidFill>
                <a:latin typeface="Malgun Gothic"/>
                <a:ea typeface="Malgun Gothic"/>
                <a:cs typeface="Malgun Gothic"/>
              </a:rPr>
              <a:t>Registry Service</a:t>
            </a:r>
          </a:p>
          <a:p>
            <a:pPr algn="ctr"/>
            <a:r>
              <a:rPr sz="90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ResourceID 할당 · 관리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00200" y="1874519"/>
            <a:ext cx="1371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1F2A3C"/>
            </a:solidFill>
          </a:ln>
        </p:spPr>
        <p:txBody>
          <a:bodyPr rtlCol="0" anchor="ctr" lIns="45720" rIns="45720" wrap="square"/>
          <a:lstStyle/>
          <a:p>
            <a:pPr algn="ctr"/>
            <a:r>
              <a:rPr sz="1100" b="0">
                <a:solidFill>
                  <a:srgbClr val="2A2F38"/>
                </a:solidFill>
                <a:latin typeface="Malgun Gothic"/>
                <a:ea typeface="Malgun Gothic"/>
                <a:cs typeface="Malgun Gothic"/>
              </a:rPr>
              <a:t>HMI Core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86000" y="2258568"/>
            <a:ext cx="0" cy="530352"/>
          </a:xfrm>
          <a:prstGeom prst="line">
            <a:avLst/>
          </a:prstGeom>
          <a:ln w="12700">
            <a:solidFill>
              <a:srgbClr val="1F2A3C"/>
            </a:solidFill>
            <a:tailEnd type="triangle" w="sm" len="sm"/>
          </a:ln>
        </p:spPr>
      </p:cxnSp>
      <p:sp>
        <p:nvSpPr>
          <p:cNvPr id="13" name="Rectangle 12"/>
          <p:cNvSpPr/>
          <p:nvPr/>
        </p:nvSpPr>
        <p:spPr>
          <a:xfrm>
            <a:off x="2359152" y="2377440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rtlCol="0" anchor="t" lIns="0" rIns="0" tIns="0" bIns="0" wrap="square"/>
          <a:lstStyle/>
          <a:p>
            <a:pPr algn="l"/>
            <a:r>
              <a:rPr sz="85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Resource 등록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886200"/>
            <a:ext cx="8229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1F2A3C"/>
            </a:solidFill>
          </a:ln>
        </p:spPr>
        <p:txBody>
          <a:bodyPr rtlCol="0" anchor="ctr" lIns="45720" rIns="45720" wrap="square"/>
          <a:lstStyle/>
          <a:p>
            <a:pPr algn="ctr"/>
            <a:r>
              <a:rPr sz="900" b="0">
                <a:solidFill>
                  <a:srgbClr val="2A2F38"/>
                </a:solidFill>
                <a:latin typeface="Malgun Gothic"/>
                <a:ea typeface="Malgun Gothic"/>
                <a:cs typeface="Malgun Gothic"/>
              </a:rPr>
              <a:t>Application A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960120" y="3355848"/>
            <a:ext cx="685799" cy="530352"/>
          </a:xfrm>
          <a:prstGeom prst="line">
            <a:avLst/>
          </a:prstGeom>
          <a:ln w="12700">
            <a:solidFill>
              <a:srgbClr val="1F2A3C"/>
            </a:solidFill>
            <a:tailEnd type="triangle" w="sm" len="sm"/>
          </a:ln>
        </p:spPr>
      </p:cxnSp>
      <p:sp>
        <p:nvSpPr>
          <p:cNvPr id="16" name="Rectangle 15"/>
          <p:cNvSpPr/>
          <p:nvPr/>
        </p:nvSpPr>
        <p:spPr>
          <a:xfrm>
            <a:off x="1435607" y="3886200"/>
            <a:ext cx="8229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1F2A3C"/>
            </a:solidFill>
          </a:ln>
        </p:spPr>
        <p:txBody>
          <a:bodyPr rtlCol="0" anchor="ctr" lIns="45720" rIns="45720" wrap="square"/>
          <a:lstStyle/>
          <a:p>
            <a:pPr algn="ctr"/>
            <a:r>
              <a:rPr sz="900" b="0">
                <a:solidFill>
                  <a:srgbClr val="2A2F38"/>
                </a:solidFill>
                <a:latin typeface="Malgun Gothic"/>
                <a:ea typeface="Malgun Gothic"/>
                <a:cs typeface="Malgun Gothic"/>
              </a:rPr>
              <a:t>Application B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1847088" y="3355848"/>
            <a:ext cx="256032" cy="530352"/>
          </a:xfrm>
          <a:prstGeom prst="line">
            <a:avLst/>
          </a:prstGeom>
          <a:ln w="12700">
            <a:solidFill>
              <a:srgbClr val="1F2A3C"/>
            </a:solidFill>
            <a:tailEnd type="triangle" w="sm" len="sm"/>
          </a:ln>
        </p:spPr>
      </p:cxnSp>
      <p:sp>
        <p:nvSpPr>
          <p:cNvPr id="18" name="Rectangle 17"/>
          <p:cNvSpPr/>
          <p:nvPr/>
        </p:nvSpPr>
        <p:spPr>
          <a:xfrm>
            <a:off x="2322576" y="3886200"/>
            <a:ext cx="8229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1F2A3C"/>
            </a:solidFill>
          </a:ln>
        </p:spPr>
        <p:txBody>
          <a:bodyPr rtlCol="0" anchor="ctr" lIns="45720" rIns="45720" wrap="square"/>
          <a:lstStyle/>
          <a:p>
            <a:pPr algn="ctr"/>
            <a:r>
              <a:rPr sz="900" b="0">
                <a:solidFill>
                  <a:srgbClr val="2A2F38"/>
                </a:solidFill>
                <a:latin typeface="Malgun Gothic"/>
                <a:ea typeface="Malgun Gothic"/>
                <a:cs typeface="Malgun Gothic"/>
              </a:rPr>
              <a:t>Application C</a:t>
            </a:r>
          </a:p>
        </p:txBody>
      </p:sp>
      <p:cxnSp>
        <p:nvCxnSpPr>
          <p:cNvPr id="19" name="Connector 18"/>
          <p:cNvCxnSpPr/>
          <p:nvPr/>
        </p:nvCxnSpPr>
        <p:spPr>
          <a:xfrm flipH="1" flipV="1">
            <a:off x="2560320" y="3355848"/>
            <a:ext cx="173736" cy="530352"/>
          </a:xfrm>
          <a:prstGeom prst="line">
            <a:avLst/>
          </a:prstGeom>
          <a:ln w="12700">
            <a:solidFill>
              <a:srgbClr val="1F2A3C"/>
            </a:solidFill>
            <a:tailEnd type="triangle" w="sm" len="sm"/>
          </a:ln>
        </p:spPr>
      </p:cxnSp>
      <p:sp>
        <p:nvSpPr>
          <p:cNvPr id="20" name="Rectangle 19"/>
          <p:cNvSpPr/>
          <p:nvPr/>
        </p:nvSpPr>
        <p:spPr>
          <a:xfrm>
            <a:off x="3209544" y="3886200"/>
            <a:ext cx="8229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9AA1AC"/>
            </a:solidFill>
            <a:prstDash val="dash"/>
          </a:ln>
        </p:spPr>
        <p:txBody>
          <a:bodyPr rtlCol="0" anchor="ctr" lIns="45720" rIns="45720" wrap="square"/>
          <a:lstStyle/>
          <a:p>
            <a:pPr algn="ctr"/>
            <a:r>
              <a:rPr sz="90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…</a:t>
            </a:r>
          </a:p>
        </p:txBody>
      </p:sp>
      <p:cxnSp>
        <p:nvCxnSpPr>
          <p:cNvPr id="21" name="Connector 20"/>
          <p:cNvCxnSpPr/>
          <p:nvPr/>
        </p:nvCxnSpPr>
        <p:spPr>
          <a:xfrm flipH="1" flipV="1">
            <a:off x="3017520" y="3355848"/>
            <a:ext cx="603504" cy="530352"/>
          </a:xfrm>
          <a:prstGeom prst="line">
            <a:avLst/>
          </a:prstGeom>
          <a:ln w="12700">
            <a:solidFill>
              <a:srgbClr val="9AA1AC"/>
            </a:solidFill>
            <a:prstDash val="dash"/>
            <a:tailEnd type="triangle" w="sm" len="sm"/>
          </a:ln>
        </p:spPr>
      </p:cxnSp>
      <p:sp>
        <p:nvSpPr>
          <p:cNvPr id="22" name="Rectangle 21"/>
          <p:cNvSpPr/>
          <p:nvPr/>
        </p:nvSpPr>
        <p:spPr>
          <a:xfrm>
            <a:off x="548640" y="4389120"/>
            <a:ext cx="3566160" cy="228600"/>
          </a:xfrm>
          <a:prstGeom prst="rect">
            <a:avLst/>
          </a:prstGeom>
          <a:noFill/>
          <a:ln>
            <a:noFill/>
          </a:ln>
        </p:spPr>
        <p:txBody>
          <a:bodyPr rtlCol="0" anchor="t" lIns="0" rIns="0" tIns="0" bIns="0" wrap="square"/>
          <a:lstStyle/>
          <a:p>
            <a:pPr algn="ctr"/>
            <a:r>
              <a:rPr sz="90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각 Resource는 기동 시 Registry Service에 등록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800600"/>
            <a:ext cx="3566160" cy="146304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txBody>
          <a:bodyPr rtlCol="0" anchor="ctr" lIns="36576" rIns="36576" tIns="36576" bIns="36576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4873752"/>
            <a:ext cx="3337560" cy="1371600"/>
          </a:xfrm>
          <a:prstGeom prst="rect">
            <a:avLst/>
          </a:prstGeom>
          <a:noFill/>
          <a:ln>
            <a:noFill/>
          </a:ln>
        </p:spPr>
        <p:txBody>
          <a:bodyPr rtlCol="0" anchor="t" lIns="0" rIns="0" tIns="0" bIns="0" wrap="square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1F2A3C"/>
                </a:solidFill>
                <a:latin typeface="Malgun Gothic"/>
                <a:ea typeface="Malgun Gothic"/>
                <a:cs typeface="Malgun Gothic"/>
              </a:rPr>
              <a:t>Resource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2A2F38"/>
                </a:solidFill>
                <a:latin typeface="Malgun Gothic"/>
                <a:ea typeface="Malgun Gothic"/>
                <a:cs typeface="Malgun Gothic"/>
              </a:rPr>
              <a:t>NGVA 통신에 참여하는 기능 단위. 본 시스템에서는 HMI Core 1개와 각 Application 프로세스가 각각 하나의 Resource.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F2A3C"/>
                </a:solidFill>
                <a:latin typeface="Malgun Gothic"/>
                <a:ea typeface="Malgun Gothic"/>
                <a:cs typeface="Malgun Gothic"/>
              </a:rPr>
              <a:t>ResourceID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2A2F38"/>
                </a:solidFill>
                <a:latin typeface="Malgun Gothic"/>
                <a:ea typeface="Malgun Gothic"/>
                <a:cs typeface="Malgun Gothic"/>
              </a:rPr>
              <a:t>Registry Service가 Resource마다 할당하는 식별자. NGVA 통신에서 HMI Core 또는 특정 Application을 구분하는 Descriptor 역할.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34840" y="1499616"/>
            <a:ext cx="45720" cy="182880"/>
          </a:xfrm>
          <a:prstGeom prst="rect">
            <a:avLst/>
          </a:prstGeom>
          <a:solidFill>
            <a:srgbClr val="1F2A3C"/>
          </a:solidFill>
          <a:ln>
            <a:noFill/>
          </a:ln>
        </p:spPr>
        <p:txBody>
          <a:bodyPr rtlCol="0" anchor="ctr" lIns="36576" rIns="36576" tIns="36576" bIns="36576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44568" y="1463040"/>
            <a:ext cx="3502152" cy="256032"/>
          </a:xfrm>
          <a:prstGeom prst="rect">
            <a:avLst/>
          </a:prstGeom>
          <a:noFill/>
          <a:ln>
            <a:noFill/>
          </a:ln>
        </p:spPr>
        <p:txBody>
          <a:bodyPr rtlCol="0" anchor="ctr" lIns="0" rIns="0" tIns="0" bIns="0" wrap="square"/>
          <a:lstStyle/>
          <a:p>
            <a:pPr algn="l"/>
            <a:r>
              <a:rPr sz="1200" b="1">
                <a:solidFill>
                  <a:srgbClr val="1F2A3C"/>
                </a:solidFill>
                <a:latin typeface="Malgun Gothic"/>
                <a:ea typeface="Malgun Gothic"/>
                <a:cs typeface="Malgun Gothic"/>
              </a:rPr>
              <a:t>등록 Sequence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70832" y="1874519"/>
            <a:ext cx="1133856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1F2A3C"/>
            </a:solidFill>
          </a:ln>
        </p:spPr>
        <p:txBody>
          <a:bodyPr rtlCol="0" anchor="ctr" lIns="45720" rIns="45720" wrap="square"/>
          <a:lstStyle/>
          <a:p>
            <a:pPr algn="ctr"/>
            <a:r>
              <a:rPr sz="950" b="0">
                <a:solidFill>
                  <a:srgbClr val="2A2F38"/>
                </a:solidFill>
                <a:latin typeface="Malgun Gothic"/>
                <a:ea typeface="Malgun Gothic"/>
                <a:cs typeface="Malgun Gothic"/>
              </a:rPr>
              <a:t>HMI Core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937760" y="2258568"/>
            <a:ext cx="0" cy="1810512"/>
          </a:xfrm>
          <a:prstGeom prst="line">
            <a:avLst/>
          </a:prstGeom>
          <a:ln w="9525">
            <a:solidFill>
              <a:srgbClr val="9AA1AC"/>
            </a:solidFill>
            <a:prstDash val="dash"/>
          </a:ln>
        </p:spPr>
      </p:cxnSp>
      <p:sp>
        <p:nvSpPr>
          <p:cNvPr id="29" name="Rectangle 28"/>
          <p:cNvSpPr/>
          <p:nvPr/>
        </p:nvSpPr>
        <p:spPr>
          <a:xfrm>
            <a:off x="5650992" y="1874519"/>
            <a:ext cx="1133856" cy="384048"/>
          </a:xfrm>
          <a:prstGeom prst="rect">
            <a:avLst/>
          </a:prstGeom>
          <a:solidFill>
            <a:srgbClr val="FBEEE6"/>
          </a:solidFill>
          <a:ln w="12700">
            <a:solidFill>
              <a:srgbClr val="C0561B"/>
            </a:solidFill>
          </a:ln>
        </p:spPr>
        <p:txBody>
          <a:bodyPr rtlCol="0" anchor="ctr" lIns="45720" rIns="45720" wrap="square"/>
          <a:lstStyle/>
          <a:p>
            <a:pPr algn="ctr"/>
            <a:r>
              <a:rPr sz="950" b="0">
                <a:solidFill>
                  <a:srgbClr val="C0561B"/>
                </a:solidFill>
                <a:latin typeface="Malgun Gothic"/>
                <a:ea typeface="Malgun Gothic"/>
                <a:cs typeface="Malgun Gothic"/>
              </a:rPr>
              <a:t>Registry Service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217920" y="2258568"/>
            <a:ext cx="0" cy="1810512"/>
          </a:xfrm>
          <a:prstGeom prst="line">
            <a:avLst/>
          </a:prstGeom>
          <a:ln w="9525">
            <a:solidFill>
              <a:srgbClr val="9AA1AC"/>
            </a:solidFill>
            <a:prstDash val="dash"/>
          </a:ln>
        </p:spPr>
      </p:cxnSp>
      <p:sp>
        <p:nvSpPr>
          <p:cNvPr id="31" name="Rectangle 30"/>
          <p:cNvSpPr/>
          <p:nvPr/>
        </p:nvSpPr>
        <p:spPr>
          <a:xfrm>
            <a:off x="6931151" y="1874519"/>
            <a:ext cx="1133856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1F2A3C"/>
            </a:solidFill>
          </a:ln>
        </p:spPr>
        <p:txBody>
          <a:bodyPr rtlCol="0" anchor="ctr" lIns="45720" rIns="45720" wrap="square"/>
          <a:lstStyle/>
          <a:p>
            <a:pPr algn="ctr"/>
            <a:r>
              <a:rPr sz="950" b="0">
                <a:solidFill>
                  <a:srgbClr val="2A2F38"/>
                </a:solidFill>
                <a:latin typeface="Malgun Gothic"/>
                <a:ea typeface="Malgun Gothic"/>
                <a:cs typeface="Malgun Gothic"/>
              </a:rPr>
              <a:t>HMI Application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498079" y="2258568"/>
            <a:ext cx="0" cy="1810512"/>
          </a:xfrm>
          <a:prstGeom prst="line">
            <a:avLst/>
          </a:prstGeom>
          <a:ln w="9525">
            <a:solidFill>
              <a:srgbClr val="9AA1AC"/>
            </a:solidFill>
            <a:prstDash val="dash"/>
          </a:ln>
        </p:spPr>
      </p:cxnSp>
      <p:cxnSp>
        <p:nvCxnSpPr>
          <p:cNvPr id="33" name="Connector 32"/>
          <p:cNvCxnSpPr/>
          <p:nvPr/>
        </p:nvCxnSpPr>
        <p:spPr>
          <a:xfrm>
            <a:off x="4937760" y="2651760"/>
            <a:ext cx="1280160" cy="0"/>
          </a:xfrm>
          <a:prstGeom prst="line">
            <a:avLst/>
          </a:prstGeom>
          <a:ln w="12700">
            <a:solidFill>
              <a:srgbClr val="1F2A3C"/>
            </a:solidFill>
            <a:tailEnd type="triangle" w="sm" len="sm"/>
          </a:ln>
        </p:spPr>
      </p:cxnSp>
      <p:sp>
        <p:nvSpPr>
          <p:cNvPr id="34" name="Rectangle 33"/>
          <p:cNvSpPr/>
          <p:nvPr/>
        </p:nvSpPr>
        <p:spPr>
          <a:xfrm>
            <a:off x="4937760" y="2432304"/>
            <a:ext cx="1280159" cy="201168"/>
          </a:xfrm>
          <a:prstGeom prst="rect">
            <a:avLst/>
          </a:prstGeom>
          <a:noFill/>
          <a:ln>
            <a:noFill/>
          </a:ln>
        </p:spPr>
        <p:txBody>
          <a:bodyPr rtlCol="0" anchor="b" lIns="0" rIns="0" tIns="0" bIns="0" wrap="square"/>
          <a:lstStyle/>
          <a:p>
            <a:pPr algn="ctr"/>
            <a:r>
              <a:rPr sz="900" b="0">
                <a:solidFill>
                  <a:srgbClr val="2A2F38"/>
                </a:solidFill>
                <a:latin typeface="Malgun Gothic"/>
                <a:ea typeface="Malgun Gothic"/>
                <a:cs typeface="Malgun Gothic"/>
              </a:rPr>
              <a:t>Resource Registration</a:t>
            </a:r>
          </a:p>
        </p:txBody>
      </p:sp>
      <p:cxnSp>
        <p:nvCxnSpPr>
          <p:cNvPr id="35" name="Connector 34"/>
          <p:cNvCxnSpPr/>
          <p:nvPr/>
        </p:nvCxnSpPr>
        <p:spPr>
          <a:xfrm flipH="1">
            <a:off x="4937760" y="2999232"/>
            <a:ext cx="1280160" cy="0"/>
          </a:xfrm>
          <a:prstGeom prst="line">
            <a:avLst/>
          </a:prstGeom>
          <a:ln w="12700">
            <a:solidFill>
              <a:srgbClr val="C0561B"/>
            </a:solidFill>
            <a:prstDash val="dash"/>
            <a:tailEnd type="triangle" w="sm" len="sm"/>
          </a:ln>
        </p:spPr>
      </p:cxnSp>
      <p:sp>
        <p:nvSpPr>
          <p:cNvPr id="36" name="Rectangle 35"/>
          <p:cNvSpPr/>
          <p:nvPr/>
        </p:nvSpPr>
        <p:spPr>
          <a:xfrm>
            <a:off x="4937760" y="2779776"/>
            <a:ext cx="1280159" cy="201168"/>
          </a:xfrm>
          <a:prstGeom prst="rect">
            <a:avLst/>
          </a:prstGeom>
          <a:noFill/>
          <a:ln>
            <a:noFill/>
          </a:ln>
        </p:spPr>
        <p:txBody>
          <a:bodyPr rtlCol="0" anchor="b" lIns="0" rIns="0" tIns="0" bIns="0" wrap="square"/>
          <a:lstStyle/>
          <a:p>
            <a:pPr algn="ctr"/>
            <a:r>
              <a:rPr sz="900" b="0">
                <a:solidFill>
                  <a:srgbClr val="C0561B"/>
                </a:solidFill>
                <a:latin typeface="Malgun Gothic"/>
                <a:ea typeface="Malgun Gothic"/>
                <a:cs typeface="Malgun Gothic"/>
              </a:rPr>
              <a:t>ResourceID 할당</a:t>
            </a:r>
          </a:p>
        </p:txBody>
      </p:sp>
      <p:cxnSp>
        <p:nvCxnSpPr>
          <p:cNvPr id="37" name="Connector 36"/>
          <p:cNvCxnSpPr/>
          <p:nvPr/>
        </p:nvCxnSpPr>
        <p:spPr>
          <a:xfrm flipH="1">
            <a:off x="6217920" y="3438144"/>
            <a:ext cx="1280159" cy="0"/>
          </a:xfrm>
          <a:prstGeom prst="line">
            <a:avLst/>
          </a:prstGeom>
          <a:ln w="12700">
            <a:solidFill>
              <a:srgbClr val="1F2A3C"/>
            </a:solidFill>
            <a:tailEnd type="triangle" w="sm" len="sm"/>
          </a:ln>
        </p:spPr>
      </p:cxnSp>
      <p:sp>
        <p:nvSpPr>
          <p:cNvPr id="38" name="Rectangle 37"/>
          <p:cNvSpPr/>
          <p:nvPr/>
        </p:nvSpPr>
        <p:spPr>
          <a:xfrm>
            <a:off x="6217920" y="3218687"/>
            <a:ext cx="1280159" cy="201168"/>
          </a:xfrm>
          <a:prstGeom prst="rect">
            <a:avLst/>
          </a:prstGeom>
          <a:noFill/>
          <a:ln>
            <a:noFill/>
          </a:ln>
        </p:spPr>
        <p:txBody>
          <a:bodyPr rtlCol="0" anchor="b" lIns="0" rIns="0" tIns="0" bIns="0" wrap="square"/>
          <a:lstStyle/>
          <a:p>
            <a:pPr algn="ctr"/>
            <a:r>
              <a:rPr sz="900" b="0">
                <a:solidFill>
                  <a:srgbClr val="2A2F38"/>
                </a:solidFill>
                <a:latin typeface="Malgun Gothic"/>
                <a:ea typeface="Malgun Gothic"/>
                <a:cs typeface="Malgun Gothic"/>
              </a:rPr>
              <a:t>Resource Registration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217920" y="3785615"/>
            <a:ext cx="1280159" cy="0"/>
          </a:xfrm>
          <a:prstGeom prst="line">
            <a:avLst/>
          </a:prstGeom>
          <a:ln w="12700">
            <a:solidFill>
              <a:srgbClr val="C0561B"/>
            </a:solidFill>
            <a:prstDash val="dash"/>
            <a:tailEnd type="triangle" w="sm" len="sm"/>
          </a:ln>
        </p:spPr>
      </p:cxnSp>
      <p:sp>
        <p:nvSpPr>
          <p:cNvPr id="40" name="Rectangle 39"/>
          <p:cNvSpPr/>
          <p:nvPr/>
        </p:nvSpPr>
        <p:spPr>
          <a:xfrm>
            <a:off x="6217920" y="3566159"/>
            <a:ext cx="1280159" cy="201168"/>
          </a:xfrm>
          <a:prstGeom prst="rect">
            <a:avLst/>
          </a:prstGeom>
          <a:noFill/>
          <a:ln>
            <a:noFill/>
          </a:ln>
        </p:spPr>
        <p:txBody>
          <a:bodyPr rtlCol="0" anchor="b" lIns="0" rIns="0" tIns="0" bIns="0" wrap="square"/>
          <a:lstStyle/>
          <a:p>
            <a:pPr algn="ctr"/>
            <a:r>
              <a:rPr sz="900" b="0">
                <a:solidFill>
                  <a:srgbClr val="C0561B"/>
                </a:solidFill>
                <a:latin typeface="Malgun Gothic"/>
                <a:ea typeface="Malgun Gothic"/>
                <a:cs typeface="Malgun Gothic"/>
              </a:rPr>
              <a:t>ResourceID 할당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434840" y="4160520"/>
            <a:ext cx="3611880" cy="411480"/>
          </a:xfrm>
          <a:prstGeom prst="rect">
            <a:avLst/>
          </a:prstGeom>
          <a:noFill/>
          <a:ln>
            <a:noFill/>
          </a:ln>
        </p:spPr>
        <p:txBody>
          <a:bodyPr rtlCol="0" anchor="t" lIns="0" rIns="0" tIns="0" bIns="0" wrap="square"/>
          <a:lstStyle/>
          <a:p>
            <a:pPr algn="ctr"/>
            <a:r>
              <a:rPr sz="950" b="0">
                <a:solidFill>
                  <a:srgbClr val="2A2F38"/>
                </a:solidFill>
                <a:latin typeface="Malgun Gothic"/>
                <a:ea typeface="Malgun Gothic"/>
                <a:cs typeface="Malgun Gothic"/>
              </a:rPr>
              <a:t>이후 NGVA Topic 송·수신에서 ResourceID로 HMI Core / 특정 Application을 식별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434840" y="4800600"/>
            <a:ext cx="3611880" cy="1463040"/>
          </a:xfrm>
          <a:prstGeom prst="rect">
            <a:avLst/>
          </a:prstGeom>
          <a:noFill/>
          <a:ln w="9525">
            <a:solidFill>
              <a:srgbClr val="C5CAD2"/>
            </a:solidFill>
          </a:ln>
        </p:spPr>
        <p:txBody>
          <a:bodyPr rtlCol="0" anchor="ctr" lIns="36576" rIns="36576" tIns="36576" bIns="36576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0" y="4873752"/>
            <a:ext cx="3383280" cy="1371600"/>
          </a:xfrm>
          <a:prstGeom prst="rect">
            <a:avLst/>
          </a:prstGeom>
          <a:noFill/>
          <a:ln>
            <a:noFill/>
          </a:ln>
        </p:spPr>
        <p:txBody>
          <a:bodyPr rtlCol="0" anchor="t" lIns="0" rIns="0" tIns="0" bIns="0" wrap="square"/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1F2A3C"/>
                </a:solidFill>
                <a:latin typeface="Malgun Gothic"/>
                <a:ea typeface="Malgun Gothic"/>
                <a:cs typeface="Malgun Gothic"/>
              </a:rPr>
              <a:t>참고 · NGVA Data Model v1.1  Vehicle_Configuration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2A2F38"/>
                </a:solidFill>
                <a:latin typeface="Consolas"/>
                <a:ea typeface="Consolas"/>
                <a:cs typeface="Consolas"/>
              </a:rPr>
              <a:t>Registry_Service</a:t>
            </a:r>
            <a:r>
              <a:rPr sz="90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  Resource-ResourceID 관계 관리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2A2F38"/>
                </a:solidFill>
                <a:latin typeface="Consolas"/>
                <a:ea typeface="Consolas"/>
                <a:cs typeface="Consolas"/>
              </a:rPr>
              <a:t>supplyResourceId</a:t>
            </a:r>
            <a:r>
              <a:rPr sz="90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  Resource에 ResourceID 제공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2A2F38"/>
                </a:solidFill>
                <a:latin typeface="Consolas"/>
                <a:ea typeface="Consolas"/>
                <a:cs typeface="Consolas"/>
              </a:rPr>
              <a:t>requestResourceId</a:t>
            </a:r>
            <a:r>
              <a:rPr sz="90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  UUID로 ResourceID 조회</a:t>
            </a:r>
          </a:p>
          <a:p>
            <a:pPr algn="l">
              <a:spcAft>
                <a:spcPts val="300"/>
              </a:spcAft>
            </a:pPr>
            <a:r>
              <a:rPr sz="850" b="0">
                <a:solidFill>
                  <a:srgbClr val="9AA1AC"/>
                </a:solidFill>
                <a:latin typeface="Malgun Gothic"/>
                <a:ea typeface="Malgun Gothic"/>
                <a:cs typeface="Malgun Gothic"/>
              </a:rPr>
              <a:t>※ 시퀀스는 개념도이며, 실제 메시지는 코드 기준으로 확인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366760" y="1499616"/>
            <a:ext cx="45720" cy="182880"/>
          </a:xfrm>
          <a:prstGeom prst="rect">
            <a:avLst/>
          </a:prstGeom>
          <a:solidFill>
            <a:srgbClr val="1F2A3C"/>
          </a:solidFill>
          <a:ln>
            <a:noFill/>
          </a:ln>
        </p:spPr>
        <p:txBody>
          <a:bodyPr rtlCol="0" anchor="ctr" lIns="36576" rIns="36576" tIns="36576" bIns="36576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476488" y="1463040"/>
            <a:ext cx="3163824" cy="256032"/>
          </a:xfrm>
          <a:prstGeom prst="rect">
            <a:avLst/>
          </a:prstGeom>
          <a:noFill/>
          <a:ln>
            <a:noFill/>
          </a:ln>
        </p:spPr>
        <p:txBody>
          <a:bodyPr rtlCol="0" anchor="ctr" lIns="0" rIns="0" tIns="0" bIns="0" wrap="square"/>
          <a:lstStyle/>
          <a:p>
            <a:pPr algn="l"/>
            <a:r>
              <a:rPr sz="1200" b="1">
                <a:solidFill>
                  <a:srgbClr val="1F2A3C"/>
                </a:solidFill>
                <a:latin typeface="Malgun Gothic"/>
                <a:ea typeface="Malgun Gothic"/>
                <a:cs typeface="Malgun Gothic"/>
              </a:rPr>
              <a:t>구현 코드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366760" y="1874519"/>
            <a:ext cx="3273552" cy="4023360"/>
          </a:xfrm>
          <a:prstGeom prst="rect">
            <a:avLst/>
          </a:prstGeom>
          <a:solidFill>
            <a:srgbClr val="F5F6F8"/>
          </a:solidFill>
          <a:ln w="12700">
            <a:solidFill>
              <a:srgbClr val="9AA1AC"/>
            </a:solidFill>
            <a:prstDash val="dash"/>
          </a:ln>
        </p:spPr>
        <p:txBody>
          <a:bodyPr rtlCol="0" anchor="ctr" lIns="36576" rIns="36576" tIns="36576" bIns="36576" wrap="square"/>
          <a:lstStyle/>
          <a:p>
            <a:pPr algn="ctr"/>
            <a:r>
              <a:rPr sz="130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[실제 Registry 관련 코드 삽입 영역]</a:t>
            </a:r>
          </a:p>
          <a:p>
            <a:pPr algn="ctr"/>
            <a:r>
              <a:rPr sz="950" b="0">
                <a:solidFill>
                  <a:srgbClr val="9AA1AC"/>
                </a:solidFill>
                <a:latin typeface="Malgun Gothic"/>
                <a:ea typeface="Malgun Gothic"/>
                <a:cs typeface="Malgun Gothic"/>
              </a:rPr>
              <a:t>C#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366760" y="5961888"/>
            <a:ext cx="3273552" cy="274320"/>
          </a:xfrm>
          <a:prstGeom prst="rect">
            <a:avLst/>
          </a:prstGeom>
          <a:noFill/>
          <a:ln>
            <a:noFill/>
          </a:ln>
        </p:spPr>
        <p:txBody>
          <a:bodyPr rtlCol="0" anchor="t" lIns="0" rIns="0" tIns="0" bIns="0" wrap="square"/>
          <a:lstStyle/>
          <a:p>
            <a:pPr algn="ctr"/>
            <a:r>
              <a:rPr sz="100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Resource 등록 및 ResourceID 획득 코드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859536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lIns="0" rIns="0" tIns="0" bIns="0" wrap="square"/>
          <a:lstStyle/>
          <a:p>
            <a:pPr algn="l"/>
            <a:r>
              <a:rPr sz="2400" b="1">
                <a:solidFill>
                  <a:srgbClr val="1F2A3C"/>
                </a:solidFill>
                <a:latin typeface="Malgun Gothic"/>
                <a:ea typeface="Malgun Gothic"/>
                <a:cs typeface="Malgun Gothic"/>
              </a:rPr>
              <a:t>HMI Core – Application 구조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64240" cy="384048"/>
          </a:xfrm>
          <a:prstGeom prst="rect">
            <a:avLst/>
          </a:prstGeom>
          <a:noFill/>
          <a:ln>
            <a:noFill/>
          </a:ln>
        </p:spPr>
        <p:txBody>
          <a:bodyPr rtlCol="0" anchor="t" lIns="0" rIns="0" tIns="0" bIns="0" wrap="square"/>
          <a:lstStyle/>
          <a:p>
            <a:pPr algn="l"/>
            <a:r>
              <a:rPr sz="120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HMI Core 1개가 공통 UI를 관리, 독립 프로세스로 실행되는 HMI Application 8개(기능 영역과 1 : 1)가 NGVA Topic으로 정보를 주고받음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43584"/>
            <a:ext cx="11091672" cy="0"/>
          </a:xfrm>
          <a:prstGeom prst="line">
            <a:avLst/>
          </a:prstGeom>
          <a:ln w="9525">
            <a:solidFill>
              <a:srgbClr val="C5CAD2"/>
            </a:solidFill>
          </a:ln>
        </p:spPr>
      </p:cxnSp>
      <p:sp>
        <p:nvSpPr>
          <p:cNvPr id="5" name="Rectangle 4"/>
          <p:cNvSpPr/>
          <p:nvPr/>
        </p:nvSpPr>
        <p:spPr>
          <a:xfrm>
            <a:off x="8988552" y="411480"/>
            <a:ext cx="2651760" cy="292608"/>
          </a:xfrm>
          <a:prstGeom prst="rect">
            <a:avLst/>
          </a:prstGeom>
          <a:noFill/>
          <a:ln w="12700">
            <a:solidFill>
              <a:srgbClr val="C0561B"/>
            </a:solidFill>
          </a:ln>
        </p:spPr>
        <p:txBody>
          <a:bodyPr rtlCol="0" anchor="ctr" lIns="36576" rIns="36576" tIns="36576" bIns="36576" wrap="square"/>
          <a:lstStyle/>
          <a:p>
            <a:pPr algn="ctr"/>
            <a:r>
              <a:rPr sz="95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사용 NGVA 모듈  </a:t>
            </a:r>
            <a:r>
              <a:rPr sz="1050" b="0">
                <a:solidFill>
                  <a:srgbClr val="C0561B"/>
                </a:solidFill>
                <a:latin typeface="Malgun Gothic"/>
                <a:ea typeface="Malgun Gothic"/>
                <a:cs typeface="Malgun Gothic"/>
              </a:rPr>
              <a:t>HMI Presentation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73952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rtlCol="0" anchor="ctr" lIns="0" rIns="0" tIns="0" bIns="0" wrap="square"/>
          <a:lstStyle/>
          <a:p>
            <a:pPr algn="l"/>
            <a:r>
              <a:rPr sz="900" b="0">
                <a:solidFill>
                  <a:srgbClr val="9AA1AC"/>
                </a:solidFill>
                <a:latin typeface="Malgun Gothic"/>
                <a:ea typeface="Malgun Gothic"/>
                <a:cs typeface="Malgun Gothic"/>
              </a:rPr>
              <a:t>GVA HMI 기술설명  ·  NGVA 기반 HMI 구조</a:t>
            </a:r>
          </a:p>
        </p:txBody>
      </p:sp>
      <p:sp>
        <p:nvSpPr>
          <p:cNvPr id="7" name="Rectangle 6"/>
          <p:cNvSpPr/>
          <p:nvPr/>
        </p:nvSpPr>
        <p:spPr>
          <a:xfrm>
            <a:off x="10725912" y="647395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rtlCol="0" anchor="ctr" lIns="0" rIns="0" tIns="0" bIns="0" wrap="square"/>
          <a:lstStyle/>
          <a:p>
            <a:pPr algn="r"/>
            <a:r>
              <a:rPr sz="900" b="0">
                <a:solidFill>
                  <a:srgbClr val="9AA1AC"/>
                </a:solidFill>
                <a:latin typeface="Malgun Gothic"/>
                <a:ea typeface="Malgun Gothic"/>
                <a:cs typeface="Malgun Gothic"/>
              </a:rPr>
              <a:t>5 /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1554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A3C"/>
            </a:solidFill>
          </a:ln>
        </p:spPr>
        <p:txBody>
          <a:bodyPr rtlCol="0" anchor="ctr" lIns="45720" rIns="45720" wrap="square"/>
          <a:lstStyle/>
          <a:p>
            <a:pPr algn="ctr"/>
            <a:r>
              <a:rPr sz="1050" b="0">
                <a:solidFill>
                  <a:srgbClr val="2A2F38"/>
                </a:solidFill>
                <a:latin typeface="Malgun Gothic"/>
                <a:ea typeface="Malgun Gothic"/>
                <a:cs typeface="Malgun Gothic"/>
              </a:rPr>
              <a:t>HMI Application 1</a:t>
            </a:r>
          </a:p>
          <a:p>
            <a:pPr algn="ctr"/>
            <a:r>
              <a:rPr sz="85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독립 프로세스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440680"/>
            <a:ext cx="1554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A3C"/>
            </a:solidFill>
          </a:ln>
        </p:spPr>
        <p:txBody>
          <a:bodyPr rtlCol="0" anchor="ctr" lIns="45720" rIns="45720" wrap="square"/>
          <a:lstStyle/>
          <a:p>
            <a:pPr algn="ctr"/>
            <a:r>
              <a:rPr sz="1050" b="0">
                <a:solidFill>
                  <a:srgbClr val="2A2F38"/>
                </a:solidFill>
                <a:latin typeface="Malgun Gothic"/>
                <a:ea typeface="Malgun Gothic"/>
                <a:cs typeface="Malgun Gothic"/>
              </a:rPr>
              <a:t>HMI Application 5</a:t>
            </a:r>
          </a:p>
          <a:p>
            <a:pPr algn="ctr"/>
            <a:r>
              <a:rPr sz="85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독립 프로세스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325880" y="2011680"/>
            <a:ext cx="0" cy="548640"/>
          </a:xfrm>
          <a:prstGeom prst="line">
            <a:avLst/>
          </a:prstGeom>
          <a:ln w="12700">
            <a:solidFill>
              <a:srgbClr val="1F2A3C"/>
            </a:solidFill>
            <a:headEnd type="triangle" w="sm" len="sm"/>
            <a:tailEnd type="triangle" w="sm" len="sm"/>
          </a:ln>
        </p:spPr>
      </p:cxnSp>
      <p:cxnSp>
        <p:nvCxnSpPr>
          <p:cNvPr id="11" name="Connector 10"/>
          <p:cNvCxnSpPr/>
          <p:nvPr/>
        </p:nvCxnSpPr>
        <p:spPr>
          <a:xfrm flipV="1">
            <a:off x="1325880" y="4892040"/>
            <a:ext cx="0" cy="548640"/>
          </a:xfrm>
          <a:prstGeom prst="line">
            <a:avLst/>
          </a:prstGeom>
          <a:ln w="12700">
            <a:solidFill>
              <a:srgbClr val="1F2A3C"/>
            </a:solidFill>
            <a:headEnd type="triangle" w="sm" len="sm"/>
            <a:tailEnd type="triangle" w="sm" len="sm"/>
          </a:ln>
        </p:spPr>
      </p:cxnSp>
      <p:sp>
        <p:nvSpPr>
          <p:cNvPr id="12" name="Rectangle 11"/>
          <p:cNvSpPr/>
          <p:nvPr/>
        </p:nvSpPr>
        <p:spPr>
          <a:xfrm>
            <a:off x="2313432" y="1463040"/>
            <a:ext cx="1554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A3C"/>
            </a:solidFill>
          </a:ln>
        </p:spPr>
        <p:txBody>
          <a:bodyPr rtlCol="0" anchor="ctr" lIns="45720" rIns="45720" wrap="square"/>
          <a:lstStyle/>
          <a:p>
            <a:pPr algn="ctr"/>
            <a:r>
              <a:rPr sz="1050" b="0">
                <a:solidFill>
                  <a:srgbClr val="2A2F38"/>
                </a:solidFill>
                <a:latin typeface="Malgun Gothic"/>
                <a:ea typeface="Malgun Gothic"/>
                <a:cs typeface="Malgun Gothic"/>
              </a:rPr>
              <a:t>HMI Application 2</a:t>
            </a:r>
          </a:p>
          <a:p>
            <a:pPr algn="ctr"/>
            <a:r>
              <a:rPr sz="85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독립 프로세스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13432" y="5440680"/>
            <a:ext cx="1554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A3C"/>
            </a:solidFill>
          </a:ln>
        </p:spPr>
        <p:txBody>
          <a:bodyPr rtlCol="0" anchor="ctr" lIns="45720" rIns="45720" wrap="square"/>
          <a:lstStyle/>
          <a:p>
            <a:pPr algn="ctr"/>
            <a:r>
              <a:rPr sz="1050" b="0">
                <a:solidFill>
                  <a:srgbClr val="2A2F38"/>
                </a:solidFill>
                <a:latin typeface="Malgun Gothic"/>
                <a:ea typeface="Malgun Gothic"/>
                <a:cs typeface="Malgun Gothic"/>
              </a:rPr>
              <a:t>HMI Application 6</a:t>
            </a:r>
          </a:p>
          <a:p>
            <a:pPr algn="ctr"/>
            <a:r>
              <a:rPr sz="85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독립 프로세스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090672" y="2011680"/>
            <a:ext cx="0" cy="548640"/>
          </a:xfrm>
          <a:prstGeom prst="line">
            <a:avLst/>
          </a:prstGeom>
          <a:ln w="12700">
            <a:solidFill>
              <a:srgbClr val="1F2A3C"/>
            </a:solidFill>
            <a:headEnd type="triangle" w="sm" len="sm"/>
            <a:tailEnd type="triangle" w="sm" len="sm"/>
          </a:ln>
        </p:spPr>
      </p:cxnSp>
      <p:cxnSp>
        <p:nvCxnSpPr>
          <p:cNvPr id="15" name="Connector 14"/>
          <p:cNvCxnSpPr/>
          <p:nvPr/>
        </p:nvCxnSpPr>
        <p:spPr>
          <a:xfrm flipV="1">
            <a:off x="3090672" y="4892040"/>
            <a:ext cx="0" cy="548640"/>
          </a:xfrm>
          <a:prstGeom prst="line">
            <a:avLst/>
          </a:prstGeom>
          <a:ln w="12700">
            <a:solidFill>
              <a:srgbClr val="1F2A3C"/>
            </a:solidFill>
            <a:headEnd type="triangle" w="sm" len="sm"/>
            <a:tailEnd type="triangle" w="sm" len="sm"/>
          </a:ln>
        </p:spPr>
      </p:cxnSp>
      <p:sp>
        <p:nvSpPr>
          <p:cNvPr id="16" name="Rectangle 15"/>
          <p:cNvSpPr/>
          <p:nvPr/>
        </p:nvSpPr>
        <p:spPr>
          <a:xfrm>
            <a:off x="4078224" y="1463040"/>
            <a:ext cx="1554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A3C"/>
            </a:solidFill>
          </a:ln>
        </p:spPr>
        <p:txBody>
          <a:bodyPr rtlCol="0" anchor="ctr" lIns="45720" rIns="45720" wrap="square"/>
          <a:lstStyle/>
          <a:p>
            <a:pPr algn="ctr"/>
            <a:r>
              <a:rPr sz="1050" b="0">
                <a:solidFill>
                  <a:srgbClr val="2A2F38"/>
                </a:solidFill>
                <a:latin typeface="Malgun Gothic"/>
                <a:ea typeface="Malgun Gothic"/>
                <a:cs typeface="Malgun Gothic"/>
              </a:rPr>
              <a:t>HMI Application 3</a:t>
            </a:r>
          </a:p>
          <a:p>
            <a:pPr algn="ctr"/>
            <a:r>
              <a:rPr sz="85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독립 프로세스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78224" y="5440680"/>
            <a:ext cx="1554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A3C"/>
            </a:solidFill>
          </a:ln>
        </p:spPr>
        <p:txBody>
          <a:bodyPr rtlCol="0" anchor="ctr" lIns="45720" rIns="45720" wrap="square"/>
          <a:lstStyle/>
          <a:p>
            <a:pPr algn="ctr"/>
            <a:r>
              <a:rPr sz="1050" b="0">
                <a:solidFill>
                  <a:srgbClr val="2A2F38"/>
                </a:solidFill>
                <a:latin typeface="Malgun Gothic"/>
                <a:ea typeface="Malgun Gothic"/>
                <a:cs typeface="Malgun Gothic"/>
              </a:rPr>
              <a:t>HMI Application 7</a:t>
            </a:r>
          </a:p>
          <a:p>
            <a:pPr algn="ctr"/>
            <a:r>
              <a:rPr sz="85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독립 프로세스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55464" y="2011680"/>
            <a:ext cx="0" cy="548640"/>
          </a:xfrm>
          <a:prstGeom prst="line">
            <a:avLst/>
          </a:prstGeom>
          <a:ln w="12700">
            <a:solidFill>
              <a:srgbClr val="1F2A3C"/>
            </a:solidFill>
            <a:headEnd type="triangle" w="sm" len="sm"/>
            <a:tailEnd type="triangle" w="sm" len="sm"/>
          </a:ln>
        </p:spPr>
      </p:cxnSp>
      <p:cxnSp>
        <p:nvCxnSpPr>
          <p:cNvPr id="19" name="Connector 18"/>
          <p:cNvCxnSpPr/>
          <p:nvPr/>
        </p:nvCxnSpPr>
        <p:spPr>
          <a:xfrm flipV="1">
            <a:off x="4855464" y="4892040"/>
            <a:ext cx="0" cy="548640"/>
          </a:xfrm>
          <a:prstGeom prst="line">
            <a:avLst/>
          </a:prstGeom>
          <a:ln w="12700">
            <a:solidFill>
              <a:srgbClr val="1F2A3C"/>
            </a:solidFill>
            <a:headEnd type="triangle" w="sm" len="sm"/>
            <a:tailEnd type="triangle" w="sm" len="sm"/>
          </a:ln>
        </p:spPr>
      </p:cxnSp>
      <p:sp>
        <p:nvSpPr>
          <p:cNvPr id="20" name="Rectangle 19"/>
          <p:cNvSpPr/>
          <p:nvPr/>
        </p:nvSpPr>
        <p:spPr>
          <a:xfrm>
            <a:off x="5843016" y="1463040"/>
            <a:ext cx="1554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9AA1AC"/>
            </a:solidFill>
            <a:prstDash val="dash"/>
          </a:ln>
        </p:spPr>
        <p:txBody>
          <a:bodyPr rtlCol="0" anchor="ctr" lIns="45720" rIns="45720" wrap="square"/>
          <a:lstStyle/>
          <a:p>
            <a:pPr algn="ctr"/>
            <a:r>
              <a:rPr sz="105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HMI Application 4</a:t>
            </a:r>
          </a:p>
          <a:p>
            <a:pPr algn="ctr"/>
            <a:r>
              <a:rPr sz="850" b="0">
                <a:solidFill>
                  <a:srgbClr val="9AA1AC"/>
                </a:solidFill>
                <a:latin typeface="Malgun Gothic"/>
                <a:ea typeface="Malgun Gothic"/>
                <a:cs typeface="Malgun Gothic"/>
              </a:rPr>
              <a:t>독립 프로세스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43016" y="5440680"/>
            <a:ext cx="1554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9AA1AC"/>
            </a:solidFill>
            <a:prstDash val="dash"/>
          </a:ln>
        </p:spPr>
        <p:txBody>
          <a:bodyPr rtlCol="0" anchor="ctr" lIns="45720" rIns="45720" wrap="square"/>
          <a:lstStyle/>
          <a:p>
            <a:pPr algn="ctr"/>
            <a:r>
              <a:rPr sz="105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HMI Application 8</a:t>
            </a:r>
          </a:p>
          <a:p>
            <a:pPr algn="ctr"/>
            <a:r>
              <a:rPr sz="850" b="0">
                <a:solidFill>
                  <a:srgbClr val="9AA1AC"/>
                </a:solidFill>
                <a:latin typeface="Malgun Gothic"/>
                <a:ea typeface="Malgun Gothic"/>
                <a:cs typeface="Malgun Gothic"/>
              </a:rPr>
              <a:t>독립 프로세스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620255" y="2011680"/>
            <a:ext cx="0" cy="548640"/>
          </a:xfrm>
          <a:prstGeom prst="line">
            <a:avLst/>
          </a:prstGeom>
          <a:ln w="12700">
            <a:solidFill>
              <a:srgbClr val="9AA1AC"/>
            </a:solidFill>
            <a:prstDash val="dash"/>
            <a:headEnd type="triangle" w="sm" len="sm"/>
            <a:tailEnd type="triangle" w="sm" len="sm"/>
          </a:ln>
        </p:spPr>
      </p:cxnSp>
      <p:cxnSp>
        <p:nvCxnSpPr>
          <p:cNvPr id="23" name="Connector 22"/>
          <p:cNvCxnSpPr/>
          <p:nvPr/>
        </p:nvCxnSpPr>
        <p:spPr>
          <a:xfrm flipV="1">
            <a:off x="6620255" y="4892040"/>
            <a:ext cx="0" cy="548640"/>
          </a:xfrm>
          <a:prstGeom prst="line">
            <a:avLst/>
          </a:prstGeom>
          <a:ln w="12700">
            <a:solidFill>
              <a:srgbClr val="9AA1AC"/>
            </a:solidFill>
            <a:prstDash val="dash"/>
            <a:headEnd type="triangle" w="sm" len="sm"/>
            <a:tailEnd type="triangle" w="sm" len="sm"/>
          </a:ln>
        </p:spPr>
      </p:cxnSp>
      <p:sp>
        <p:nvSpPr>
          <p:cNvPr id="24" name="Rectangle 23"/>
          <p:cNvSpPr/>
          <p:nvPr/>
        </p:nvSpPr>
        <p:spPr>
          <a:xfrm>
            <a:off x="3182112" y="2157984"/>
            <a:ext cx="1581912" cy="256032"/>
          </a:xfrm>
          <a:prstGeom prst="rect">
            <a:avLst/>
          </a:prstGeom>
          <a:noFill/>
          <a:ln>
            <a:noFill/>
          </a:ln>
        </p:spPr>
        <p:txBody>
          <a:bodyPr rtlCol="0" anchor="ctr" lIns="0" rIns="0" tIns="0" bIns="0" wrap="square"/>
          <a:lstStyle/>
          <a:p>
            <a:pPr algn="ctr"/>
            <a:r>
              <a:rPr sz="90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NGVA Topic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82112" y="5029200"/>
            <a:ext cx="1581912" cy="256032"/>
          </a:xfrm>
          <a:prstGeom prst="rect">
            <a:avLst/>
          </a:prstGeom>
          <a:noFill/>
          <a:ln>
            <a:noFill/>
          </a:ln>
        </p:spPr>
        <p:txBody>
          <a:bodyPr rtlCol="0" anchor="ctr" lIns="0" rIns="0" tIns="0" bIns="0" wrap="square"/>
          <a:lstStyle/>
          <a:p>
            <a:pPr algn="ctr"/>
            <a:r>
              <a:rPr sz="90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NGVA Topic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0120" y="2560320"/>
            <a:ext cx="6245352" cy="233172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A3C"/>
            </a:solidFill>
          </a:ln>
        </p:spPr>
        <p:txBody>
          <a:bodyPr rtlCol="0" anchor="ctr" lIns="36576" rIns="36576" tIns="36576" bIns="36576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88720" y="2670048"/>
            <a:ext cx="3657600" cy="329184"/>
          </a:xfrm>
          <a:prstGeom prst="rect">
            <a:avLst/>
          </a:prstGeom>
          <a:noFill/>
          <a:ln>
            <a:noFill/>
          </a:ln>
        </p:spPr>
        <p:txBody>
          <a:bodyPr rtlCol="0" anchor="ctr" lIns="0" rIns="0" tIns="0" bIns="0" wrap="square"/>
          <a:lstStyle/>
          <a:p>
            <a:pPr algn="l"/>
            <a:r>
              <a:rPr sz="1600" b="1">
                <a:solidFill>
                  <a:srgbClr val="1F2A3C"/>
                </a:solidFill>
                <a:latin typeface="Malgun Gothic"/>
                <a:ea typeface="Malgun Gothic"/>
                <a:cs typeface="Malgun Gothic"/>
              </a:rPr>
              <a:t>HMI Core</a:t>
            </a:r>
            <a:r>
              <a:rPr sz="100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   공통 UI · Application 관리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88720" y="3063239"/>
            <a:ext cx="5852160" cy="1463040"/>
          </a:xfrm>
          <a:prstGeom prst="rect">
            <a:avLst/>
          </a:prstGeom>
          <a:noFill/>
          <a:ln>
            <a:noFill/>
          </a:ln>
        </p:spPr>
        <p:txBody>
          <a:bodyPr rtlCol="0" anchor="t" lIns="0" rIns="0" tIns="0" bIns="0" wrap="square"/>
          <a:lstStyle/>
          <a:p>
            <a:pPr algn="l">
              <a:spcAft>
                <a:spcPts val="150"/>
              </a:spcAft>
            </a:pPr>
            <a:r>
              <a:rPr sz="1050" b="0">
                <a:solidFill>
                  <a:srgbClr val="1F2A3C"/>
                </a:solidFill>
                <a:latin typeface="Malgun Gothic"/>
                <a:ea typeface="Malgun Gothic"/>
                <a:cs typeface="Malgun Gothic"/>
              </a:rPr>
              <a:t>·  </a:t>
            </a:r>
            <a:r>
              <a:rPr sz="1050" b="0">
                <a:solidFill>
                  <a:srgbClr val="2A2F38"/>
                </a:solidFill>
                <a:latin typeface="Malgun Gothic"/>
                <a:ea typeface="Malgun Gothic"/>
                <a:cs typeface="Malgun Gothic"/>
              </a:rPr>
              <a:t>로그인 계정에 따라 필요한 Application 선택 실행 (실행 인자: CrewRole)</a:t>
            </a:r>
          </a:p>
          <a:p>
            <a:pPr algn="l">
              <a:spcAft>
                <a:spcPts val="150"/>
              </a:spcAft>
            </a:pPr>
            <a:r>
              <a:rPr sz="1050" b="0">
                <a:solidFill>
                  <a:srgbClr val="1F2A3C"/>
                </a:solidFill>
                <a:latin typeface="Malgun Gothic"/>
                <a:ea typeface="Malgun Gothic"/>
                <a:cs typeface="Malgun Gothic"/>
              </a:rPr>
              <a:t>·  </a:t>
            </a:r>
            <a:r>
              <a:rPr sz="1050" b="0">
                <a:solidFill>
                  <a:srgbClr val="2A2F38"/>
                </a:solidFill>
                <a:latin typeface="Malgun Gothic"/>
                <a:ea typeface="Malgun Gothic"/>
                <a:cs typeface="Malgun Gothic"/>
              </a:rPr>
              <a:t>Application 실행 및 Show / Hide 관리</a:t>
            </a:r>
          </a:p>
          <a:p>
            <a:pPr algn="l">
              <a:spcAft>
                <a:spcPts val="150"/>
              </a:spcAft>
            </a:pPr>
            <a:r>
              <a:rPr sz="1050" b="0">
                <a:solidFill>
                  <a:srgbClr val="1F2A3C"/>
                </a:solidFill>
                <a:latin typeface="Malgun Gothic"/>
                <a:ea typeface="Malgun Gothic"/>
                <a:cs typeface="Malgun Gothic"/>
              </a:rPr>
              <a:t>·  </a:t>
            </a:r>
            <a:r>
              <a:rPr sz="1050" b="0">
                <a:solidFill>
                  <a:srgbClr val="2A2F38"/>
                </a:solidFill>
                <a:latin typeface="Malgun Gothic"/>
                <a:ea typeface="Malgun Gothic"/>
                <a:cs typeface="Malgun Gothic"/>
              </a:rPr>
              <a:t>메뉴 트리 기반 페이지 전환 관리</a:t>
            </a:r>
          </a:p>
          <a:p>
            <a:pPr algn="l">
              <a:spcAft>
                <a:spcPts val="150"/>
              </a:spcAft>
            </a:pPr>
            <a:r>
              <a:rPr sz="1050" b="0">
                <a:solidFill>
                  <a:srgbClr val="1F2A3C"/>
                </a:solidFill>
                <a:latin typeface="Malgun Gothic"/>
                <a:ea typeface="Malgun Gothic"/>
                <a:cs typeface="Malgun Gothic"/>
              </a:rPr>
              <a:t>·  </a:t>
            </a:r>
            <a:r>
              <a:rPr sz="1050" b="0">
                <a:solidFill>
                  <a:srgbClr val="2A2F38"/>
                </a:solidFill>
                <a:latin typeface="Malgun Gothic"/>
                <a:ea typeface="Malgun Gothic"/>
                <a:cs typeface="Malgun Gothic"/>
              </a:rPr>
              <a:t>좌/우측 SoftButton 관리</a:t>
            </a:r>
          </a:p>
          <a:p>
            <a:pPr algn="l">
              <a:spcAft>
                <a:spcPts val="150"/>
              </a:spcAft>
            </a:pPr>
            <a:r>
              <a:rPr sz="1050" b="0">
                <a:solidFill>
                  <a:srgbClr val="1F2A3C"/>
                </a:solidFill>
                <a:latin typeface="Malgun Gothic"/>
                <a:ea typeface="Malgun Gothic"/>
                <a:cs typeface="Malgun Gothic"/>
              </a:rPr>
              <a:t>·  </a:t>
            </a:r>
            <a:r>
              <a:rPr sz="1050" b="0">
                <a:solidFill>
                  <a:srgbClr val="2A2F38"/>
                </a:solidFill>
                <a:latin typeface="Malgun Gothic"/>
                <a:ea typeface="Malgun Gothic"/>
                <a:cs typeface="Malgun Gothic"/>
              </a:rPr>
              <a:t>Application이 전달한 Menu / SoftButton 정보를 동적으로 저장</a:t>
            </a:r>
          </a:p>
          <a:p>
            <a:pPr algn="l">
              <a:spcAft>
                <a:spcPts val="150"/>
              </a:spcAft>
            </a:pPr>
            <a:r>
              <a:rPr sz="1050" b="0">
                <a:solidFill>
                  <a:srgbClr val="1F2A3C"/>
                </a:solidFill>
                <a:latin typeface="Malgun Gothic"/>
                <a:ea typeface="Malgun Gothic"/>
                <a:cs typeface="Malgun Gothic"/>
              </a:rPr>
              <a:t>·  </a:t>
            </a:r>
            <a:r>
              <a:rPr sz="1050" b="0">
                <a:solidFill>
                  <a:srgbClr val="2A2F38"/>
                </a:solidFill>
                <a:latin typeface="Malgun Gothic"/>
                <a:ea typeface="Malgun Gothic"/>
                <a:cs typeface="Malgun Gothic"/>
              </a:rPr>
              <a:t>현재 활성화된 Menu와 SoftButton 구성 관리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188720" y="4507992"/>
            <a:ext cx="5788152" cy="0"/>
          </a:xfrm>
          <a:prstGeom prst="line">
            <a:avLst/>
          </a:prstGeom>
          <a:ln w="6350">
            <a:solidFill>
              <a:srgbClr val="C5CAD2"/>
            </a:solidFill>
          </a:ln>
        </p:spPr>
      </p:cxnSp>
      <p:sp>
        <p:nvSpPr>
          <p:cNvPr id="30" name="Rectangle 29"/>
          <p:cNvSpPr/>
          <p:nvPr/>
        </p:nvSpPr>
        <p:spPr>
          <a:xfrm>
            <a:off x="1188720" y="4544568"/>
            <a:ext cx="5852160" cy="292608"/>
          </a:xfrm>
          <a:prstGeom prst="rect">
            <a:avLst/>
          </a:prstGeom>
          <a:noFill/>
          <a:ln>
            <a:noFill/>
          </a:ln>
        </p:spPr>
        <p:txBody>
          <a:bodyPr rtlCol="0" anchor="ctr" lIns="0" rIns="0" tIns="0" bIns="0" wrap="square"/>
          <a:lstStyle/>
          <a:p>
            <a:pPr algn="l"/>
            <a:r>
              <a:rPr sz="900" b="0">
                <a:solidFill>
                  <a:srgbClr val="1F2A3C"/>
                </a:solidFill>
                <a:latin typeface="Malgun Gothic"/>
                <a:ea typeface="Malgun Gothic"/>
                <a:cs typeface="Malgun Gothic"/>
              </a:rPr>
              <a:t>Application → Core</a:t>
            </a:r>
            <a:r>
              <a:rPr sz="90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  Menu / SoftButton 정보        </a:t>
            </a:r>
            <a:r>
              <a:rPr sz="900" b="0">
                <a:solidFill>
                  <a:srgbClr val="1F2A3C"/>
                </a:solidFill>
                <a:latin typeface="Malgun Gothic"/>
                <a:ea typeface="Malgun Gothic"/>
                <a:cs typeface="Malgun Gothic"/>
              </a:rPr>
              <a:t>Core → Application</a:t>
            </a:r>
            <a:r>
              <a:rPr sz="90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  사용자 입력 · 활성 Menu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998464"/>
            <a:ext cx="6675120" cy="438912"/>
          </a:xfrm>
          <a:prstGeom prst="rect">
            <a:avLst/>
          </a:prstGeom>
          <a:noFill/>
          <a:ln>
            <a:noFill/>
          </a:ln>
        </p:spPr>
        <p:txBody>
          <a:bodyPr rtlCol="0" anchor="t" lIns="0" rIns="0" tIns="0" bIns="0" wrap="square"/>
          <a:lstStyle/>
          <a:p>
            <a:pPr algn="l"/>
            <a:r>
              <a:rPr sz="850" b="0">
                <a:solidFill>
                  <a:srgbClr val="1F2A3C"/>
                </a:solidFill>
                <a:latin typeface="Malgun Gothic"/>
                <a:ea typeface="Malgun Gothic"/>
                <a:cs typeface="Malgun Gothic"/>
              </a:rPr>
              <a:t>Menu = Page</a:t>
            </a:r>
            <a:r>
              <a:rPr sz="85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  메뉴가 곧 페이지이며, NGVA HMI_Presentation 의 C_Menu Topic 을 사용하므로 'Menu' 로 표기</a:t>
            </a:r>
          </a:p>
          <a:p>
            <a:pPr algn="l"/>
            <a:r>
              <a:rPr sz="850" b="0">
                <a:solidFill>
                  <a:srgbClr val="1F2A3C"/>
                </a:solidFill>
                <a:latin typeface="Malgun Gothic"/>
                <a:ea typeface="Malgun Gothic"/>
                <a:cs typeface="Malgun Gothic"/>
              </a:rPr>
              <a:t>NGVA Topic</a:t>
            </a:r>
            <a:r>
              <a:rPr sz="85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  DDS에서 이름으로 구분되는 데이터 채널 · 실제 송·수신은 Topic Manager가 담당 (p.2 · p.3 참고)</a:t>
            </a:r>
          </a:p>
          <a:p>
            <a:pPr algn="l"/>
            <a:r>
              <a:rPr sz="850" b="0">
                <a:solidFill>
                  <a:srgbClr val="9AA1AC"/>
                </a:solidFill>
                <a:latin typeface="Malgun Gothic"/>
                <a:ea typeface="Malgun Gothic"/>
                <a:cs typeface="Malgun Gothic"/>
              </a:rPr>
              <a:t>점선: 로그인 계정에 따라 실행되지 않는 Application (예시)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26679" y="1499616"/>
            <a:ext cx="45720" cy="182880"/>
          </a:xfrm>
          <a:prstGeom prst="rect">
            <a:avLst/>
          </a:prstGeom>
          <a:solidFill>
            <a:srgbClr val="1F2A3C"/>
          </a:solidFill>
          <a:ln>
            <a:noFill/>
          </a:ln>
        </p:spPr>
        <p:txBody>
          <a:bodyPr rtlCol="0" anchor="ctr" lIns="36576" rIns="36576" tIns="36576" bIns="36576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36407" y="1463040"/>
            <a:ext cx="3803904" cy="256032"/>
          </a:xfrm>
          <a:prstGeom prst="rect">
            <a:avLst/>
          </a:prstGeom>
          <a:noFill/>
          <a:ln>
            <a:noFill/>
          </a:ln>
        </p:spPr>
        <p:txBody>
          <a:bodyPr rtlCol="0" anchor="ctr" lIns="0" rIns="0" tIns="0" bIns="0" wrap="square"/>
          <a:lstStyle/>
          <a:p>
            <a:pPr algn="l"/>
            <a:r>
              <a:rPr sz="1200" b="1">
                <a:solidFill>
                  <a:srgbClr val="1F2A3C"/>
                </a:solidFill>
                <a:latin typeface="Malgun Gothic"/>
                <a:ea typeface="Malgun Gothic"/>
                <a:cs typeface="Malgun Gothic"/>
              </a:rPr>
              <a:t>HMI Application 역할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36407" y="1810512"/>
            <a:ext cx="3803904" cy="1097280"/>
          </a:xfrm>
          <a:prstGeom prst="rect">
            <a:avLst/>
          </a:prstGeom>
          <a:noFill/>
          <a:ln>
            <a:noFill/>
          </a:ln>
        </p:spPr>
        <p:txBody>
          <a:bodyPr rtlCol="0" anchor="t" lIns="0" rIns="0" tIns="0" bIns="0" wrap="square"/>
          <a:lstStyle/>
          <a:p>
            <a:pPr algn="l">
              <a:spcAft>
                <a:spcPts val="150"/>
              </a:spcAft>
            </a:pPr>
            <a:r>
              <a:rPr sz="1050" b="0">
                <a:solidFill>
                  <a:srgbClr val="1F2A3C"/>
                </a:solidFill>
                <a:latin typeface="Malgun Gothic"/>
                <a:ea typeface="Malgun Gothic"/>
                <a:cs typeface="Malgun Gothic"/>
              </a:rPr>
              <a:t>·  </a:t>
            </a:r>
            <a:r>
              <a:rPr sz="1050" b="0">
                <a:solidFill>
                  <a:srgbClr val="2A2F38"/>
                </a:solidFill>
                <a:latin typeface="Malgun Gothic"/>
                <a:ea typeface="Malgun Gothic"/>
                <a:cs typeface="Malgun Gothic"/>
              </a:rPr>
              <a:t>자신의 Menu 정보 생성</a:t>
            </a:r>
          </a:p>
          <a:p>
            <a:pPr algn="l">
              <a:spcAft>
                <a:spcPts val="150"/>
              </a:spcAft>
            </a:pPr>
            <a:r>
              <a:rPr sz="1050" b="0">
                <a:solidFill>
                  <a:srgbClr val="1F2A3C"/>
                </a:solidFill>
                <a:latin typeface="Malgun Gothic"/>
                <a:ea typeface="Malgun Gothic"/>
                <a:cs typeface="Malgun Gothic"/>
              </a:rPr>
              <a:t>·  </a:t>
            </a:r>
            <a:r>
              <a:rPr sz="1050" b="0">
                <a:solidFill>
                  <a:srgbClr val="2A2F38"/>
                </a:solidFill>
                <a:latin typeface="Malgun Gothic"/>
                <a:ea typeface="Malgun Gothic"/>
                <a:cs typeface="Malgun Gothic"/>
              </a:rPr>
              <a:t>자신의 SoftButton 정보 생성</a:t>
            </a:r>
          </a:p>
          <a:p>
            <a:pPr algn="l">
              <a:spcAft>
                <a:spcPts val="150"/>
              </a:spcAft>
            </a:pPr>
            <a:r>
              <a:rPr sz="1050" b="0">
                <a:solidFill>
                  <a:srgbClr val="1F2A3C"/>
                </a:solidFill>
                <a:latin typeface="Malgun Gothic"/>
                <a:ea typeface="Malgun Gothic"/>
                <a:cs typeface="Malgun Gothic"/>
              </a:rPr>
              <a:t>·  </a:t>
            </a:r>
            <a:r>
              <a:rPr sz="1050" b="0">
                <a:solidFill>
                  <a:srgbClr val="2A2F38"/>
                </a:solidFill>
                <a:latin typeface="Malgun Gothic"/>
                <a:ea typeface="Malgun Gothic"/>
                <a:cs typeface="Malgun Gothic"/>
              </a:rPr>
              <a:t>생성한 정보를 NGVA Topic으로 HMI Core에 전달</a:t>
            </a:r>
          </a:p>
          <a:p>
            <a:pPr algn="l">
              <a:spcAft>
                <a:spcPts val="150"/>
              </a:spcAft>
            </a:pPr>
            <a:r>
              <a:rPr sz="1050" b="0">
                <a:solidFill>
                  <a:srgbClr val="1F2A3C"/>
                </a:solidFill>
                <a:latin typeface="Malgun Gothic"/>
                <a:ea typeface="Malgun Gothic"/>
                <a:cs typeface="Malgun Gothic"/>
              </a:rPr>
              <a:t>·  </a:t>
            </a:r>
            <a:r>
              <a:rPr sz="1050" b="0">
                <a:solidFill>
                  <a:srgbClr val="2A2F38"/>
                </a:solidFill>
                <a:latin typeface="Malgun Gothic"/>
                <a:ea typeface="Malgun Gothic"/>
                <a:cs typeface="Malgun Gothic"/>
              </a:rPr>
              <a:t>HMI Core로부터 받은 사용자 입력 · Menu 활성화 정보 처리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26679" y="3008376"/>
            <a:ext cx="45720" cy="182880"/>
          </a:xfrm>
          <a:prstGeom prst="rect">
            <a:avLst/>
          </a:prstGeom>
          <a:solidFill>
            <a:srgbClr val="C0561B"/>
          </a:solidFill>
          <a:ln>
            <a:noFill/>
          </a:ln>
        </p:spPr>
        <p:txBody>
          <a:bodyPr rtlCol="0" anchor="ctr" lIns="36576" rIns="36576" tIns="36576" bIns="36576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836407" y="2971800"/>
            <a:ext cx="3803904" cy="256032"/>
          </a:xfrm>
          <a:prstGeom prst="rect">
            <a:avLst/>
          </a:prstGeom>
          <a:noFill/>
          <a:ln>
            <a:noFill/>
          </a:ln>
        </p:spPr>
        <p:txBody>
          <a:bodyPr rtlCol="0" anchor="ctr" lIns="0" rIns="0" tIns="0" bIns="0" wrap="square"/>
          <a:lstStyle/>
          <a:p>
            <a:pPr algn="l"/>
            <a:r>
              <a:rPr sz="1200" b="1">
                <a:solidFill>
                  <a:srgbClr val="C0561B"/>
                </a:solidFill>
                <a:latin typeface="Malgun Gothic"/>
                <a:ea typeface="Malgun Gothic"/>
                <a:cs typeface="Malgun Gothic"/>
              </a:rPr>
              <a:t>CrewRole 기반 Menu / SoftButton 구성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46719" y="3291840"/>
            <a:ext cx="329184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1F2A3C"/>
            </a:solidFill>
          </a:ln>
        </p:spPr>
        <p:txBody>
          <a:bodyPr rtlCol="0" anchor="ctr" lIns="45720" rIns="45720" wrap="square"/>
          <a:lstStyle/>
          <a:p>
            <a:pPr algn="ctr"/>
            <a:r>
              <a:rPr sz="95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HMI Core → Application 실행   </a:t>
            </a:r>
            <a:r>
              <a:rPr sz="1050" b="0">
                <a:solidFill>
                  <a:srgbClr val="C0561B"/>
                </a:solidFill>
                <a:latin typeface="Malgun Gothic"/>
                <a:ea typeface="Malgun Gothic"/>
                <a:cs typeface="Malgun Gothic"/>
              </a:rPr>
              <a:t>인자: CrewRole</a:t>
            </a:r>
          </a:p>
          <a:p>
            <a:pPr algn="ctr"/>
            <a:r>
              <a:rPr sz="90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CrewRole : Mission / Operation 2종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692640" y="3785615"/>
            <a:ext cx="0" cy="54865"/>
          </a:xfrm>
          <a:prstGeom prst="line">
            <a:avLst/>
          </a:prstGeom>
          <a:ln w="12700">
            <a:solidFill>
              <a:srgbClr val="1F2A3C"/>
            </a:solidFill>
            <a:tailEnd type="triangle" w="sm" len="sm"/>
          </a:ln>
        </p:spPr>
      </p:cxnSp>
      <p:sp>
        <p:nvSpPr>
          <p:cNvPr id="39" name="Rectangle 38"/>
          <p:cNvSpPr/>
          <p:nvPr/>
        </p:nvSpPr>
        <p:spPr>
          <a:xfrm>
            <a:off x="8046719" y="3840480"/>
            <a:ext cx="32918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1F2A3C"/>
            </a:solidFill>
          </a:ln>
        </p:spPr>
        <p:txBody>
          <a:bodyPr rtlCol="0" anchor="ctr" lIns="45720" rIns="45720" wrap="square"/>
          <a:lstStyle/>
          <a:p>
            <a:pPr algn="ctr"/>
            <a:r>
              <a:rPr sz="1050" b="0">
                <a:solidFill>
                  <a:srgbClr val="2A2F38"/>
                </a:solidFill>
                <a:latin typeface="Malgun Gothic"/>
                <a:ea typeface="Malgun Gothic"/>
                <a:cs typeface="Malgun Gothic"/>
              </a:rPr>
              <a:t>CrewRole별 JSON 설정 파일 로드</a:t>
            </a:r>
          </a:p>
        </p:txBody>
      </p:sp>
      <p:cxnSp>
        <p:nvCxnSpPr>
          <p:cNvPr id="40" name="Connector 39"/>
          <p:cNvCxnSpPr/>
          <p:nvPr/>
        </p:nvCxnSpPr>
        <p:spPr>
          <a:xfrm flipH="1">
            <a:off x="8869680" y="4187952"/>
            <a:ext cx="822960" cy="164592"/>
          </a:xfrm>
          <a:prstGeom prst="line">
            <a:avLst/>
          </a:prstGeom>
          <a:ln w="12700">
            <a:solidFill>
              <a:srgbClr val="1F2A3C"/>
            </a:solidFill>
            <a:tailEnd type="triangle" w="sm" len="sm"/>
          </a:ln>
        </p:spPr>
      </p:cxnSp>
      <p:cxnSp>
        <p:nvCxnSpPr>
          <p:cNvPr id="41" name="Connector 40"/>
          <p:cNvCxnSpPr/>
          <p:nvPr/>
        </p:nvCxnSpPr>
        <p:spPr>
          <a:xfrm>
            <a:off x="9692640" y="4187952"/>
            <a:ext cx="822960" cy="164592"/>
          </a:xfrm>
          <a:prstGeom prst="line">
            <a:avLst/>
          </a:prstGeom>
          <a:ln w="12700">
            <a:solidFill>
              <a:srgbClr val="1F2A3C"/>
            </a:solidFill>
            <a:tailEnd type="triangle" w="sm" len="sm"/>
          </a:ln>
        </p:spPr>
      </p:cxnSp>
      <p:sp>
        <p:nvSpPr>
          <p:cNvPr id="42" name="Rectangle 41"/>
          <p:cNvSpPr/>
          <p:nvPr/>
        </p:nvSpPr>
        <p:spPr>
          <a:xfrm>
            <a:off x="8046719" y="4352544"/>
            <a:ext cx="1572768" cy="457200"/>
          </a:xfrm>
          <a:prstGeom prst="rect">
            <a:avLst/>
          </a:prstGeom>
          <a:solidFill>
            <a:srgbClr val="FBEEE6"/>
          </a:solidFill>
          <a:ln w="9525">
            <a:solidFill>
              <a:srgbClr val="C0561B"/>
            </a:solidFill>
          </a:ln>
        </p:spPr>
        <p:txBody>
          <a:bodyPr rtlCol="0" anchor="ctr" lIns="45720" rIns="45720" wrap="square"/>
          <a:lstStyle/>
          <a:p>
            <a:pPr algn="ctr"/>
            <a:r>
              <a:rPr sz="1050" b="0">
                <a:solidFill>
                  <a:srgbClr val="2A2F38"/>
                </a:solidFill>
                <a:latin typeface="Malgun Gothic"/>
                <a:ea typeface="Malgun Gothic"/>
                <a:cs typeface="Malgun Gothic"/>
              </a:rPr>
              <a:t>Menu 구성</a:t>
            </a:r>
          </a:p>
          <a:p>
            <a:pPr algn="ctr"/>
            <a:r>
              <a:rPr sz="850" b="0">
                <a:solidFill>
                  <a:srgbClr val="C0561B"/>
                </a:solidFill>
                <a:latin typeface="Malgun Gothic"/>
                <a:ea typeface="Malgun Gothic"/>
                <a:cs typeface="Malgun Gothic"/>
              </a:rPr>
              <a:t>CrewRole별로 다름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765791" y="4352544"/>
            <a:ext cx="1572768" cy="457200"/>
          </a:xfrm>
          <a:prstGeom prst="rect">
            <a:avLst/>
          </a:prstGeom>
          <a:solidFill>
            <a:srgbClr val="FBEEE6"/>
          </a:solidFill>
          <a:ln w="9525">
            <a:solidFill>
              <a:srgbClr val="C0561B"/>
            </a:solidFill>
          </a:ln>
        </p:spPr>
        <p:txBody>
          <a:bodyPr rtlCol="0" anchor="ctr" lIns="45720" rIns="45720" wrap="square"/>
          <a:lstStyle/>
          <a:p>
            <a:pPr algn="ctr"/>
            <a:r>
              <a:rPr sz="1050" b="0">
                <a:solidFill>
                  <a:srgbClr val="2A2F38"/>
                </a:solidFill>
                <a:latin typeface="Malgun Gothic"/>
                <a:ea typeface="Malgun Gothic"/>
                <a:cs typeface="Malgun Gothic"/>
              </a:rPr>
              <a:t>SoftButton 구성</a:t>
            </a:r>
          </a:p>
          <a:p>
            <a:pPr algn="ctr"/>
            <a:r>
              <a:rPr sz="850" b="0">
                <a:solidFill>
                  <a:srgbClr val="C0561B"/>
                </a:solidFill>
                <a:latin typeface="Malgun Gothic"/>
                <a:ea typeface="Malgun Gothic"/>
                <a:cs typeface="Malgun Gothic"/>
              </a:rPr>
              <a:t>CrewRole별로 다름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8869680" y="4809744"/>
            <a:ext cx="822960" cy="164592"/>
          </a:xfrm>
          <a:prstGeom prst="line">
            <a:avLst/>
          </a:prstGeom>
          <a:ln w="12700">
            <a:solidFill>
              <a:srgbClr val="1F2A3C"/>
            </a:solidFill>
            <a:tailEnd type="triangle" w="sm" len="sm"/>
          </a:ln>
        </p:spPr>
      </p:cxnSp>
      <p:cxnSp>
        <p:nvCxnSpPr>
          <p:cNvPr id="45" name="Connector 44"/>
          <p:cNvCxnSpPr/>
          <p:nvPr/>
        </p:nvCxnSpPr>
        <p:spPr>
          <a:xfrm flipH="1">
            <a:off x="9692640" y="4809744"/>
            <a:ext cx="822960" cy="164592"/>
          </a:xfrm>
          <a:prstGeom prst="line">
            <a:avLst/>
          </a:prstGeom>
          <a:ln w="12700">
            <a:solidFill>
              <a:srgbClr val="1F2A3C"/>
            </a:solidFill>
            <a:tailEnd type="triangle" w="sm" len="sm"/>
          </a:ln>
        </p:spPr>
      </p:cxnSp>
      <p:sp>
        <p:nvSpPr>
          <p:cNvPr id="46" name="Rectangle 45"/>
          <p:cNvSpPr/>
          <p:nvPr/>
        </p:nvSpPr>
        <p:spPr>
          <a:xfrm>
            <a:off x="8046719" y="4974336"/>
            <a:ext cx="32918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1F2A3C"/>
            </a:solidFill>
          </a:ln>
        </p:spPr>
        <p:txBody>
          <a:bodyPr rtlCol="0" anchor="ctr" lIns="45720" rIns="45720" wrap="square"/>
          <a:lstStyle/>
          <a:p>
            <a:pPr algn="ctr"/>
            <a:r>
              <a:rPr sz="1050" b="0">
                <a:solidFill>
                  <a:srgbClr val="2A2F38"/>
                </a:solidFill>
                <a:latin typeface="Malgun Gothic"/>
                <a:ea typeface="Malgun Gothic"/>
                <a:cs typeface="Malgun Gothic"/>
              </a:rPr>
              <a:t>NGVA Topic으로 HMI Core에 전달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26679" y="5468112"/>
            <a:ext cx="3913632" cy="566928"/>
          </a:xfrm>
          <a:prstGeom prst="rect">
            <a:avLst/>
          </a:prstGeom>
          <a:noFill/>
          <a:ln>
            <a:noFill/>
          </a:ln>
        </p:spPr>
        <p:txBody>
          <a:bodyPr rtlCol="0" anchor="t" lIns="0" rIns="0" tIns="0" bIns="0" wrap="square"/>
          <a:lstStyle/>
          <a:p>
            <a:pPr algn="l"/>
            <a:r>
              <a:rPr sz="1000" b="0">
                <a:solidFill>
                  <a:srgbClr val="C0561B"/>
                </a:solidFill>
                <a:latin typeface="Malgun Gothic"/>
                <a:ea typeface="Malgun Gothic"/>
                <a:cs typeface="Malgun Gothic"/>
              </a:rPr>
              <a:t>같은 Application이라도 전달받은 CrewRole에 따라 읽는 JSON이 달라지고, 그 결과 화면의 Menu / SoftButton 구성도 달라짐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859536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lIns="0" rIns="0" tIns="0" bIns="0" wrap="square"/>
          <a:lstStyle/>
          <a:p>
            <a:pPr algn="l"/>
            <a:r>
              <a:rPr sz="2400" b="1">
                <a:solidFill>
                  <a:srgbClr val="1F2A3C"/>
                </a:solidFill>
                <a:latin typeface="Malgun Gothic"/>
                <a:ea typeface="Malgun Gothic"/>
                <a:cs typeface="Malgun Gothic"/>
              </a:rPr>
              <a:t>HMI 초기화 및 운용 Sequence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64240" cy="384048"/>
          </a:xfrm>
          <a:prstGeom prst="rect">
            <a:avLst/>
          </a:prstGeom>
          <a:noFill/>
          <a:ln>
            <a:noFill/>
          </a:ln>
        </p:spPr>
        <p:txBody>
          <a:bodyPr rtlCol="0" anchor="t" lIns="0" rIns="0" tIns="0" bIns="0" wrap="square"/>
          <a:lstStyle/>
          <a:p>
            <a:pPr algn="l"/>
            <a:r>
              <a:rPr sz="120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개발/시험 환경에서는 HMISimulator가 실제 센트럴컴퓨터를 대신하여 Registry Service와 Login Service를 제공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43584"/>
            <a:ext cx="11091672" cy="0"/>
          </a:xfrm>
          <a:prstGeom prst="line">
            <a:avLst/>
          </a:prstGeom>
          <a:ln w="9525">
            <a:solidFill>
              <a:srgbClr val="C5CAD2"/>
            </a:solidFill>
          </a:ln>
        </p:spPr>
      </p:cxnSp>
      <p:sp>
        <p:nvSpPr>
          <p:cNvPr id="5" name="Rectangle 4"/>
          <p:cNvSpPr/>
          <p:nvPr/>
        </p:nvSpPr>
        <p:spPr>
          <a:xfrm>
            <a:off x="548640" y="6473952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rtlCol="0" anchor="ctr" lIns="0" rIns="0" tIns="0" bIns="0" wrap="square"/>
          <a:lstStyle/>
          <a:p>
            <a:pPr algn="l"/>
            <a:r>
              <a:rPr sz="900" b="0">
                <a:solidFill>
                  <a:srgbClr val="9AA1AC"/>
                </a:solidFill>
                <a:latin typeface="Malgun Gothic"/>
                <a:ea typeface="Malgun Gothic"/>
                <a:cs typeface="Malgun Gothic"/>
              </a:rPr>
              <a:t>GVA HMI 기술설명  ·  NGVA 기반 HMI 구조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25912" y="647395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rtlCol="0" anchor="ctr" lIns="0" rIns="0" tIns="0" bIns="0" wrap="square"/>
          <a:lstStyle/>
          <a:p>
            <a:pPr algn="r"/>
            <a:r>
              <a:rPr sz="900" b="0">
                <a:solidFill>
                  <a:srgbClr val="9AA1AC"/>
                </a:solidFill>
                <a:latin typeface="Malgun Gothic"/>
                <a:ea typeface="Malgun Gothic"/>
                <a:cs typeface="Malgun Gothic"/>
              </a:rPr>
              <a:t>6 /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371600"/>
            <a:ext cx="4114800" cy="4544568"/>
          </a:xfrm>
          <a:prstGeom prst="rect">
            <a:avLst/>
          </a:prstGeom>
          <a:solidFill>
            <a:srgbClr val="F5F6F8"/>
          </a:solidFill>
          <a:ln w="9525">
            <a:solidFill>
              <a:srgbClr val="9AA1AC"/>
            </a:solidFill>
            <a:prstDash val="dash"/>
          </a:ln>
        </p:spPr>
        <p:txBody>
          <a:bodyPr rtlCol="0" anchor="ctr" lIns="36576" rIns="36576" tIns="36576" bIns="36576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91840" y="1389888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rtlCol="0" anchor="t" lIns="0" rIns="0" tIns="0" bIns="0" wrap="square"/>
          <a:lstStyle/>
          <a:p>
            <a:pPr algn="l"/>
            <a:r>
              <a:rPr sz="85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HMISimulator 제공 영역 (센트럴컴퓨터 대체 · 개발/시험용)</a:t>
            </a:r>
          </a:p>
        </p:txBody>
      </p:sp>
      <p:sp>
        <p:nvSpPr>
          <p:cNvPr id="9" name="Rectangle 8"/>
          <p:cNvSpPr/>
          <p:nvPr/>
        </p:nvSpPr>
        <p:spPr>
          <a:xfrm>
            <a:off x="1714499" y="1609344"/>
            <a:ext cx="12344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1F2A3C"/>
            </a:solidFill>
          </a:ln>
        </p:spPr>
        <p:txBody>
          <a:bodyPr rtlCol="0" anchor="ctr" lIns="45720" rIns="45720" wrap="square"/>
          <a:lstStyle/>
          <a:p>
            <a:pPr algn="ctr"/>
            <a:r>
              <a:rPr sz="950" b="0">
                <a:solidFill>
                  <a:srgbClr val="2A2F38"/>
                </a:solidFill>
                <a:latin typeface="Malgun Gothic"/>
                <a:ea typeface="Malgun Gothic"/>
                <a:cs typeface="Malgun Gothic"/>
              </a:rPr>
              <a:t>User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331720" y="1956816"/>
            <a:ext cx="0" cy="3913632"/>
          </a:xfrm>
          <a:prstGeom prst="line">
            <a:avLst/>
          </a:prstGeom>
          <a:ln w="9525">
            <a:solidFill>
              <a:srgbClr val="9AA1AC"/>
            </a:solidFill>
            <a:prstDash val="dash"/>
          </a:ln>
        </p:spPr>
      </p:cxnSp>
      <p:sp>
        <p:nvSpPr>
          <p:cNvPr id="11" name="Rectangle 10"/>
          <p:cNvSpPr/>
          <p:nvPr/>
        </p:nvSpPr>
        <p:spPr>
          <a:xfrm>
            <a:off x="3268980" y="1609344"/>
            <a:ext cx="12344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1F2A3C"/>
            </a:solidFill>
          </a:ln>
        </p:spPr>
        <p:txBody>
          <a:bodyPr rtlCol="0" anchor="ctr" lIns="45720" rIns="45720" wrap="square"/>
          <a:lstStyle/>
          <a:p>
            <a:pPr algn="ctr"/>
            <a:r>
              <a:rPr sz="950" b="0">
                <a:solidFill>
                  <a:srgbClr val="2A2F38"/>
                </a:solidFill>
                <a:latin typeface="Malgun Gothic"/>
                <a:ea typeface="Malgun Gothic"/>
                <a:cs typeface="Malgun Gothic"/>
              </a:rPr>
              <a:t>HMISimulator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86200" y="1956816"/>
            <a:ext cx="0" cy="3913632"/>
          </a:xfrm>
          <a:prstGeom prst="line">
            <a:avLst/>
          </a:prstGeom>
          <a:ln w="9525">
            <a:solidFill>
              <a:srgbClr val="9AA1AC"/>
            </a:solidFill>
            <a:prstDash val="dash"/>
          </a:ln>
        </p:spPr>
      </p:cxnSp>
      <p:sp>
        <p:nvSpPr>
          <p:cNvPr id="13" name="Rectangle 12"/>
          <p:cNvSpPr/>
          <p:nvPr/>
        </p:nvSpPr>
        <p:spPr>
          <a:xfrm>
            <a:off x="4640580" y="1609344"/>
            <a:ext cx="12344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1F2A3C"/>
            </a:solidFill>
          </a:ln>
        </p:spPr>
        <p:txBody>
          <a:bodyPr rtlCol="0" anchor="ctr" lIns="45720" rIns="45720" wrap="square"/>
          <a:lstStyle/>
          <a:p>
            <a:pPr algn="ctr"/>
            <a:r>
              <a:rPr sz="950" b="0">
                <a:solidFill>
                  <a:srgbClr val="2A2F38"/>
                </a:solidFill>
                <a:latin typeface="Malgun Gothic"/>
                <a:ea typeface="Malgun Gothic"/>
                <a:cs typeface="Malgun Gothic"/>
              </a:rPr>
              <a:t>Registry Service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257800" y="1956816"/>
            <a:ext cx="0" cy="3913632"/>
          </a:xfrm>
          <a:prstGeom prst="line">
            <a:avLst/>
          </a:prstGeom>
          <a:ln w="9525">
            <a:solidFill>
              <a:srgbClr val="9AA1AC"/>
            </a:solidFill>
            <a:prstDash val="dash"/>
          </a:ln>
        </p:spPr>
      </p:cxnSp>
      <p:sp>
        <p:nvSpPr>
          <p:cNvPr id="15" name="Rectangle 14"/>
          <p:cNvSpPr/>
          <p:nvPr/>
        </p:nvSpPr>
        <p:spPr>
          <a:xfrm>
            <a:off x="6012180" y="1609344"/>
            <a:ext cx="12344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1F2A3C"/>
            </a:solidFill>
          </a:ln>
        </p:spPr>
        <p:txBody>
          <a:bodyPr rtlCol="0" anchor="ctr" lIns="45720" rIns="45720" wrap="square"/>
          <a:lstStyle/>
          <a:p>
            <a:pPr algn="ctr"/>
            <a:r>
              <a:rPr sz="950" b="0">
                <a:solidFill>
                  <a:srgbClr val="2A2F38"/>
                </a:solidFill>
                <a:latin typeface="Malgun Gothic"/>
                <a:ea typeface="Malgun Gothic"/>
                <a:cs typeface="Malgun Gothic"/>
              </a:rPr>
              <a:t>Login Service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629400" y="1956816"/>
            <a:ext cx="0" cy="3913632"/>
          </a:xfrm>
          <a:prstGeom prst="line">
            <a:avLst/>
          </a:prstGeom>
          <a:ln w="9525">
            <a:solidFill>
              <a:srgbClr val="9AA1AC"/>
            </a:solidFill>
            <a:prstDash val="dash"/>
          </a:ln>
        </p:spPr>
      </p:cxnSp>
      <p:sp>
        <p:nvSpPr>
          <p:cNvPr id="17" name="Rectangle 16"/>
          <p:cNvSpPr/>
          <p:nvPr/>
        </p:nvSpPr>
        <p:spPr>
          <a:xfrm>
            <a:off x="7978140" y="1609344"/>
            <a:ext cx="1234440" cy="347472"/>
          </a:xfrm>
          <a:prstGeom prst="rect">
            <a:avLst/>
          </a:prstGeom>
          <a:solidFill>
            <a:srgbClr val="FFFFFF"/>
          </a:solidFill>
          <a:ln w="15875">
            <a:solidFill>
              <a:srgbClr val="1F2A3C"/>
            </a:solidFill>
          </a:ln>
        </p:spPr>
        <p:txBody>
          <a:bodyPr rtlCol="0" anchor="ctr" lIns="45720" rIns="45720" wrap="square"/>
          <a:lstStyle/>
          <a:p>
            <a:pPr algn="ctr"/>
            <a:r>
              <a:rPr sz="950" b="0">
                <a:solidFill>
                  <a:srgbClr val="1F2A3C"/>
                </a:solidFill>
                <a:latin typeface="Malgun Gothic"/>
                <a:ea typeface="Malgun Gothic"/>
                <a:cs typeface="Malgun Gothic"/>
              </a:rPr>
              <a:t>HMI Core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595360" y="1956816"/>
            <a:ext cx="0" cy="3913632"/>
          </a:xfrm>
          <a:prstGeom prst="line">
            <a:avLst/>
          </a:prstGeom>
          <a:ln w="9525">
            <a:solidFill>
              <a:srgbClr val="9AA1AC"/>
            </a:solidFill>
            <a:prstDash val="dash"/>
          </a:ln>
        </p:spPr>
      </p:cxnSp>
      <p:sp>
        <p:nvSpPr>
          <p:cNvPr id="19" name="Rectangle 18"/>
          <p:cNvSpPr/>
          <p:nvPr/>
        </p:nvSpPr>
        <p:spPr>
          <a:xfrm>
            <a:off x="10126980" y="1609344"/>
            <a:ext cx="1234440" cy="347472"/>
          </a:xfrm>
          <a:prstGeom prst="rect">
            <a:avLst/>
          </a:prstGeom>
          <a:solidFill>
            <a:srgbClr val="FFFFFF"/>
          </a:solidFill>
          <a:ln w="15875">
            <a:solidFill>
              <a:srgbClr val="1F2A3C"/>
            </a:solidFill>
          </a:ln>
        </p:spPr>
        <p:txBody>
          <a:bodyPr rtlCol="0" anchor="ctr" lIns="45720" rIns="45720" wrap="square"/>
          <a:lstStyle/>
          <a:p>
            <a:pPr algn="ctr"/>
            <a:r>
              <a:rPr sz="950" b="0">
                <a:solidFill>
                  <a:srgbClr val="1F2A3C"/>
                </a:solidFill>
                <a:latin typeface="Malgun Gothic"/>
                <a:ea typeface="Malgun Gothic"/>
                <a:cs typeface="Malgun Gothic"/>
              </a:rPr>
              <a:t>HMI Application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744200" y="1956816"/>
            <a:ext cx="0" cy="3913632"/>
          </a:xfrm>
          <a:prstGeom prst="line">
            <a:avLst/>
          </a:prstGeom>
          <a:ln w="9525">
            <a:solidFill>
              <a:srgbClr val="9AA1AC"/>
            </a:solidFill>
            <a:prstDash val="dash"/>
          </a:ln>
        </p:spPr>
      </p:cxnSp>
      <p:sp>
        <p:nvSpPr>
          <p:cNvPr id="21" name="Rectangle 20"/>
          <p:cNvSpPr/>
          <p:nvPr/>
        </p:nvSpPr>
        <p:spPr>
          <a:xfrm>
            <a:off x="548640" y="2092659"/>
            <a:ext cx="1143000" cy="387705"/>
          </a:xfrm>
          <a:prstGeom prst="rect">
            <a:avLst/>
          </a:prstGeom>
          <a:noFill/>
          <a:ln>
            <a:noFill/>
          </a:ln>
        </p:spPr>
        <p:txBody>
          <a:bodyPr rtlCol="0" anchor="ctr" lIns="0" rIns="0" tIns="0" bIns="0" wrap="square"/>
          <a:lstStyle/>
          <a:p>
            <a:pPr algn="l"/>
            <a:r>
              <a:rPr sz="950" b="0">
                <a:solidFill>
                  <a:srgbClr val="1F2A3C"/>
                </a:solidFill>
                <a:latin typeface="Malgun Gothic"/>
                <a:ea typeface="Malgun Gothic"/>
                <a:cs typeface="Malgun Gothic"/>
              </a:rPr>
              <a:t>환경 준비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480364"/>
            <a:ext cx="1143000" cy="1163116"/>
          </a:xfrm>
          <a:prstGeom prst="rect">
            <a:avLst/>
          </a:prstGeom>
          <a:noFill/>
          <a:ln>
            <a:noFill/>
          </a:ln>
        </p:spPr>
        <p:txBody>
          <a:bodyPr rtlCol="0" anchor="ctr" lIns="0" rIns="0" tIns="0" bIns="0" wrap="square"/>
          <a:lstStyle/>
          <a:p>
            <a:pPr algn="l"/>
            <a:r>
              <a:rPr sz="950" b="0">
                <a:solidFill>
                  <a:srgbClr val="1F2A3C"/>
                </a:solidFill>
                <a:latin typeface="Malgun Gothic"/>
                <a:ea typeface="Malgun Gothic"/>
                <a:cs typeface="Malgun Gothic"/>
              </a:rPr>
              <a:t>HMI Core 기동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8640" y="2480364"/>
            <a:ext cx="11091672" cy="0"/>
          </a:xfrm>
          <a:prstGeom prst="line">
            <a:avLst/>
          </a:prstGeom>
          <a:ln w="6350">
            <a:solidFill>
              <a:srgbClr val="C5CAD2"/>
            </a:solidFill>
          </a:ln>
        </p:spPr>
      </p:cxnSp>
      <p:sp>
        <p:nvSpPr>
          <p:cNvPr id="24" name="Rectangle 23"/>
          <p:cNvSpPr/>
          <p:nvPr/>
        </p:nvSpPr>
        <p:spPr>
          <a:xfrm>
            <a:off x="548640" y="3643481"/>
            <a:ext cx="1143000" cy="775411"/>
          </a:xfrm>
          <a:prstGeom prst="rect">
            <a:avLst/>
          </a:prstGeom>
          <a:noFill/>
          <a:ln>
            <a:noFill/>
          </a:ln>
        </p:spPr>
        <p:txBody>
          <a:bodyPr rtlCol="0" anchor="ctr" lIns="0" rIns="0" tIns="0" bIns="0" wrap="square"/>
          <a:lstStyle/>
          <a:p>
            <a:pPr algn="l"/>
            <a:r>
              <a:rPr sz="950" b="0">
                <a:solidFill>
                  <a:srgbClr val="1F2A3C"/>
                </a:solidFill>
                <a:latin typeface="Malgun Gothic"/>
                <a:ea typeface="Malgun Gothic"/>
                <a:cs typeface="Malgun Gothic"/>
              </a:rPr>
              <a:t>Application 기동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8640" y="3643481"/>
            <a:ext cx="11091672" cy="0"/>
          </a:xfrm>
          <a:prstGeom prst="line">
            <a:avLst/>
          </a:prstGeom>
          <a:ln w="6350">
            <a:solidFill>
              <a:srgbClr val="C5CAD2"/>
            </a:solidFill>
          </a:ln>
        </p:spPr>
      </p:cxnSp>
      <p:sp>
        <p:nvSpPr>
          <p:cNvPr id="26" name="Rectangle 25"/>
          <p:cNvSpPr/>
          <p:nvPr/>
        </p:nvSpPr>
        <p:spPr>
          <a:xfrm>
            <a:off x="548640" y="4418892"/>
            <a:ext cx="1143000" cy="969263"/>
          </a:xfrm>
          <a:prstGeom prst="rect">
            <a:avLst/>
          </a:prstGeom>
          <a:noFill/>
          <a:ln>
            <a:noFill/>
          </a:ln>
        </p:spPr>
        <p:txBody>
          <a:bodyPr rtlCol="0" anchor="ctr" lIns="0" rIns="0" tIns="0" bIns="0" wrap="square"/>
          <a:lstStyle/>
          <a:p>
            <a:pPr algn="l"/>
            <a:r>
              <a:rPr sz="950" b="0">
                <a:solidFill>
                  <a:srgbClr val="1F2A3C"/>
                </a:solidFill>
                <a:latin typeface="Malgun Gothic"/>
                <a:ea typeface="Malgun Gothic"/>
                <a:cs typeface="Malgun Gothic"/>
              </a:rPr>
              <a:t>UI 구성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48640" y="4418892"/>
            <a:ext cx="11091672" cy="0"/>
          </a:xfrm>
          <a:prstGeom prst="line">
            <a:avLst/>
          </a:prstGeom>
          <a:ln w="6350">
            <a:solidFill>
              <a:srgbClr val="C5CAD2"/>
            </a:solidFill>
          </a:ln>
        </p:spPr>
      </p:cxnSp>
      <p:sp>
        <p:nvSpPr>
          <p:cNvPr id="28" name="Rectangle 27"/>
          <p:cNvSpPr/>
          <p:nvPr/>
        </p:nvSpPr>
        <p:spPr>
          <a:xfrm>
            <a:off x="548640" y="5388156"/>
            <a:ext cx="1143000" cy="387705"/>
          </a:xfrm>
          <a:prstGeom prst="rect">
            <a:avLst/>
          </a:prstGeom>
          <a:noFill/>
          <a:ln>
            <a:noFill/>
          </a:ln>
        </p:spPr>
        <p:txBody>
          <a:bodyPr rtlCol="0" anchor="ctr" lIns="0" rIns="0" tIns="0" bIns="0" wrap="square"/>
          <a:lstStyle/>
          <a:p>
            <a:pPr algn="l"/>
            <a:r>
              <a:rPr sz="950" b="0">
                <a:solidFill>
                  <a:srgbClr val="1F2A3C"/>
                </a:solidFill>
                <a:latin typeface="Malgun Gothic"/>
                <a:ea typeface="Malgun Gothic"/>
                <a:cs typeface="Malgun Gothic"/>
              </a:rPr>
              <a:t>운용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48640" y="5388156"/>
            <a:ext cx="11091672" cy="0"/>
          </a:xfrm>
          <a:prstGeom prst="line">
            <a:avLst/>
          </a:prstGeom>
          <a:ln w="6350">
            <a:solidFill>
              <a:srgbClr val="C5CAD2"/>
            </a:solidFill>
          </a:ln>
        </p:spPr>
      </p:cxnSp>
      <p:sp>
        <p:nvSpPr>
          <p:cNvPr id="30" name="Rectangle 29"/>
          <p:cNvSpPr/>
          <p:nvPr/>
        </p:nvSpPr>
        <p:spPr>
          <a:xfrm>
            <a:off x="3154680" y="2075688"/>
            <a:ext cx="1463040" cy="173736"/>
          </a:xfrm>
          <a:prstGeom prst="rect">
            <a:avLst/>
          </a:prstGeom>
          <a:solidFill>
            <a:srgbClr val="FFFFFF"/>
          </a:solidFill>
          <a:ln w="6350">
            <a:solidFill>
              <a:srgbClr val="1F2A3C"/>
            </a:solidFill>
          </a:ln>
        </p:spPr>
        <p:txBody>
          <a:bodyPr rtlCol="0" anchor="ctr" lIns="45720" rIns="45720" wrap="square"/>
          <a:lstStyle/>
          <a:p>
            <a:pPr algn="ctr"/>
            <a:r>
              <a:rPr sz="850" b="0">
                <a:solidFill>
                  <a:srgbClr val="2A2F38"/>
                </a:solidFill>
                <a:latin typeface="Malgun Gothic"/>
                <a:ea typeface="Malgun Gothic"/>
                <a:cs typeface="Malgun Gothic"/>
              </a:rPr>
              <a:t>1  HMISimulator 실행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54880" y="2269540"/>
            <a:ext cx="2377440" cy="173736"/>
          </a:xfrm>
          <a:prstGeom prst="rect">
            <a:avLst/>
          </a:prstGeom>
          <a:solidFill>
            <a:srgbClr val="FFFFFF"/>
          </a:solidFill>
          <a:ln w="6350">
            <a:solidFill>
              <a:srgbClr val="1F2A3C"/>
            </a:solidFill>
          </a:ln>
        </p:spPr>
        <p:txBody>
          <a:bodyPr rtlCol="0" anchor="ctr" lIns="45720" rIns="45720" wrap="square"/>
          <a:lstStyle/>
          <a:p>
            <a:pPr algn="ctr"/>
            <a:r>
              <a:rPr sz="850" b="0">
                <a:solidFill>
                  <a:srgbClr val="2A2F38"/>
                </a:solidFill>
                <a:latin typeface="Malgun Gothic"/>
                <a:ea typeface="Malgun Gothic"/>
                <a:cs typeface="Malgun Gothic"/>
              </a:rPr>
              <a:t>2  Registry Service / Login Service 준비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331720" y="2627985"/>
            <a:ext cx="1554480" cy="0"/>
          </a:xfrm>
          <a:prstGeom prst="line">
            <a:avLst/>
          </a:prstGeom>
          <a:ln w="12700">
            <a:solidFill>
              <a:srgbClr val="1F2A3C"/>
            </a:solidFill>
            <a:tailEnd type="triangle" w="sm" len="sm"/>
          </a:ln>
        </p:spPr>
      </p:cxnSp>
      <p:sp>
        <p:nvSpPr>
          <p:cNvPr id="33" name="Rectangle 32"/>
          <p:cNvSpPr/>
          <p:nvPr/>
        </p:nvSpPr>
        <p:spPr>
          <a:xfrm>
            <a:off x="2331720" y="2445105"/>
            <a:ext cx="1554480" cy="173736"/>
          </a:xfrm>
          <a:prstGeom prst="rect">
            <a:avLst/>
          </a:prstGeom>
          <a:noFill/>
          <a:ln>
            <a:noFill/>
          </a:ln>
        </p:spPr>
        <p:txBody>
          <a:bodyPr rtlCol="0" anchor="b" lIns="0" rIns="0" tIns="0" bIns="0" wrap="square"/>
          <a:lstStyle/>
          <a:p>
            <a:pPr algn="ctr"/>
            <a:r>
              <a:rPr sz="850" b="0">
                <a:solidFill>
                  <a:srgbClr val="2A2F38"/>
                </a:solidFill>
                <a:latin typeface="Malgun Gothic"/>
                <a:ea typeface="Malgun Gothic"/>
                <a:cs typeface="Malgun Gothic"/>
              </a:rPr>
              <a:t>3  ‘HMI Core 시작’ 버튼 선택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886200" y="2821838"/>
            <a:ext cx="4709160" cy="0"/>
          </a:xfrm>
          <a:prstGeom prst="line">
            <a:avLst/>
          </a:prstGeom>
          <a:ln w="12700">
            <a:solidFill>
              <a:srgbClr val="1F2A3C"/>
            </a:solidFill>
            <a:tailEnd type="triangle" w="sm" len="sm"/>
          </a:ln>
        </p:spPr>
      </p:cxnSp>
      <p:sp>
        <p:nvSpPr>
          <p:cNvPr id="35" name="Rectangle 34"/>
          <p:cNvSpPr/>
          <p:nvPr/>
        </p:nvSpPr>
        <p:spPr>
          <a:xfrm>
            <a:off x="3886200" y="2638958"/>
            <a:ext cx="4709160" cy="173736"/>
          </a:xfrm>
          <a:prstGeom prst="rect">
            <a:avLst/>
          </a:prstGeom>
          <a:noFill/>
          <a:ln>
            <a:noFill/>
          </a:ln>
        </p:spPr>
        <p:txBody>
          <a:bodyPr rtlCol="0" anchor="b" lIns="0" rIns="0" tIns="0" bIns="0" wrap="square"/>
          <a:lstStyle/>
          <a:p>
            <a:pPr algn="ctr"/>
            <a:r>
              <a:rPr sz="850" b="0">
                <a:solidFill>
                  <a:srgbClr val="2A2F38"/>
                </a:solidFill>
                <a:latin typeface="Malgun Gothic"/>
                <a:ea typeface="Malgun Gothic"/>
                <a:cs typeface="Malgun Gothic"/>
              </a:rPr>
              <a:t>4  HMI Core 실행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5257800" y="3015691"/>
            <a:ext cx="3337560" cy="0"/>
          </a:xfrm>
          <a:prstGeom prst="line">
            <a:avLst/>
          </a:prstGeom>
          <a:ln w="12700">
            <a:solidFill>
              <a:srgbClr val="1F2A3C"/>
            </a:solidFill>
            <a:tailEnd type="triangle" w="sm" len="sm"/>
          </a:ln>
        </p:spPr>
      </p:cxnSp>
      <p:sp>
        <p:nvSpPr>
          <p:cNvPr id="37" name="Rectangle 36"/>
          <p:cNvSpPr/>
          <p:nvPr/>
        </p:nvSpPr>
        <p:spPr>
          <a:xfrm>
            <a:off x="5257800" y="2832811"/>
            <a:ext cx="3337560" cy="173736"/>
          </a:xfrm>
          <a:prstGeom prst="rect">
            <a:avLst/>
          </a:prstGeom>
          <a:noFill/>
          <a:ln>
            <a:noFill/>
          </a:ln>
        </p:spPr>
        <p:txBody>
          <a:bodyPr rtlCol="0" anchor="b" lIns="0" rIns="0" tIns="0" bIns="0" wrap="square"/>
          <a:lstStyle/>
          <a:p>
            <a:pPr algn="ctr"/>
            <a:r>
              <a:rPr sz="850" b="0">
                <a:solidFill>
                  <a:srgbClr val="2A2F38"/>
                </a:solidFill>
                <a:latin typeface="Malgun Gothic"/>
                <a:ea typeface="Malgun Gothic"/>
                <a:cs typeface="Malgun Gothic"/>
              </a:rPr>
              <a:t>5  Resource 등록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257800" y="3209544"/>
            <a:ext cx="3337560" cy="0"/>
          </a:xfrm>
          <a:prstGeom prst="line">
            <a:avLst/>
          </a:prstGeom>
          <a:ln w="12700">
            <a:solidFill>
              <a:srgbClr val="1F2A3C"/>
            </a:solidFill>
            <a:prstDash val="dash"/>
            <a:tailEnd type="triangle" w="sm" len="sm"/>
          </a:ln>
        </p:spPr>
      </p:cxnSp>
      <p:sp>
        <p:nvSpPr>
          <p:cNvPr id="39" name="Rectangle 38"/>
          <p:cNvSpPr/>
          <p:nvPr/>
        </p:nvSpPr>
        <p:spPr>
          <a:xfrm>
            <a:off x="5257800" y="3026663"/>
            <a:ext cx="3337560" cy="173736"/>
          </a:xfrm>
          <a:prstGeom prst="rect">
            <a:avLst/>
          </a:prstGeom>
          <a:noFill/>
          <a:ln>
            <a:noFill/>
          </a:ln>
        </p:spPr>
        <p:txBody>
          <a:bodyPr rtlCol="0" anchor="b" lIns="0" rIns="0" tIns="0" bIns="0" wrap="square"/>
          <a:lstStyle/>
          <a:p>
            <a:pPr algn="ctr"/>
            <a:r>
              <a:rPr sz="850" b="0">
                <a:solidFill>
                  <a:srgbClr val="2A2F38"/>
                </a:solidFill>
                <a:latin typeface="Malgun Gothic"/>
                <a:ea typeface="Malgun Gothic"/>
                <a:cs typeface="Malgun Gothic"/>
              </a:rPr>
              <a:t>ResourceID</a:t>
            </a:r>
          </a:p>
        </p:txBody>
      </p:sp>
      <p:cxnSp>
        <p:nvCxnSpPr>
          <p:cNvPr id="40" name="Connector 39"/>
          <p:cNvCxnSpPr/>
          <p:nvPr/>
        </p:nvCxnSpPr>
        <p:spPr>
          <a:xfrm flipH="1">
            <a:off x="6629400" y="3403396"/>
            <a:ext cx="1965960" cy="0"/>
          </a:xfrm>
          <a:prstGeom prst="line">
            <a:avLst/>
          </a:prstGeom>
          <a:ln w="12700">
            <a:solidFill>
              <a:srgbClr val="1F2A3C"/>
            </a:solidFill>
            <a:tailEnd type="triangle" w="sm" len="sm"/>
          </a:ln>
        </p:spPr>
      </p:cxnSp>
      <p:sp>
        <p:nvSpPr>
          <p:cNvPr id="41" name="Rectangle 40"/>
          <p:cNvSpPr/>
          <p:nvPr/>
        </p:nvSpPr>
        <p:spPr>
          <a:xfrm>
            <a:off x="6629400" y="3220516"/>
            <a:ext cx="1965960" cy="173736"/>
          </a:xfrm>
          <a:prstGeom prst="rect">
            <a:avLst/>
          </a:prstGeom>
          <a:noFill/>
          <a:ln>
            <a:noFill/>
          </a:ln>
        </p:spPr>
        <p:txBody>
          <a:bodyPr rtlCol="0" anchor="b" lIns="0" rIns="0" tIns="0" bIns="0" wrap="square"/>
          <a:lstStyle/>
          <a:p>
            <a:pPr algn="ctr"/>
            <a:r>
              <a:rPr sz="850" b="0">
                <a:solidFill>
                  <a:srgbClr val="2A2F38"/>
                </a:solidFill>
                <a:latin typeface="Malgun Gothic"/>
                <a:ea typeface="Malgun Gothic"/>
                <a:cs typeface="Malgun Gothic"/>
              </a:rPr>
              <a:t>6  로그인 계정 확인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629400" y="3597249"/>
            <a:ext cx="1965960" cy="0"/>
          </a:xfrm>
          <a:prstGeom prst="line">
            <a:avLst/>
          </a:prstGeom>
          <a:ln w="12700">
            <a:solidFill>
              <a:srgbClr val="1F2A3C"/>
            </a:solidFill>
            <a:prstDash val="dash"/>
            <a:tailEnd type="triangle" w="sm" len="sm"/>
          </a:ln>
        </p:spPr>
      </p:cxnSp>
      <p:sp>
        <p:nvSpPr>
          <p:cNvPr id="43" name="Rectangle 42"/>
          <p:cNvSpPr/>
          <p:nvPr/>
        </p:nvSpPr>
        <p:spPr>
          <a:xfrm>
            <a:off x="6629400" y="3414369"/>
            <a:ext cx="1965960" cy="173736"/>
          </a:xfrm>
          <a:prstGeom prst="rect">
            <a:avLst/>
          </a:prstGeom>
          <a:noFill/>
          <a:ln>
            <a:noFill/>
          </a:ln>
        </p:spPr>
        <p:txBody>
          <a:bodyPr rtlCol="0" anchor="b" lIns="0" rIns="0" tIns="0" bIns="0" wrap="square"/>
          <a:lstStyle/>
          <a:p>
            <a:pPr algn="ctr"/>
            <a:r>
              <a:rPr sz="850" b="0">
                <a:solidFill>
                  <a:srgbClr val="2A2F38"/>
                </a:solidFill>
                <a:latin typeface="Malgun Gothic"/>
                <a:ea typeface="Malgun Gothic"/>
                <a:cs typeface="Malgun Gothic"/>
              </a:rPr>
              <a:t>로그인 계정 정보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223760" y="3626510"/>
            <a:ext cx="2743200" cy="173736"/>
          </a:xfrm>
          <a:prstGeom prst="rect">
            <a:avLst/>
          </a:prstGeom>
          <a:solidFill>
            <a:srgbClr val="FFFFFF"/>
          </a:solidFill>
          <a:ln w="6350">
            <a:solidFill>
              <a:srgbClr val="1F2A3C"/>
            </a:solidFill>
          </a:ln>
        </p:spPr>
        <p:txBody>
          <a:bodyPr rtlCol="0" anchor="ctr" lIns="45720" rIns="45720" wrap="square"/>
          <a:lstStyle/>
          <a:p>
            <a:pPr algn="ctr"/>
            <a:r>
              <a:rPr sz="850" b="0">
                <a:solidFill>
                  <a:srgbClr val="2A2F38"/>
                </a:solidFill>
                <a:latin typeface="Malgun Gothic"/>
                <a:ea typeface="Malgun Gothic"/>
                <a:cs typeface="Malgun Gothic"/>
              </a:rPr>
              <a:t>7  계정 · CrewRole에 따라 실행할 Application 결정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8595360" y="3984955"/>
            <a:ext cx="2148840" cy="0"/>
          </a:xfrm>
          <a:prstGeom prst="line">
            <a:avLst/>
          </a:prstGeom>
          <a:ln w="12700">
            <a:solidFill>
              <a:srgbClr val="C0561B"/>
            </a:solidFill>
            <a:tailEnd type="triangle" w="sm" len="sm"/>
          </a:ln>
        </p:spPr>
      </p:cxnSp>
      <p:sp>
        <p:nvSpPr>
          <p:cNvPr id="46" name="Rectangle 45"/>
          <p:cNvSpPr/>
          <p:nvPr/>
        </p:nvSpPr>
        <p:spPr>
          <a:xfrm>
            <a:off x="8595360" y="3802075"/>
            <a:ext cx="2148839" cy="173736"/>
          </a:xfrm>
          <a:prstGeom prst="rect">
            <a:avLst/>
          </a:prstGeom>
          <a:noFill/>
          <a:ln>
            <a:noFill/>
          </a:ln>
        </p:spPr>
        <p:txBody>
          <a:bodyPr rtlCol="0" anchor="b" lIns="0" rIns="0" tIns="0" bIns="0" wrap="square"/>
          <a:lstStyle/>
          <a:p>
            <a:pPr algn="ctr"/>
            <a:r>
              <a:rPr sz="850" b="0">
                <a:solidFill>
                  <a:srgbClr val="C0561B"/>
                </a:solidFill>
                <a:latin typeface="Malgun Gothic"/>
                <a:ea typeface="Malgun Gothic"/>
                <a:cs typeface="Malgun Gothic"/>
              </a:rPr>
              <a:t>8  Application 실행 (실행 인자: CrewRole)</a:t>
            </a:r>
          </a:p>
        </p:txBody>
      </p:sp>
      <p:cxnSp>
        <p:nvCxnSpPr>
          <p:cNvPr id="47" name="Connector 46"/>
          <p:cNvCxnSpPr/>
          <p:nvPr/>
        </p:nvCxnSpPr>
        <p:spPr>
          <a:xfrm flipH="1">
            <a:off x="5257800" y="4178808"/>
            <a:ext cx="5486400" cy="0"/>
          </a:xfrm>
          <a:prstGeom prst="line">
            <a:avLst/>
          </a:prstGeom>
          <a:ln w="12700">
            <a:solidFill>
              <a:srgbClr val="1F2A3C"/>
            </a:solidFill>
            <a:tailEnd type="triangle" w="sm" len="sm"/>
          </a:ln>
        </p:spPr>
      </p:cxnSp>
      <p:sp>
        <p:nvSpPr>
          <p:cNvPr id="48" name="Rectangle 47"/>
          <p:cNvSpPr/>
          <p:nvPr/>
        </p:nvSpPr>
        <p:spPr>
          <a:xfrm>
            <a:off x="5257800" y="3995928"/>
            <a:ext cx="5486400" cy="173736"/>
          </a:xfrm>
          <a:prstGeom prst="rect">
            <a:avLst/>
          </a:prstGeom>
          <a:noFill/>
          <a:ln>
            <a:noFill/>
          </a:ln>
        </p:spPr>
        <p:txBody>
          <a:bodyPr rtlCol="0" anchor="b" lIns="0" rIns="0" tIns="0" bIns="0" wrap="square"/>
          <a:lstStyle/>
          <a:p>
            <a:pPr algn="ctr"/>
            <a:r>
              <a:rPr sz="850" b="0">
                <a:solidFill>
                  <a:srgbClr val="2A2F38"/>
                </a:solidFill>
                <a:latin typeface="Malgun Gothic"/>
                <a:ea typeface="Malgun Gothic"/>
                <a:cs typeface="Malgun Gothic"/>
              </a:rPr>
              <a:t>9  Resource 등록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5257800" y="4372660"/>
            <a:ext cx="5486400" cy="0"/>
          </a:xfrm>
          <a:prstGeom prst="line">
            <a:avLst/>
          </a:prstGeom>
          <a:ln w="12700">
            <a:solidFill>
              <a:srgbClr val="1F2A3C"/>
            </a:solidFill>
            <a:prstDash val="dash"/>
            <a:tailEnd type="triangle" w="sm" len="sm"/>
          </a:ln>
        </p:spPr>
      </p:cxnSp>
      <p:sp>
        <p:nvSpPr>
          <p:cNvPr id="50" name="Rectangle 49"/>
          <p:cNvSpPr/>
          <p:nvPr/>
        </p:nvSpPr>
        <p:spPr>
          <a:xfrm>
            <a:off x="5257800" y="4189780"/>
            <a:ext cx="5486400" cy="173736"/>
          </a:xfrm>
          <a:prstGeom prst="rect">
            <a:avLst/>
          </a:prstGeom>
          <a:noFill/>
          <a:ln>
            <a:noFill/>
          </a:ln>
        </p:spPr>
        <p:txBody>
          <a:bodyPr rtlCol="0" anchor="b" lIns="0" rIns="0" tIns="0" bIns="0" wrap="square"/>
          <a:lstStyle/>
          <a:p>
            <a:pPr algn="ctr"/>
            <a:r>
              <a:rPr sz="850" b="0">
                <a:solidFill>
                  <a:srgbClr val="2A2F38"/>
                </a:solidFill>
                <a:latin typeface="Malgun Gothic"/>
                <a:ea typeface="Malgun Gothic"/>
                <a:cs typeface="Malgun Gothic"/>
              </a:rPr>
              <a:t>ResourceID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829800" y="4401921"/>
            <a:ext cx="1828800" cy="173736"/>
          </a:xfrm>
          <a:prstGeom prst="rect">
            <a:avLst/>
          </a:prstGeom>
          <a:solidFill>
            <a:srgbClr val="FFFFFF"/>
          </a:solidFill>
          <a:ln w="6350">
            <a:solidFill>
              <a:srgbClr val="1F2A3C"/>
            </a:solidFill>
          </a:ln>
        </p:spPr>
        <p:txBody>
          <a:bodyPr rtlCol="0" anchor="ctr" lIns="45720" rIns="45720" wrap="square"/>
          <a:lstStyle/>
          <a:p>
            <a:pPr algn="ctr"/>
            <a:r>
              <a:rPr sz="850" b="0">
                <a:solidFill>
                  <a:srgbClr val="2A2F38"/>
                </a:solidFill>
                <a:latin typeface="Malgun Gothic"/>
                <a:ea typeface="Malgun Gothic"/>
                <a:cs typeface="Malgun Gothic"/>
              </a:rPr>
              <a:t>10  CrewRole에 맞는 JSON 로드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829800" y="4595774"/>
            <a:ext cx="1828800" cy="173736"/>
          </a:xfrm>
          <a:prstGeom prst="rect">
            <a:avLst/>
          </a:prstGeom>
          <a:solidFill>
            <a:srgbClr val="FFFFFF"/>
          </a:solidFill>
          <a:ln w="6350">
            <a:solidFill>
              <a:srgbClr val="1F2A3C"/>
            </a:solidFill>
          </a:ln>
        </p:spPr>
        <p:txBody>
          <a:bodyPr rtlCol="0" anchor="ctr" lIns="45720" rIns="45720" wrap="square"/>
          <a:lstStyle/>
          <a:p>
            <a:pPr algn="ctr"/>
            <a:r>
              <a:rPr sz="850" b="0">
                <a:solidFill>
                  <a:srgbClr val="2A2F38"/>
                </a:solidFill>
                <a:latin typeface="Malgun Gothic"/>
                <a:ea typeface="Malgun Gothic"/>
                <a:cs typeface="Malgun Gothic"/>
              </a:rPr>
              <a:t>11  Menu 정보 생성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829800" y="4789627"/>
            <a:ext cx="1828800" cy="173736"/>
          </a:xfrm>
          <a:prstGeom prst="rect">
            <a:avLst/>
          </a:prstGeom>
          <a:solidFill>
            <a:srgbClr val="FFFFFF"/>
          </a:solidFill>
          <a:ln w="6350">
            <a:solidFill>
              <a:srgbClr val="1F2A3C"/>
            </a:solidFill>
          </a:ln>
        </p:spPr>
        <p:txBody>
          <a:bodyPr rtlCol="0" anchor="ctr" lIns="45720" rIns="45720" wrap="square"/>
          <a:lstStyle/>
          <a:p>
            <a:pPr algn="ctr"/>
            <a:r>
              <a:rPr sz="850" b="0">
                <a:solidFill>
                  <a:srgbClr val="2A2F38"/>
                </a:solidFill>
                <a:latin typeface="Malgun Gothic"/>
                <a:ea typeface="Malgun Gothic"/>
                <a:cs typeface="Malgun Gothic"/>
              </a:rPr>
              <a:t>12  SoftButton 정보 생성</a:t>
            </a:r>
          </a:p>
        </p:txBody>
      </p:sp>
      <p:cxnSp>
        <p:nvCxnSpPr>
          <p:cNvPr id="54" name="Connector 53"/>
          <p:cNvCxnSpPr/>
          <p:nvPr/>
        </p:nvCxnSpPr>
        <p:spPr>
          <a:xfrm flipH="1">
            <a:off x="8595360" y="5148072"/>
            <a:ext cx="2148840" cy="0"/>
          </a:xfrm>
          <a:prstGeom prst="line">
            <a:avLst/>
          </a:prstGeom>
          <a:ln w="12700">
            <a:solidFill>
              <a:srgbClr val="C0561B"/>
            </a:solidFill>
            <a:tailEnd type="triangle" w="sm" len="sm"/>
          </a:ln>
        </p:spPr>
      </p:cxnSp>
      <p:sp>
        <p:nvSpPr>
          <p:cNvPr id="55" name="Rectangle 54"/>
          <p:cNvSpPr/>
          <p:nvPr/>
        </p:nvSpPr>
        <p:spPr>
          <a:xfrm>
            <a:off x="8595360" y="4965192"/>
            <a:ext cx="2148839" cy="173736"/>
          </a:xfrm>
          <a:prstGeom prst="rect">
            <a:avLst/>
          </a:prstGeom>
          <a:noFill/>
          <a:ln>
            <a:noFill/>
          </a:ln>
        </p:spPr>
        <p:txBody>
          <a:bodyPr rtlCol="0" anchor="b" lIns="0" rIns="0" tIns="0" bIns="0" wrap="square"/>
          <a:lstStyle/>
          <a:p>
            <a:pPr algn="ctr"/>
            <a:r>
              <a:rPr sz="850" b="0">
                <a:solidFill>
                  <a:srgbClr val="C0561B"/>
                </a:solidFill>
                <a:latin typeface="Malgun Gothic"/>
                <a:ea typeface="Malgun Gothic"/>
                <a:cs typeface="Malgun Gothic"/>
              </a:rPr>
              <a:t>13  Menu / SoftButton 정보 (NGVA Topic)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89520" y="5177332"/>
            <a:ext cx="2011680" cy="173736"/>
          </a:xfrm>
          <a:prstGeom prst="rect">
            <a:avLst/>
          </a:prstGeom>
          <a:solidFill>
            <a:srgbClr val="FFFFFF"/>
          </a:solidFill>
          <a:ln w="6350">
            <a:solidFill>
              <a:srgbClr val="1F2A3C"/>
            </a:solidFill>
          </a:ln>
        </p:spPr>
        <p:txBody>
          <a:bodyPr rtlCol="0" anchor="ctr" lIns="45720" rIns="45720" wrap="square"/>
          <a:lstStyle/>
          <a:p>
            <a:pPr algn="ctr"/>
            <a:r>
              <a:rPr sz="850" b="0">
                <a:solidFill>
                  <a:srgbClr val="2A2F38"/>
                </a:solidFill>
                <a:latin typeface="Malgun Gothic"/>
                <a:ea typeface="Malgun Gothic"/>
                <a:cs typeface="Malgun Gothic"/>
              </a:rPr>
              <a:t>14  정보 저장 · 화면 구성에 반영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2331720" y="5535777"/>
            <a:ext cx="6263640" cy="0"/>
          </a:xfrm>
          <a:prstGeom prst="line">
            <a:avLst/>
          </a:prstGeom>
          <a:ln w="12700">
            <a:solidFill>
              <a:srgbClr val="1F2A3C"/>
            </a:solidFill>
            <a:tailEnd type="triangle" w="sm" len="sm"/>
          </a:ln>
        </p:spPr>
      </p:cxnSp>
      <p:sp>
        <p:nvSpPr>
          <p:cNvPr id="58" name="Rectangle 57"/>
          <p:cNvSpPr/>
          <p:nvPr/>
        </p:nvSpPr>
        <p:spPr>
          <a:xfrm>
            <a:off x="2331720" y="5352897"/>
            <a:ext cx="6263640" cy="173736"/>
          </a:xfrm>
          <a:prstGeom prst="rect">
            <a:avLst/>
          </a:prstGeom>
          <a:noFill/>
          <a:ln>
            <a:noFill/>
          </a:ln>
        </p:spPr>
        <p:txBody>
          <a:bodyPr rtlCol="0" anchor="b" lIns="0" rIns="0" tIns="0" bIns="0" wrap="square"/>
          <a:lstStyle/>
          <a:p>
            <a:pPr algn="ctr"/>
            <a:r>
              <a:rPr sz="850" b="0">
                <a:solidFill>
                  <a:srgbClr val="2A2F38"/>
                </a:solidFill>
                <a:latin typeface="Malgun Gothic"/>
                <a:ea typeface="Malgun Gothic"/>
                <a:cs typeface="Malgun Gothic"/>
              </a:rPr>
              <a:t>15  SoftButton / Menu 입력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8595360" y="5729630"/>
            <a:ext cx="2148840" cy="0"/>
          </a:xfrm>
          <a:prstGeom prst="line">
            <a:avLst/>
          </a:prstGeom>
          <a:ln w="12700">
            <a:solidFill>
              <a:srgbClr val="C0561B"/>
            </a:solidFill>
            <a:headEnd type="triangle" w="sm" len="sm"/>
            <a:tailEnd type="triangle" w="sm" len="sm"/>
          </a:ln>
        </p:spPr>
      </p:cxnSp>
      <p:sp>
        <p:nvSpPr>
          <p:cNvPr id="60" name="Rectangle 59"/>
          <p:cNvSpPr/>
          <p:nvPr/>
        </p:nvSpPr>
        <p:spPr>
          <a:xfrm>
            <a:off x="8595360" y="5546750"/>
            <a:ext cx="2148839" cy="173736"/>
          </a:xfrm>
          <a:prstGeom prst="rect">
            <a:avLst/>
          </a:prstGeom>
          <a:noFill/>
          <a:ln>
            <a:noFill/>
          </a:ln>
        </p:spPr>
        <p:txBody>
          <a:bodyPr rtlCol="0" anchor="b" lIns="0" rIns="0" tIns="0" bIns="0" wrap="square"/>
          <a:lstStyle/>
          <a:p>
            <a:pPr algn="ctr"/>
            <a:r>
              <a:rPr sz="850" b="0">
                <a:solidFill>
                  <a:srgbClr val="C0561B"/>
                </a:solidFill>
                <a:latin typeface="Malgun Gothic"/>
                <a:ea typeface="Malgun Gothic"/>
                <a:cs typeface="Malgun Gothic"/>
              </a:rPr>
              <a:t>Core ↔ Application 이벤트 (NGVA Topic)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8640" y="6053328"/>
            <a:ext cx="45720" cy="329184"/>
          </a:xfrm>
          <a:prstGeom prst="rect">
            <a:avLst/>
          </a:prstGeom>
          <a:solidFill>
            <a:srgbClr val="C0561B"/>
          </a:solidFill>
          <a:ln>
            <a:noFill/>
          </a:ln>
        </p:spPr>
        <p:txBody>
          <a:bodyPr rtlCol="0" anchor="ctr" lIns="36576" rIns="36576" tIns="36576" bIns="36576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13232" y="6053328"/>
            <a:ext cx="10881360" cy="329184"/>
          </a:xfrm>
          <a:prstGeom prst="rect">
            <a:avLst/>
          </a:prstGeom>
          <a:noFill/>
          <a:ln>
            <a:noFill/>
          </a:ln>
        </p:spPr>
        <p:txBody>
          <a:bodyPr rtlCol="0" anchor="ctr" lIns="0" rIns="0" tIns="0" bIns="0" wrap="square"/>
          <a:lstStyle/>
          <a:p>
            <a:pPr algn="l"/>
            <a:r>
              <a:rPr sz="1300" b="0">
                <a:solidFill>
                  <a:srgbClr val="1F2A3C"/>
                </a:solidFill>
                <a:latin typeface="Malgun Gothic"/>
                <a:ea typeface="Malgun Gothic"/>
                <a:cs typeface="Malgun Gothic"/>
              </a:rPr>
              <a:t>로그인</a:t>
            </a:r>
            <a:r>
              <a:rPr sz="1300" b="0">
                <a:solidFill>
                  <a:srgbClr val="C0561B"/>
                </a:solidFill>
                <a:latin typeface="Malgun Gothic"/>
                <a:ea typeface="Malgun Gothic"/>
                <a:cs typeface="Malgun Gothic"/>
              </a:rPr>
              <a:t>   →   </a:t>
            </a:r>
            <a:r>
              <a:rPr sz="1300" b="0">
                <a:solidFill>
                  <a:srgbClr val="1F2A3C"/>
                </a:solidFill>
                <a:latin typeface="Malgun Gothic"/>
                <a:ea typeface="Malgun Gothic"/>
                <a:cs typeface="Malgun Gothic"/>
              </a:rPr>
              <a:t>Application 선택</a:t>
            </a:r>
            <a:r>
              <a:rPr sz="1300" b="0">
                <a:solidFill>
                  <a:srgbClr val="C0561B"/>
                </a:solidFill>
                <a:latin typeface="Malgun Gothic"/>
                <a:ea typeface="Malgun Gothic"/>
                <a:cs typeface="Malgun Gothic"/>
              </a:rPr>
              <a:t>   →   </a:t>
            </a:r>
            <a:r>
              <a:rPr sz="1300" b="0">
                <a:solidFill>
                  <a:srgbClr val="1F2A3C"/>
                </a:solidFill>
                <a:latin typeface="Malgun Gothic"/>
                <a:ea typeface="Malgun Gothic"/>
                <a:cs typeface="Malgun Gothic"/>
              </a:rPr>
              <a:t>CrewRole 기반 UI 구성</a:t>
            </a:r>
            <a:r>
              <a:rPr sz="1300" b="0">
                <a:solidFill>
                  <a:srgbClr val="C0561B"/>
                </a:solidFill>
                <a:latin typeface="Malgun Gothic"/>
                <a:ea typeface="Malgun Gothic"/>
                <a:cs typeface="Malgun Gothic"/>
              </a:rPr>
              <a:t>   →   </a:t>
            </a:r>
            <a:r>
              <a:rPr sz="1300" b="0">
                <a:solidFill>
                  <a:srgbClr val="1F2A3C"/>
                </a:solidFill>
                <a:latin typeface="Malgun Gothic"/>
                <a:ea typeface="Malgun Gothic"/>
                <a:cs typeface="Malgun Gothic"/>
              </a:rPr>
              <a:t>Core / Application 간 NGVA 통신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859536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lIns="0" rIns="0" tIns="0" bIns="0" wrap="square"/>
          <a:lstStyle/>
          <a:p>
            <a:pPr algn="l"/>
            <a:r>
              <a:rPr sz="2400" b="1">
                <a:solidFill>
                  <a:srgbClr val="1F2A3C"/>
                </a:solidFill>
                <a:latin typeface="Malgun Gothic"/>
                <a:ea typeface="Malgun Gothic"/>
                <a:cs typeface="Malgun Gothic"/>
              </a:rPr>
              <a:t>HMI Core 공통 UI 영역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64240" cy="384048"/>
          </a:xfrm>
          <a:prstGeom prst="rect">
            <a:avLst/>
          </a:prstGeom>
          <a:noFill/>
          <a:ln>
            <a:noFill/>
          </a:ln>
        </p:spPr>
        <p:txBody>
          <a:bodyPr rtlCol="0" anchor="t" lIns="0" rIns="0" tIns="0" bIns="0" wrap="square"/>
          <a:lstStyle/>
          <a:p>
            <a:pPr algn="l"/>
            <a:r>
              <a:rPr sz="120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Application 화면 바깥의 StatusBar, SoftButton, 기능 영역 라벨은 모두 HMI Core가 직접 그리고 관리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43584"/>
            <a:ext cx="11091672" cy="0"/>
          </a:xfrm>
          <a:prstGeom prst="line">
            <a:avLst/>
          </a:prstGeom>
          <a:ln w="9525">
            <a:solidFill>
              <a:srgbClr val="C5CAD2"/>
            </a:solidFill>
          </a:ln>
        </p:spPr>
      </p:cxnSp>
      <p:sp>
        <p:nvSpPr>
          <p:cNvPr id="5" name="Rectangle 4"/>
          <p:cNvSpPr/>
          <p:nvPr/>
        </p:nvSpPr>
        <p:spPr>
          <a:xfrm>
            <a:off x="548640" y="6473952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rtlCol="0" anchor="ctr" lIns="0" rIns="0" tIns="0" bIns="0" wrap="square"/>
          <a:lstStyle/>
          <a:p>
            <a:pPr algn="l"/>
            <a:r>
              <a:rPr sz="900" b="0">
                <a:solidFill>
                  <a:srgbClr val="9AA1AC"/>
                </a:solidFill>
                <a:latin typeface="Malgun Gothic"/>
                <a:ea typeface="Malgun Gothic"/>
                <a:cs typeface="Malgun Gothic"/>
              </a:rPr>
              <a:t>GVA HMI 기술설명  ·  NGVA 기반 HMI 구조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25912" y="647395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rtlCol="0" anchor="ctr" lIns="0" rIns="0" tIns="0" bIns="0" wrap="square"/>
          <a:lstStyle/>
          <a:p>
            <a:pPr algn="r"/>
            <a:r>
              <a:rPr sz="900" b="0">
                <a:solidFill>
                  <a:srgbClr val="9AA1AC"/>
                </a:solidFill>
                <a:latin typeface="Malgun Gothic"/>
                <a:ea typeface="Malgun Gothic"/>
                <a:cs typeface="Malgun Gothic"/>
              </a:rPr>
              <a:t>7 / 10</a:t>
            </a:r>
          </a:p>
        </p:txBody>
      </p:sp>
      <p:pic>
        <p:nvPicPr>
          <p:cNvPr id="7" name="Picture 6" descr="hmi_core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7086600" cy="398621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142880" y="1835824"/>
            <a:ext cx="5898118" cy="3403044"/>
          </a:xfrm>
          <a:prstGeom prst="rect">
            <a:avLst/>
          </a:prstGeom>
          <a:solidFill>
            <a:srgbClr val="D9DCE1">
              <a:alpha val="82000"/>
            </a:srgbClr>
          </a:solidFill>
          <a:ln>
            <a:noFill/>
          </a:ln>
        </p:spPr>
        <p:txBody>
          <a:bodyPr rtlCol="0" anchor="ctr" lIns="36576" rIns="36576" tIns="36576" bIns="36576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2880" y="3263026"/>
            <a:ext cx="5898118" cy="548640"/>
          </a:xfrm>
          <a:prstGeom prst="rect">
            <a:avLst/>
          </a:prstGeom>
          <a:noFill/>
          <a:ln>
            <a:noFill/>
          </a:ln>
        </p:spPr>
        <p:txBody>
          <a:bodyPr rtlCol="0" anchor="ctr" lIns="0" rIns="0" tIns="0" bIns="0" wrap="square"/>
          <a:lstStyle/>
          <a:p>
            <a:pPr algn="ctr"/>
            <a:r>
              <a:rPr sz="130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Application 영역</a:t>
            </a:r>
          </a:p>
          <a:p>
            <a:pPr algn="ctr"/>
            <a:r>
              <a:rPr sz="95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HMI Core 관리 대상 아님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6021" y="1470421"/>
            <a:ext cx="7071836" cy="273129"/>
          </a:xfrm>
          <a:prstGeom prst="rect">
            <a:avLst/>
          </a:prstGeom>
          <a:noFill/>
          <a:ln w="22225">
            <a:solidFill>
              <a:srgbClr val="C0561B"/>
            </a:solidFill>
          </a:ln>
        </p:spPr>
        <p:txBody>
          <a:bodyPr rtlCol="0" anchor="ctr" lIns="36576" rIns="36576" tIns="36576" bIns="36576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758315"/>
            <a:ext cx="575786" cy="3476863"/>
          </a:xfrm>
          <a:prstGeom prst="rect">
            <a:avLst/>
          </a:prstGeom>
          <a:noFill/>
          <a:ln w="22225">
            <a:solidFill>
              <a:srgbClr val="C0561B"/>
            </a:solidFill>
          </a:ln>
        </p:spPr>
        <p:txBody>
          <a:bodyPr rtlCol="0" anchor="ctr" lIns="36576" rIns="36576" tIns="36576" bIns="36576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59453" y="1758315"/>
            <a:ext cx="575786" cy="3476863"/>
          </a:xfrm>
          <a:prstGeom prst="rect">
            <a:avLst/>
          </a:prstGeom>
          <a:noFill/>
          <a:ln w="22225">
            <a:solidFill>
              <a:srgbClr val="C0561B"/>
            </a:solidFill>
          </a:ln>
        </p:spPr>
        <p:txBody>
          <a:bodyPr rtlCol="0" anchor="ctr" lIns="36576" rIns="36576" tIns="36576" bIns="36576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1986" y="5242560"/>
            <a:ext cx="6879907" cy="199310"/>
          </a:xfrm>
          <a:prstGeom prst="rect">
            <a:avLst/>
          </a:prstGeom>
          <a:noFill/>
          <a:ln w="22225">
            <a:solidFill>
              <a:srgbClr val="C0561B"/>
            </a:solidFill>
          </a:ln>
        </p:spPr>
        <p:txBody>
          <a:bodyPr rtlCol="0" anchor="ctr" lIns="36576" rIns="36576" tIns="36576" bIns="36576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39190" y="1758315"/>
            <a:ext cx="5905500" cy="66436"/>
          </a:xfrm>
          <a:prstGeom prst="rect">
            <a:avLst/>
          </a:prstGeom>
          <a:noFill/>
          <a:ln w="22225">
            <a:solidFill>
              <a:srgbClr val="C0561B"/>
            </a:solidFill>
          </a:ln>
        </p:spPr>
        <p:txBody>
          <a:bodyPr rtlCol="0" anchor="ctr" lIns="36576" rIns="36576" tIns="36576" bIns="36576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93218" y="1610677"/>
            <a:ext cx="201168" cy="201168"/>
          </a:xfrm>
          <a:prstGeom prst="rect">
            <a:avLst/>
          </a:prstGeom>
          <a:solidFill>
            <a:srgbClr val="C0561B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76788" y="2164318"/>
            <a:ext cx="201168" cy="201168"/>
          </a:xfrm>
          <a:prstGeom prst="rect">
            <a:avLst/>
          </a:prstGeom>
          <a:solidFill>
            <a:srgbClr val="C0561B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25890" y="2164318"/>
            <a:ext cx="201168" cy="201168"/>
          </a:xfrm>
          <a:prstGeom prst="rect">
            <a:avLst/>
          </a:prstGeom>
          <a:solidFill>
            <a:srgbClr val="C0561B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54140" y="5264705"/>
            <a:ext cx="201168" cy="201168"/>
          </a:xfrm>
          <a:prstGeom prst="rect">
            <a:avLst/>
          </a:prstGeom>
          <a:solidFill>
            <a:srgbClr val="C0561B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39577" y="1869043"/>
            <a:ext cx="201168" cy="201168"/>
          </a:xfrm>
          <a:prstGeom prst="rect">
            <a:avLst/>
          </a:prstGeom>
          <a:solidFill>
            <a:srgbClr val="C0561B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513260"/>
            <a:ext cx="7086600" cy="411480"/>
          </a:xfrm>
          <a:prstGeom prst="rect">
            <a:avLst/>
          </a:prstGeom>
          <a:noFill/>
          <a:ln>
            <a:noFill/>
          </a:ln>
        </p:spPr>
        <p:txBody>
          <a:bodyPr rtlCol="0" anchor="t" lIns="0" rIns="0" tIns="0" bIns="0" wrap="square"/>
          <a:lstStyle/>
          <a:p>
            <a:pPr algn="l"/>
            <a:r>
              <a:rPr sz="900" b="0">
                <a:solidFill>
                  <a:srgbClr val="2A2F38"/>
                </a:solidFill>
                <a:latin typeface="Malgun Gothic"/>
                <a:ea typeface="Malgun Gothic"/>
                <a:cs typeface="Malgun Gothic"/>
              </a:rPr>
              <a:t>GVA.HMI.Example.Core 실행 화면 (1920 × 1080)</a:t>
            </a:r>
          </a:p>
          <a:p>
            <a:pPr algn="l"/>
            <a:r>
              <a:rPr sz="90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F1 DRIVE = Selected,  F5 WEAPONS · F9 VIDEO · F12 TEST = Disabled 상태 예시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55279" y="1499616"/>
            <a:ext cx="45720" cy="182880"/>
          </a:xfrm>
          <a:prstGeom prst="rect">
            <a:avLst/>
          </a:prstGeom>
          <a:solidFill>
            <a:srgbClr val="1F2A3C"/>
          </a:solidFill>
          <a:ln>
            <a:noFill/>
          </a:ln>
        </p:spPr>
        <p:txBody>
          <a:bodyPr rtlCol="0" anchor="ctr" lIns="36576" rIns="36576" tIns="36576" bIns="36576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65007" y="1463040"/>
            <a:ext cx="3575304" cy="256032"/>
          </a:xfrm>
          <a:prstGeom prst="rect">
            <a:avLst/>
          </a:prstGeom>
          <a:noFill/>
          <a:ln>
            <a:noFill/>
          </a:ln>
        </p:spPr>
        <p:txBody>
          <a:bodyPr rtlCol="0" anchor="ctr" lIns="0" rIns="0" tIns="0" bIns="0" wrap="square"/>
          <a:lstStyle/>
          <a:p>
            <a:pPr algn="l"/>
            <a:r>
              <a:rPr sz="1200" b="1">
                <a:solidFill>
                  <a:srgbClr val="1F2A3C"/>
                </a:solidFill>
                <a:latin typeface="Malgun Gothic"/>
                <a:ea typeface="Malgun Gothic"/>
                <a:cs typeface="Malgun Gothic"/>
              </a:rPr>
              <a:t>HMI Core가 관리하는 영역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55279" y="1828800"/>
            <a:ext cx="201168" cy="201168"/>
          </a:xfrm>
          <a:prstGeom prst="rect">
            <a:avLst/>
          </a:prstGeom>
          <a:solidFill>
            <a:srgbClr val="C0561B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47888" y="1801368"/>
            <a:ext cx="3392424" cy="228600"/>
          </a:xfrm>
          <a:prstGeom prst="rect">
            <a:avLst/>
          </a:prstGeom>
          <a:noFill/>
          <a:ln>
            <a:noFill/>
          </a:ln>
        </p:spPr>
        <p:txBody>
          <a:bodyPr rtlCol="0" anchor="ctr" lIns="0" rIns="0" tIns="0" bIns="0" wrap="square"/>
          <a:lstStyle/>
          <a:p>
            <a:pPr algn="l"/>
            <a:r>
              <a:rPr sz="1050" b="0">
                <a:solidFill>
                  <a:srgbClr val="2A2F38"/>
                </a:solidFill>
                <a:latin typeface="Malgun Gothic"/>
                <a:ea typeface="Malgun Gothic"/>
                <a:cs typeface="Malgun Gothic"/>
              </a:rPr>
              <a:t>StatusBar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47888" y="2020824"/>
            <a:ext cx="3392424" cy="201168"/>
          </a:xfrm>
          <a:prstGeom prst="rect">
            <a:avLst/>
          </a:prstGeom>
          <a:noFill/>
          <a:ln>
            <a:noFill/>
          </a:ln>
        </p:spPr>
        <p:txBody>
          <a:bodyPr rtlCol="0" anchor="t" lIns="0" rIns="0" tIns="0" bIns="0" wrap="square"/>
          <a:lstStyle/>
          <a:p>
            <a:pPr algn="l"/>
            <a:r>
              <a:rPr sz="85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시간·방위각·좌표·경보. Application과 독립적으로 Core가 갱신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55279" y="2286000"/>
            <a:ext cx="201168" cy="201168"/>
          </a:xfrm>
          <a:prstGeom prst="rect">
            <a:avLst/>
          </a:prstGeom>
          <a:solidFill>
            <a:srgbClr val="C0561B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47888" y="2258568"/>
            <a:ext cx="3392424" cy="228600"/>
          </a:xfrm>
          <a:prstGeom prst="rect">
            <a:avLst/>
          </a:prstGeom>
          <a:noFill/>
          <a:ln>
            <a:noFill/>
          </a:ln>
        </p:spPr>
        <p:txBody>
          <a:bodyPr rtlCol="0" anchor="ctr" lIns="0" rIns="0" tIns="0" bIns="0" wrap="square"/>
          <a:lstStyle/>
          <a:p>
            <a:pPr algn="l"/>
            <a:r>
              <a:rPr sz="1050" b="0">
                <a:solidFill>
                  <a:srgbClr val="2A2F38"/>
                </a:solidFill>
                <a:latin typeface="Malgun Gothic"/>
                <a:ea typeface="Malgun Gothic"/>
                <a:cs typeface="Malgun Gothic"/>
              </a:rPr>
              <a:t>좌측 SoftButton  F1–F6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55279" y="2578608"/>
            <a:ext cx="201168" cy="201168"/>
          </a:xfrm>
          <a:prstGeom prst="rect">
            <a:avLst/>
          </a:prstGeom>
          <a:solidFill>
            <a:srgbClr val="C0561B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47888" y="2551176"/>
            <a:ext cx="3392424" cy="228600"/>
          </a:xfrm>
          <a:prstGeom prst="rect">
            <a:avLst/>
          </a:prstGeom>
          <a:noFill/>
          <a:ln>
            <a:noFill/>
          </a:ln>
        </p:spPr>
        <p:txBody>
          <a:bodyPr rtlCol="0" anchor="ctr" lIns="0" rIns="0" tIns="0" bIns="0" wrap="square"/>
          <a:lstStyle/>
          <a:p>
            <a:pPr algn="l"/>
            <a:r>
              <a:rPr sz="1050" b="0">
                <a:solidFill>
                  <a:srgbClr val="2A2F38"/>
                </a:solidFill>
                <a:latin typeface="Malgun Gothic"/>
                <a:ea typeface="Malgun Gothic"/>
                <a:cs typeface="Malgun Gothic"/>
              </a:rPr>
              <a:t>우측 SoftButton  F7–F12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55279" y="2871215"/>
            <a:ext cx="201168" cy="201168"/>
          </a:xfrm>
          <a:prstGeom prst="rect">
            <a:avLst/>
          </a:prstGeom>
          <a:solidFill>
            <a:srgbClr val="C0561B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47888" y="2843784"/>
            <a:ext cx="3392424" cy="228600"/>
          </a:xfrm>
          <a:prstGeom prst="rect">
            <a:avLst/>
          </a:prstGeom>
          <a:noFill/>
          <a:ln>
            <a:noFill/>
          </a:ln>
        </p:spPr>
        <p:txBody>
          <a:bodyPr rtlCol="0" anchor="ctr" lIns="0" rIns="0" tIns="0" bIns="0" wrap="square"/>
          <a:lstStyle/>
          <a:p>
            <a:pPr algn="l"/>
            <a:r>
              <a:rPr sz="1050" b="0">
                <a:solidFill>
                  <a:srgbClr val="2A2F38"/>
                </a:solidFill>
                <a:latin typeface="Malgun Gothic"/>
                <a:ea typeface="Malgun Gothic"/>
                <a:cs typeface="Malgun Gothic"/>
              </a:rPr>
              <a:t>공통 기능 버튼  F13–F20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47888" y="3063239"/>
            <a:ext cx="3392424" cy="201168"/>
          </a:xfrm>
          <a:prstGeom prst="rect">
            <a:avLst/>
          </a:prstGeom>
          <a:noFill/>
          <a:ln>
            <a:noFill/>
          </a:ln>
        </p:spPr>
        <p:txBody>
          <a:bodyPr rtlCol="0" anchor="t" lIns="0" rIns="0" tIns="0" bIns="0" wrap="square"/>
          <a:lstStyle/>
          <a:p>
            <a:pPr algn="l"/>
            <a:r>
              <a:rPr sz="85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UP · ALARMS · ACK · ENTER 등 고정 기능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55279" y="3328415"/>
            <a:ext cx="201168" cy="201168"/>
          </a:xfrm>
          <a:prstGeom prst="rect">
            <a:avLst/>
          </a:prstGeom>
          <a:solidFill>
            <a:srgbClr val="C0561B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47888" y="3300984"/>
            <a:ext cx="3392424" cy="228600"/>
          </a:xfrm>
          <a:prstGeom prst="rect">
            <a:avLst/>
          </a:prstGeom>
          <a:noFill/>
          <a:ln>
            <a:noFill/>
          </a:ln>
        </p:spPr>
        <p:txBody>
          <a:bodyPr rtlCol="0" anchor="ctr" lIns="0" rIns="0" tIns="0" bIns="0" wrap="square"/>
          <a:lstStyle/>
          <a:p>
            <a:pPr algn="l"/>
            <a:r>
              <a:rPr sz="1050" b="0">
                <a:solidFill>
                  <a:srgbClr val="2A2F38"/>
                </a:solidFill>
                <a:latin typeface="Malgun Gothic"/>
                <a:ea typeface="Malgun Gothic"/>
                <a:cs typeface="Malgun Gothic"/>
              </a:rPr>
              <a:t>기능 영역 라벨  ×8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47888" y="3520439"/>
            <a:ext cx="3392424" cy="201168"/>
          </a:xfrm>
          <a:prstGeom prst="rect">
            <a:avLst/>
          </a:prstGeom>
          <a:noFill/>
          <a:ln>
            <a:noFill/>
          </a:ln>
        </p:spPr>
        <p:txBody>
          <a:bodyPr rtlCol="0" anchor="t" lIns="0" rIns="0" tIns="0" bIns="0" wrap="square"/>
          <a:lstStyle/>
          <a:p>
            <a:pPr algn="l"/>
            <a:r>
              <a:rPr sz="85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현재 선택된 기능 영역 표시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955279" y="3739896"/>
            <a:ext cx="45720" cy="182880"/>
          </a:xfrm>
          <a:prstGeom prst="rect">
            <a:avLst/>
          </a:prstGeom>
          <a:solidFill>
            <a:srgbClr val="1F2A3C"/>
          </a:solidFill>
          <a:ln>
            <a:noFill/>
          </a:ln>
        </p:spPr>
        <p:txBody>
          <a:bodyPr rtlCol="0" anchor="ctr" lIns="36576" rIns="36576" tIns="36576" bIns="36576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65007" y="3703320"/>
            <a:ext cx="3575304" cy="256032"/>
          </a:xfrm>
          <a:prstGeom prst="rect">
            <a:avLst/>
          </a:prstGeom>
          <a:noFill/>
          <a:ln>
            <a:noFill/>
          </a:ln>
        </p:spPr>
        <p:txBody>
          <a:bodyPr rtlCol="0" anchor="ctr" lIns="0" rIns="0" tIns="0" bIns="0" wrap="square"/>
          <a:lstStyle/>
          <a:p>
            <a:pPr algn="l"/>
            <a:r>
              <a:rPr sz="1200" b="1">
                <a:solidFill>
                  <a:srgbClr val="1F2A3C"/>
                </a:solidFill>
                <a:latin typeface="Malgun Gothic"/>
                <a:ea typeface="Malgun Gothic"/>
                <a:cs typeface="Malgun Gothic"/>
              </a:rPr>
              <a:t>SoftButton 정보 반영 흐름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955279" y="4069080"/>
            <a:ext cx="566928" cy="274320"/>
          </a:xfrm>
          <a:prstGeom prst="rect">
            <a:avLst/>
          </a:prstGeom>
          <a:solidFill>
            <a:srgbClr val="EEF0F3"/>
          </a:solidFill>
          <a:ln>
            <a:noFill/>
          </a:ln>
        </p:spPr>
        <p:txBody>
          <a:bodyPr rtlCol="0" anchor="ctr" lIns="45720" rIns="45720" wrap="square"/>
          <a:lstStyle/>
          <a:p>
            <a:pPr algn="ctr"/>
            <a:r>
              <a:rPr sz="850" b="0">
                <a:solidFill>
                  <a:srgbClr val="2A2F38"/>
                </a:solidFill>
                <a:latin typeface="Malgun Gothic"/>
                <a:ea typeface="Malgun Gothic"/>
                <a:cs typeface="Malgun Gothic"/>
              </a:rPr>
              <a:t>F1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073384" y="4069080"/>
            <a:ext cx="566928" cy="274320"/>
          </a:xfrm>
          <a:prstGeom prst="rect">
            <a:avLst/>
          </a:prstGeom>
          <a:solidFill>
            <a:srgbClr val="EEF0F3"/>
          </a:solidFill>
          <a:ln>
            <a:noFill/>
          </a:ln>
        </p:spPr>
        <p:txBody>
          <a:bodyPr rtlCol="0" anchor="ctr" lIns="45720" rIns="45720" wrap="square"/>
          <a:lstStyle/>
          <a:p>
            <a:pPr algn="ctr"/>
            <a:r>
              <a:rPr sz="850" b="0">
                <a:solidFill>
                  <a:srgbClr val="2A2F38"/>
                </a:solidFill>
                <a:latin typeface="Malgun Gothic"/>
                <a:ea typeface="Malgun Gothic"/>
                <a:cs typeface="Malgun Gothic"/>
              </a:rPr>
              <a:t>F7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55279" y="4398264"/>
            <a:ext cx="566928" cy="274320"/>
          </a:xfrm>
          <a:prstGeom prst="rect">
            <a:avLst/>
          </a:prstGeom>
          <a:solidFill>
            <a:srgbClr val="EEF0F3"/>
          </a:solidFill>
          <a:ln>
            <a:noFill/>
          </a:ln>
        </p:spPr>
        <p:txBody>
          <a:bodyPr rtlCol="0" anchor="ctr" lIns="45720" rIns="45720" wrap="square"/>
          <a:lstStyle/>
          <a:p>
            <a:pPr algn="ctr"/>
            <a:r>
              <a:rPr sz="850" b="0">
                <a:solidFill>
                  <a:srgbClr val="2A2F38"/>
                </a:solidFill>
                <a:latin typeface="Malgun Gothic"/>
                <a:ea typeface="Malgun Gothic"/>
                <a:cs typeface="Malgun Gothic"/>
              </a:rPr>
              <a:t>F2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073384" y="4398264"/>
            <a:ext cx="566928" cy="274320"/>
          </a:xfrm>
          <a:prstGeom prst="rect">
            <a:avLst/>
          </a:prstGeom>
          <a:solidFill>
            <a:srgbClr val="EEF0F3"/>
          </a:solidFill>
          <a:ln>
            <a:noFill/>
          </a:ln>
        </p:spPr>
        <p:txBody>
          <a:bodyPr rtlCol="0" anchor="ctr" lIns="45720" rIns="45720" wrap="square"/>
          <a:lstStyle/>
          <a:p>
            <a:pPr algn="ctr"/>
            <a:r>
              <a:rPr sz="850" b="0">
                <a:solidFill>
                  <a:srgbClr val="2A2F38"/>
                </a:solidFill>
                <a:latin typeface="Malgun Gothic"/>
                <a:ea typeface="Malgun Gothic"/>
                <a:cs typeface="Malgun Gothic"/>
              </a:rPr>
              <a:t>F8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955279" y="4727448"/>
            <a:ext cx="566928" cy="274320"/>
          </a:xfrm>
          <a:prstGeom prst="rect">
            <a:avLst/>
          </a:prstGeom>
          <a:solidFill>
            <a:srgbClr val="EEF0F3"/>
          </a:solidFill>
          <a:ln>
            <a:noFill/>
          </a:ln>
        </p:spPr>
        <p:txBody>
          <a:bodyPr rtlCol="0" anchor="ctr" lIns="45720" rIns="45720" wrap="square"/>
          <a:lstStyle/>
          <a:p>
            <a:pPr algn="ctr"/>
            <a:r>
              <a:rPr sz="850" b="0">
                <a:solidFill>
                  <a:srgbClr val="2A2F38"/>
                </a:solidFill>
                <a:latin typeface="Malgun Gothic"/>
                <a:ea typeface="Malgun Gothic"/>
                <a:cs typeface="Malgun Gothic"/>
              </a:rPr>
              <a:t>F3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073384" y="4727448"/>
            <a:ext cx="566928" cy="274320"/>
          </a:xfrm>
          <a:prstGeom prst="rect">
            <a:avLst/>
          </a:prstGeom>
          <a:solidFill>
            <a:srgbClr val="EEF0F3"/>
          </a:solidFill>
          <a:ln>
            <a:noFill/>
          </a:ln>
        </p:spPr>
        <p:txBody>
          <a:bodyPr rtlCol="0" anchor="ctr" lIns="45720" rIns="45720" wrap="square"/>
          <a:lstStyle/>
          <a:p>
            <a:pPr algn="ctr"/>
            <a:r>
              <a:rPr sz="850" b="0">
                <a:solidFill>
                  <a:srgbClr val="2A2F38"/>
                </a:solidFill>
                <a:latin typeface="Malgun Gothic"/>
                <a:ea typeface="Malgun Gothic"/>
                <a:cs typeface="Malgun Gothic"/>
              </a:rPr>
              <a:t>F9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955279" y="5056632"/>
            <a:ext cx="566928" cy="274320"/>
          </a:xfrm>
          <a:prstGeom prst="rect">
            <a:avLst/>
          </a:prstGeom>
          <a:solidFill>
            <a:srgbClr val="EEF0F3"/>
          </a:solidFill>
          <a:ln>
            <a:noFill/>
          </a:ln>
        </p:spPr>
        <p:txBody>
          <a:bodyPr rtlCol="0" anchor="ctr" lIns="45720" rIns="45720" wrap="square"/>
          <a:lstStyle/>
          <a:p>
            <a:pPr algn="ctr"/>
            <a:r>
              <a:rPr sz="850" b="0">
                <a:solidFill>
                  <a:srgbClr val="2A2F38"/>
                </a:solidFill>
                <a:latin typeface="Malgun Gothic"/>
                <a:ea typeface="Malgun Gothic"/>
                <a:cs typeface="Malgun Gothic"/>
              </a:rPr>
              <a:t>F4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073384" y="5056632"/>
            <a:ext cx="566928" cy="274320"/>
          </a:xfrm>
          <a:prstGeom prst="rect">
            <a:avLst/>
          </a:prstGeom>
          <a:solidFill>
            <a:srgbClr val="EEF0F3"/>
          </a:solidFill>
          <a:ln>
            <a:noFill/>
          </a:ln>
        </p:spPr>
        <p:txBody>
          <a:bodyPr rtlCol="0" anchor="ctr" lIns="45720" rIns="45720" wrap="square"/>
          <a:lstStyle/>
          <a:p>
            <a:pPr algn="ctr"/>
            <a:r>
              <a:rPr sz="850" b="0">
                <a:solidFill>
                  <a:srgbClr val="2A2F38"/>
                </a:solidFill>
                <a:latin typeface="Malgun Gothic"/>
                <a:ea typeface="Malgun Gothic"/>
                <a:cs typeface="Malgun Gothic"/>
              </a:rPr>
              <a:t>F10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955279" y="5385816"/>
            <a:ext cx="566928" cy="274320"/>
          </a:xfrm>
          <a:prstGeom prst="rect">
            <a:avLst/>
          </a:prstGeom>
          <a:solidFill>
            <a:srgbClr val="EEF0F3"/>
          </a:solidFill>
          <a:ln>
            <a:noFill/>
          </a:ln>
        </p:spPr>
        <p:txBody>
          <a:bodyPr rtlCol="0" anchor="ctr" lIns="45720" rIns="45720" wrap="square"/>
          <a:lstStyle/>
          <a:p>
            <a:pPr algn="ctr"/>
            <a:r>
              <a:rPr sz="850" b="0">
                <a:solidFill>
                  <a:srgbClr val="2A2F38"/>
                </a:solidFill>
                <a:latin typeface="Malgun Gothic"/>
                <a:ea typeface="Malgun Gothic"/>
                <a:cs typeface="Malgun Gothic"/>
              </a:rPr>
              <a:t>F5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1073384" y="5385816"/>
            <a:ext cx="566928" cy="274320"/>
          </a:xfrm>
          <a:prstGeom prst="rect">
            <a:avLst/>
          </a:prstGeom>
          <a:solidFill>
            <a:srgbClr val="EEF0F3"/>
          </a:solidFill>
          <a:ln>
            <a:noFill/>
          </a:ln>
        </p:spPr>
        <p:txBody>
          <a:bodyPr rtlCol="0" anchor="ctr" lIns="45720" rIns="45720" wrap="square"/>
          <a:lstStyle/>
          <a:p>
            <a:pPr algn="ctr"/>
            <a:r>
              <a:rPr sz="850" b="0">
                <a:solidFill>
                  <a:srgbClr val="2A2F38"/>
                </a:solidFill>
                <a:latin typeface="Malgun Gothic"/>
                <a:ea typeface="Malgun Gothic"/>
                <a:cs typeface="Malgun Gothic"/>
              </a:rPr>
              <a:t>F11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55279" y="5715000"/>
            <a:ext cx="566928" cy="274320"/>
          </a:xfrm>
          <a:prstGeom prst="rect">
            <a:avLst/>
          </a:prstGeom>
          <a:solidFill>
            <a:srgbClr val="EEF0F3"/>
          </a:solidFill>
          <a:ln>
            <a:noFill/>
          </a:ln>
        </p:spPr>
        <p:txBody>
          <a:bodyPr rtlCol="0" anchor="ctr" lIns="45720" rIns="45720" wrap="square"/>
          <a:lstStyle/>
          <a:p>
            <a:pPr algn="ctr"/>
            <a:r>
              <a:rPr sz="850" b="0">
                <a:solidFill>
                  <a:srgbClr val="2A2F38"/>
                </a:solidFill>
                <a:latin typeface="Malgun Gothic"/>
                <a:ea typeface="Malgun Gothic"/>
                <a:cs typeface="Malgun Gothic"/>
              </a:rPr>
              <a:t>F6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1073384" y="5715000"/>
            <a:ext cx="566928" cy="274320"/>
          </a:xfrm>
          <a:prstGeom prst="rect">
            <a:avLst/>
          </a:prstGeom>
          <a:solidFill>
            <a:srgbClr val="EEF0F3"/>
          </a:solidFill>
          <a:ln>
            <a:noFill/>
          </a:ln>
        </p:spPr>
        <p:txBody>
          <a:bodyPr rtlCol="0" anchor="ctr" lIns="45720" rIns="45720" wrap="square"/>
          <a:lstStyle/>
          <a:p>
            <a:pPr algn="ctr"/>
            <a:r>
              <a:rPr sz="850" b="0">
                <a:solidFill>
                  <a:srgbClr val="2A2F38"/>
                </a:solidFill>
                <a:latin typeface="Malgun Gothic"/>
                <a:ea typeface="Malgun Gothic"/>
                <a:cs typeface="Malgun Gothic"/>
              </a:rPr>
              <a:t>F12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796528" y="4069080"/>
            <a:ext cx="2002536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1F2A3C"/>
            </a:solidFill>
          </a:ln>
        </p:spPr>
        <p:txBody>
          <a:bodyPr rtlCol="0" anchor="ctr" lIns="45720" rIns="45720" wrap="square"/>
          <a:lstStyle/>
          <a:p>
            <a:pPr algn="ctr"/>
            <a:r>
              <a:rPr sz="1000" b="0">
                <a:solidFill>
                  <a:srgbClr val="2A2F38"/>
                </a:solidFill>
                <a:latin typeface="Malgun Gothic"/>
                <a:ea typeface="Malgun Gothic"/>
                <a:cs typeface="Malgun Gothic"/>
              </a:rPr>
              <a:t>HMI Application</a:t>
            </a:r>
          </a:p>
          <a:p>
            <a:pPr algn="ctr"/>
            <a:r>
              <a:rPr sz="80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SoftButton 정보 생성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797796" y="4453128"/>
            <a:ext cx="0" cy="438912"/>
          </a:xfrm>
          <a:prstGeom prst="line">
            <a:avLst/>
          </a:prstGeom>
          <a:ln w="15875">
            <a:solidFill>
              <a:srgbClr val="C0561B"/>
            </a:solidFill>
            <a:tailEnd type="triangle" w="sm" len="sm"/>
          </a:ln>
        </p:spPr>
      </p:cxnSp>
      <p:sp>
        <p:nvSpPr>
          <p:cNvPr id="52" name="Rectangle 51"/>
          <p:cNvSpPr/>
          <p:nvPr/>
        </p:nvSpPr>
        <p:spPr>
          <a:xfrm>
            <a:off x="9852660" y="4507992"/>
            <a:ext cx="1001268" cy="329184"/>
          </a:xfrm>
          <a:prstGeom prst="rect">
            <a:avLst/>
          </a:prstGeom>
          <a:noFill/>
          <a:ln>
            <a:noFill/>
          </a:ln>
        </p:spPr>
        <p:txBody>
          <a:bodyPr rtlCol="0" anchor="t" lIns="0" rIns="0" tIns="0" bIns="0" wrap="square"/>
          <a:lstStyle/>
          <a:p>
            <a:pPr algn="l"/>
            <a:r>
              <a:rPr sz="80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SoftButton Information</a:t>
            </a:r>
          </a:p>
          <a:p>
            <a:pPr algn="l"/>
            <a:r>
              <a:rPr sz="800" b="0">
                <a:solidFill>
                  <a:srgbClr val="C0561B"/>
                </a:solidFill>
                <a:latin typeface="Malgun Gothic"/>
                <a:ea typeface="Malgun Gothic"/>
                <a:cs typeface="Malgun Gothic"/>
              </a:rPr>
              <a:t>NGVA Topic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796528" y="4892040"/>
            <a:ext cx="2002536" cy="384048"/>
          </a:xfrm>
          <a:prstGeom prst="rect">
            <a:avLst/>
          </a:prstGeom>
          <a:solidFill>
            <a:srgbClr val="FFFFFF"/>
          </a:solidFill>
          <a:ln w="15875">
            <a:solidFill>
              <a:srgbClr val="1F2A3C"/>
            </a:solidFill>
          </a:ln>
        </p:spPr>
        <p:txBody>
          <a:bodyPr rtlCol="0" anchor="ctr" lIns="45720" rIns="45720" wrap="square"/>
          <a:lstStyle/>
          <a:p>
            <a:pPr algn="ctr"/>
            <a:r>
              <a:rPr sz="1050" b="0">
                <a:solidFill>
                  <a:srgbClr val="1F2A3C"/>
                </a:solidFill>
                <a:latin typeface="Malgun Gothic"/>
                <a:ea typeface="Malgun Gothic"/>
                <a:cs typeface="Malgun Gothic"/>
              </a:rPr>
              <a:t>HMI Core</a:t>
            </a:r>
          </a:p>
          <a:p>
            <a:pPr algn="ctr"/>
            <a:r>
              <a:rPr sz="80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저장 · 현재 화면에 반영</a:t>
            </a:r>
          </a:p>
        </p:txBody>
      </p:sp>
      <p:cxnSp>
        <p:nvCxnSpPr>
          <p:cNvPr id="54" name="Connector 53"/>
          <p:cNvCxnSpPr/>
          <p:nvPr/>
        </p:nvCxnSpPr>
        <p:spPr>
          <a:xfrm flipH="1">
            <a:off x="8558783" y="5084064"/>
            <a:ext cx="237745" cy="0"/>
          </a:xfrm>
          <a:prstGeom prst="line">
            <a:avLst/>
          </a:prstGeom>
          <a:ln w="15875">
            <a:solidFill>
              <a:srgbClr val="C0561B"/>
            </a:solidFill>
            <a:tailEnd type="triangle" w="sm" len="sm"/>
          </a:ln>
        </p:spPr>
      </p:cxnSp>
      <p:cxnSp>
        <p:nvCxnSpPr>
          <p:cNvPr id="55" name="Connector 54"/>
          <p:cNvCxnSpPr/>
          <p:nvPr/>
        </p:nvCxnSpPr>
        <p:spPr>
          <a:xfrm>
            <a:off x="10799063" y="5084064"/>
            <a:ext cx="237745" cy="0"/>
          </a:xfrm>
          <a:prstGeom prst="line">
            <a:avLst/>
          </a:prstGeom>
          <a:ln w="15875">
            <a:solidFill>
              <a:srgbClr val="C0561B"/>
            </a:solidFill>
            <a:tailEnd type="triangle" w="sm" len="sm"/>
          </a:ln>
        </p:spPr>
      </p:cxnSp>
      <p:sp>
        <p:nvSpPr>
          <p:cNvPr id="56" name="Rectangle 55"/>
          <p:cNvSpPr/>
          <p:nvPr/>
        </p:nvSpPr>
        <p:spPr>
          <a:xfrm>
            <a:off x="8705088" y="5394960"/>
            <a:ext cx="2185416" cy="566928"/>
          </a:xfrm>
          <a:prstGeom prst="rect">
            <a:avLst/>
          </a:prstGeom>
          <a:noFill/>
          <a:ln>
            <a:noFill/>
          </a:ln>
        </p:spPr>
        <p:txBody>
          <a:bodyPr rtlCol="0" anchor="t" lIns="0" rIns="0" tIns="0" bIns="0" wrap="square"/>
          <a:lstStyle/>
          <a:p>
            <a:pPr algn="ctr"/>
            <a:r>
              <a:rPr sz="900" b="0">
                <a:solidFill>
                  <a:srgbClr val="2A2F38"/>
                </a:solidFill>
                <a:latin typeface="Malgun Gothic"/>
                <a:ea typeface="Malgun Gothic"/>
                <a:cs typeface="Malgun Gothic"/>
              </a:rPr>
              <a:t>Left / Right SoftButton UI</a:t>
            </a:r>
          </a:p>
          <a:p>
            <a:pPr algn="ctr"/>
            <a:r>
              <a:rPr sz="900" b="0">
                <a:solidFill>
                  <a:srgbClr val="C0561B"/>
                </a:solidFill>
                <a:latin typeface="Malgun Gothic"/>
                <a:ea typeface="Malgun Gothic"/>
                <a:cs typeface="Malgun Gothic"/>
              </a:rPr>
              <a:t>좌 6 + 우 6 = 12개</a:t>
            </a:r>
          </a:p>
          <a:p>
            <a:pPr algn="ctr"/>
            <a:r>
              <a:rPr sz="75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상태: Selected · Enabled · Disabled · Hidden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48640" y="6053328"/>
            <a:ext cx="45720" cy="329184"/>
          </a:xfrm>
          <a:prstGeom prst="rect">
            <a:avLst/>
          </a:prstGeom>
          <a:solidFill>
            <a:srgbClr val="C0561B"/>
          </a:solidFill>
          <a:ln>
            <a:noFill/>
          </a:ln>
        </p:spPr>
        <p:txBody>
          <a:bodyPr rtlCol="0" anchor="ctr" lIns="36576" rIns="36576" tIns="36576" bIns="36576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3232" y="6053328"/>
            <a:ext cx="10927080" cy="329184"/>
          </a:xfrm>
          <a:prstGeom prst="rect">
            <a:avLst/>
          </a:prstGeom>
          <a:noFill/>
          <a:ln>
            <a:noFill/>
          </a:ln>
        </p:spPr>
        <p:txBody>
          <a:bodyPr rtlCol="0" anchor="ctr" lIns="0" rIns="0" tIns="0" bIns="0" wrap="square"/>
          <a:lstStyle/>
          <a:p>
            <a:pPr algn="l"/>
            <a:r>
              <a:rPr sz="1300" b="0">
                <a:solidFill>
                  <a:srgbClr val="1F2A3C"/>
                </a:solidFill>
                <a:latin typeface="Malgun Gothic"/>
                <a:ea typeface="Malgun Gothic"/>
                <a:cs typeface="Malgun Gothic"/>
              </a:rPr>
              <a:t>화면에서 중앙 Application 영역을 제외한 나머지는 모두 HMI Core 영역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859536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lIns="0" rIns="0" tIns="0" bIns="0" wrap="square"/>
          <a:lstStyle/>
          <a:p>
            <a:pPr algn="l"/>
            <a:r>
              <a:rPr sz="2400" b="1">
                <a:solidFill>
                  <a:srgbClr val="1F2A3C"/>
                </a:solidFill>
                <a:latin typeface="Malgun Gothic"/>
                <a:ea typeface="Malgun Gothic"/>
                <a:cs typeface="Malgun Gothic"/>
              </a:rPr>
              <a:t>Application 화면 및 사용자 입력 처리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64240" cy="384048"/>
          </a:xfrm>
          <a:prstGeom prst="rect">
            <a:avLst/>
          </a:prstGeom>
          <a:noFill/>
          <a:ln>
            <a:noFill/>
          </a:ln>
        </p:spPr>
        <p:txBody>
          <a:bodyPr rtlCol="0" anchor="t" lIns="0" rIns="0" tIns="0" bIns="0" wrap="square"/>
          <a:lstStyle/>
          <a:p>
            <a:pPr algn="l"/>
            <a:r>
              <a:rPr sz="120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Application은 중앙 Content 영역만 사용하고, 사용자 입력은 HMI Core → NGVA Topic을 거쳐 Callback으로 수신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43584"/>
            <a:ext cx="11091672" cy="0"/>
          </a:xfrm>
          <a:prstGeom prst="line">
            <a:avLst/>
          </a:prstGeom>
          <a:ln w="9525">
            <a:solidFill>
              <a:srgbClr val="C5CAD2"/>
            </a:solidFill>
          </a:ln>
        </p:spPr>
      </p:cxnSp>
      <p:sp>
        <p:nvSpPr>
          <p:cNvPr id="5" name="Rectangle 4"/>
          <p:cNvSpPr/>
          <p:nvPr/>
        </p:nvSpPr>
        <p:spPr>
          <a:xfrm>
            <a:off x="548640" y="6473952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rtlCol="0" anchor="ctr" lIns="0" rIns="0" tIns="0" bIns="0" wrap="square"/>
          <a:lstStyle/>
          <a:p>
            <a:pPr algn="l"/>
            <a:r>
              <a:rPr sz="900" b="0">
                <a:solidFill>
                  <a:srgbClr val="9AA1AC"/>
                </a:solidFill>
                <a:latin typeface="Malgun Gothic"/>
                <a:ea typeface="Malgun Gothic"/>
                <a:cs typeface="Malgun Gothic"/>
              </a:rPr>
              <a:t>GVA HMI 기술설명  ·  NGVA 기반 HMI 구조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25912" y="647395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rtlCol="0" anchor="ctr" lIns="0" rIns="0" tIns="0" bIns="0" wrap="square"/>
          <a:lstStyle/>
          <a:p>
            <a:pPr algn="r"/>
            <a:r>
              <a:rPr sz="900" b="0">
                <a:solidFill>
                  <a:srgbClr val="9AA1AC"/>
                </a:solidFill>
                <a:latin typeface="Malgun Gothic"/>
                <a:ea typeface="Malgun Gothic"/>
                <a:cs typeface="Malgun Gothic"/>
              </a:rPr>
              <a:t>8 / 10</a:t>
            </a:r>
          </a:p>
        </p:txBody>
      </p:sp>
      <p:pic>
        <p:nvPicPr>
          <p:cNvPr id="7" name="Picture 6" descr="hmi_core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5257800" cy="295751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1463040"/>
            <a:ext cx="5257800" cy="276582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txBody>
          <a:bodyPr rtlCol="0" anchor="ctr" lIns="36576" rIns="36576" tIns="36576" bIns="36576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4264461"/>
            <a:ext cx="5257800" cy="156090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txBody>
          <a:bodyPr rtlCol="0" anchor="ctr" lIns="36576" rIns="36576" tIns="36576" bIns="36576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739622"/>
            <a:ext cx="440888" cy="2524839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txBody>
          <a:bodyPr rtlCol="0" anchor="ctr" lIns="36576" rIns="36576" tIns="36576" bIns="36576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65551" y="1739622"/>
            <a:ext cx="440888" cy="2524839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txBody>
          <a:bodyPr rtlCol="0" anchor="ctr" lIns="36576" rIns="36576" tIns="36576" bIns="36576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89528" y="1739622"/>
            <a:ext cx="4376023" cy="2524839"/>
          </a:xfrm>
          <a:prstGeom prst="rect">
            <a:avLst/>
          </a:prstGeom>
          <a:solidFill>
            <a:srgbClr val="F5F6F8"/>
          </a:solidFill>
          <a:ln w="28575">
            <a:solidFill>
              <a:srgbClr val="C0561B"/>
            </a:solidFill>
          </a:ln>
        </p:spPr>
        <p:txBody>
          <a:bodyPr rtlCol="0" anchor="ctr" lIns="36576" rIns="36576" tIns="36576" bIns="36576" wrap="square"/>
          <a:lstStyle/>
          <a:p>
            <a:pPr algn="ctr"/>
            <a:r>
              <a:rPr sz="120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[Application 화면 캡처 삽입 영역]</a:t>
            </a:r>
          </a:p>
          <a:p>
            <a:pPr algn="ctr"/>
            <a:r>
              <a:rPr sz="900" b="0">
                <a:solidFill>
                  <a:srgbClr val="C0561B"/>
                </a:solidFill>
                <a:latin typeface="Malgun Gothic"/>
                <a:ea typeface="Malgun Gothic"/>
                <a:cs typeface="Malgun Gothic"/>
              </a:rPr>
              <a:t>Application Content 영역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484560"/>
            <a:ext cx="5257800" cy="411480"/>
          </a:xfrm>
          <a:prstGeom prst="rect">
            <a:avLst/>
          </a:prstGeom>
          <a:noFill/>
          <a:ln>
            <a:noFill/>
          </a:ln>
        </p:spPr>
        <p:txBody>
          <a:bodyPr rtlCol="0" anchor="t" lIns="0" rIns="0" tIns="0" bIns="0" wrap="square"/>
          <a:lstStyle/>
          <a:p>
            <a:pPr algn="l"/>
            <a:r>
              <a:rPr sz="900" b="0">
                <a:solidFill>
                  <a:srgbClr val="2A2F38"/>
                </a:solidFill>
                <a:latin typeface="Malgun Gothic"/>
                <a:ea typeface="Malgun Gothic"/>
                <a:cs typeface="Malgun Gothic"/>
              </a:rPr>
              <a:t>Application 영역 1590 × 915 (X 165, Y 105)</a:t>
            </a:r>
          </a:p>
          <a:p>
            <a:pPr algn="l"/>
            <a:r>
              <a:rPr sz="90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HMI Core 화면 위에 별도 프로세스의 창으로 겹쳐 표시됨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499616"/>
            <a:ext cx="45720" cy="182880"/>
          </a:xfrm>
          <a:prstGeom prst="rect">
            <a:avLst/>
          </a:prstGeom>
          <a:solidFill>
            <a:srgbClr val="1F2A3C"/>
          </a:solidFill>
          <a:ln>
            <a:noFill/>
          </a:ln>
        </p:spPr>
        <p:txBody>
          <a:bodyPr rtlCol="0" anchor="ctr" lIns="36576" rIns="36576" tIns="36576" bIns="36576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81928" y="1463040"/>
            <a:ext cx="5358384" cy="256032"/>
          </a:xfrm>
          <a:prstGeom prst="rect">
            <a:avLst/>
          </a:prstGeom>
          <a:noFill/>
          <a:ln>
            <a:noFill/>
          </a:ln>
        </p:spPr>
        <p:txBody>
          <a:bodyPr rtlCol="0" anchor="ctr" lIns="0" rIns="0" tIns="0" bIns="0" wrap="square"/>
          <a:lstStyle/>
          <a:p>
            <a:pPr algn="l"/>
            <a:r>
              <a:rPr sz="1200" b="1">
                <a:solidFill>
                  <a:srgbClr val="1F2A3C"/>
                </a:solidFill>
                <a:latin typeface="Malgun Gothic"/>
                <a:ea typeface="Malgun Gothic"/>
                <a:cs typeface="Malgun Gothic"/>
              </a:rPr>
              <a:t>사용자가 SoftButton을 누른 경우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1810512"/>
            <a:ext cx="1115568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1F2A3C"/>
            </a:solidFill>
          </a:ln>
        </p:spPr>
        <p:txBody>
          <a:bodyPr rtlCol="0" anchor="ctr" lIns="45720" rIns="45720" wrap="square"/>
          <a:lstStyle/>
          <a:p>
            <a:pPr algn="ctr"/>
            <a:r>
              <a:rPr sz="950" b="0">
                <a:solidFill>
                  <a:srgbClr val="2A2F38"/>
                </a:solidFill>
                <a:latin typeface="Malgun Gothic"/>
                <a:ea typeface="Malgun Gothic"/>
                <a:cs typeface="Malgun Gothic"/>
              </a:rPr>
              <a:t>User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315200" y="1993392"/>
            <a:ext cx="280416" cy="0"/>
          </a:xfrm>
          <a:prstGeom prst="line">
            <a:avLst/>
          </a:prstGeom>
          <a:ln w="12700">
            <a:solidFill>
              <a:srgbClr val="1F2A3C"/>
            </a:solidFill>
            <a:tailEnd type="triangle" w="sm" len="sm"/>
          </a:ln>
        </p:spPr>
      </p:cxnSp>
      <p:sp>
        <p:nvSpPr>
          <p:cNvPr id="18" name="Rectangle 17"/>
          <p:cNvSpPr/>
          <p:nvPr/>
        </p:nvSpPr>
        <p:spPr>
          <a:xfrm>
            <a:off x="7623047" y="1810512"/>
            <a:ext cx="1115568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1F2A3C"/>
            </a:solidFill>
          </a:ln>
        </p:spPr>
        <p:txBody>
          <a:bodyPr rtlCol="0" anchor="ctr" lIns="45720" rIns="45720" wrap="square"/>
          <a:lstStyle/>
          <a:p>
            <a:pPr algn="ctr"/>
            <a:r>
              <a:rPr sz="950" b="0">
                <a:solidFill>
                  <a:srgbClr val="2A2F38"/>
                </a:solidFill>
                <a:latin typeface="Malgun Gothic"/>
                <a:ea typeface="Malgun Gothic"/>
                <a:cs typeface="Malgun Gothic"/>
              </a:rPr>
              <a:t>HMI Core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766048" y="1993392"/>
            <a:ext cx="280416" cy="0"/>
          </a:xfrm>
          <a:prstGeom prst="line">
            <a:avLst/>
          </a:prstGeom>
          <a:ln w="12700">
            <a:solidFill>
              <a:srgbClr val="1F2A3C"/>
            </a:solidFill>
            <a:tailEnd type="triangle" w="sm" len="sm"/>
          </a:ln>
        </p:spPr>
      </p:cxnSp>
      <p:sp>
        <p:nvSpPr>
          <p:cNvPr id="20" name="Rectangle 19"/>
          <p:cNvSpPr/>
          <p:nvPr/>
        </p:nvSpPr>
        <p:spPr>
          <a:xfrm>
            <a:off x="9073896" y="1810512"/>
            <a:ext cx="1115568" cy="365760"/>
          </a:xfrm>
          <a:prstGeom prst="rect">
            <a:avLst/>
          </a:prstGeom>
          <a:solidFill>
            <a:srgbClr val="F5F6F8"/>
          </a:solidFill>
          <a:ln w="9525">
            <a:solidFill>
              <a:srgbClr val="C5CAD2"/>
            </a:solidFill>
          </a:ln>
        </p:spPr>
        <p:txBody>
          <a:bodyPr rtlCol="0" anchor="ctr" lIns="45720" rIns="45720" wrap="square"/>
          <a:lstStyle/>
          <a:p>
            <a:pPr algn="ctr"/>
            <a:r>
              <a:rPr sz="95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NGVA Topic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216896" y="1993392"/>
            <a:ext cx="280416" cy="0"/>
          </a:xfrm>
          <a:prstGeom prst="line">
            <a:avLst/>
          </a:prstGeom>
          <a:ln w="12700">
            <a:solidFill>
              <a:srgbClr val="1F2A3C"/>
            </a:solidFill>
            <a:tailEnd type="triangle" w="sm" len="sm"/>
          </a:ln>
        </p:spPr>
      </p:cxnSp>
      <p:sp>
        <p:nvSpPr>
          <p:cNvPr id="22" name="Rectangle 21"/>
          <p:cNvSpPr/>
          <p:nvPr/>
        </p:nvSpPr>
        <p:spPr>
          <a:xfrm>
            <a:off x="10524744" y="1810512"/>
            <a:ext cx="1115568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1F2A3C"/>
            </a:solidFill>
          </a:ln>
        </p:spPr>
        <p:txBody>
          <a:bodyPr rtlCol="0" anchor="ctr" lIns="45720" rIns="45720" wrap="square"/>
          <a:lstStyle/>
          <a:p>
            <a:pPr algn="ctr"/>
            <a:r>
              <a:rPr sz="950" b="0">
                <a:solidFill>
                  <a:srgbClr val="2A2F38"/>
                </a:solidFill>
                <a:latin typeface="Malgun Gothic"/>
                <a:ea typeface="Malgun Gothic"/>
                <a:cs typeface="Malgun Gothic"/>
              </a:rPr>
              <a:t>HMI Application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1082528" y="2176272"/>
            <a:ext cx="0" cy="201168"/>
          </a:xfrm>
          <a:prstGeom prst="line">
            <a:avLst/>
          </a:prstGeom>
          <a:ln w="15875">
            <a:solidFill>
              <a:srgbClr val="C0561B"/>
            </a:solidFill>
            <a:tailEnd type="triangle" w="sm" len="sm"/>
          </a:ln>
        </p:spPr>
      </p:cxnSp>
      <p:sp>
        <p:nvSpPr>
          <p:cNvPr id="24" name="Rectangle 23"/>
          <p:cNvSpPr/>
          <p:nvPr/>
        </p:nvSpPr>
        <p:spPr>
          <a:xfrm>
            <a:off x="9125712" y="2377440"/>
            <a:ext cx="2514600" cy="566928"/>
          </a:xfrm>
          <a:prstGeom prst="rect">
            <a:avLst/>
          </a:prstGeom>
          <a:solidFill>
            <a:srgbClr val="F5F6F8"/>
          </a:solidFill>
          <a:ln w="15875">
            <a:solidFill>
              <a:srgbClr val="C0561B"/>
            </a:solidFill>
          </a:ln>
        </p:spPr>
        <p:txBody>
          <a:bodyPr rtlCol="0" anchor="ctr" lIns="36576" rIns="36576" tIns="36576" bIns="36576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25712" y="2377440"/>
            <a:ext cx="45720" cy="566928"/>
          </a:xfrm>
          <a:prstGeom prst="rect">
            <a:avLst/>
          </a:prstGeom>
          <a:solidFill>
            <a:srgbClr val="C0561B"/>
          </a:solidFill>
          <a:ln>
            <a:noFill/>
          </a:ln>
        </p:spPr>
        <p:txBody>
          <a:bodyPr rtlCol="0" anchor="ctr" lIns="36576" rIns="36576" tIns="36576" bIns="36576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290304" y="242316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lIns="0" rIns="0" tIns="0" bIns="0" wrap="square"/>
          <a:lstStyle/>
          <a:p>
            <a:pPr algn="l"/>
            <a:r>
              <a:rPr sz="1250" b="0">
                <a:solidFill>
                  <a:srgbClr val="1F2A3C"/>
                </a:solidFill>
                <a:latin typeface="Consolas"/>
                <a:ea typeface="Consolas"/>
                <a:cs typeface="Consolas"/>
              </a:rPr>
              <a:t>OnSoftButtonProcess(...)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90304" y="2679192"/>
            <a:ext cx="2286000" cy="219456"/>
          </a:xfrm>
          <a:prstGeom prst="rect">
            <a:avLst/>
          </a:prstGeom>
          <a:noFill/>
          <a:ln>
            <a:noFill/>
          </a:ln>
        </p:spPr>
        <p:txBody>
          <a:bodyPr rtlCol="0" anchor="ctr" lIns="0" rIns="0" tIns="0" bIns="0" wrap="square"/>
          <a:lstStyle/>
          <a:p>
            <a:pPr algn="l"/>
            <a:r>
              <a:rPr sz="950" b="0">
                <a:solidFill>
                  <a:srgbClr val="C0561B"/>
                </a:solidFill>
                <a:latin typeface="Malgun Gothic"/>
                <a:ea typeface="Malgun Gothic"/>
                <a:cs typeface="Malgun Gothic"/>
              </a:rPr>
              <a:t>SoftButton 입력 처리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2200" y="2395728"/>
            <a:ext cx="2770632" cy="548640"/>
          </a:xfrm>
          <a:prstGeom prst="rect">
            <a:avLst/>
          </a:prstGeom>
          <a:noFill/>
          <a:ln>
            <a:noFill/>
          </a:ln>
        </p:spPr>
        <p:txBody>
          <a:bodyPr rtlCol="0" anchor="ctr" lIns="0" rIns="0" tIns="0" bIns="0" wrap="square"/>
          <a:lstStyle/>
          <a:p>
            <a:pPr algn="l"/>
            <a:r>
              <a:rPr sz="1000" b="0">
                <a:solidFill>
                  <a:srgbClr val="2A2F38"/>
                </a:solidFill>
                <a:latin typeface="Malgun Gothic"/>
                <a:ea typeface="Malgun Gothic"/>
                <a:cs typeface="Malgun Gothic"/>
              </a:rPr>
              <a:t>어떤 SoftButton이 눌렸는지 확인하고</a:t>
            </a:r>
          </a:p>
          <a:p>
            <a:pPr algn="l"/>
            <a:r>
              <a:rPr sz="1000" b="0">
                <a:solidFill>
                  <a:srgbClr val="2A2F38"/>
                </a:solidFill>
                <a:latin typeface="Malgun Gothic"/>
                <a:ea typeface="Malgun Gothic"/>
                <a:cs typeface="Malgun Gothic"/>
              </a:rPr>
              <a:t>해당 기능을 수행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3054096"/>
            <a:ext cx="45720" cy="182880"/>
          </a:xfrm>
          <a:prstGeom prst="rect">
            <a:avLst/>
          </a:prstGeom>
          <a:solidFill>
            <a:srgbClr val="1F2A3C"/>
          </a:solidFill>
          <a:ln>
            <a:noFill/>
          </a:ln>
        </p:spPr>
        <p:txBody>
          <a:bodyPr rtlCol="0" anchor="ctr" lIns="36576" rIns="36576" tIns="36576" bIns="36576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81928" y="3017520"/>
            <a:ext cx="5358384" cy="256032"/>
          </a:xfrm>
          <a:prstGeom prst="rect">
            <a:avLst/>
          </a:prstGeom>
          <a:noFill/>
          <a:ln>
            <a:noFill/>
          </a:ln>
        </p:spPr>
        <p:txBody>
          <a:bodyPr rtlCol="0" anchor="ctr" lIns="0" rIns="0" tIns="0" bIns="0" wrap="square"/>
          <a:lstStyle/>
          <a:p>
            <a:pPr algn="l"/>
            <a:r>
              <a:rPr sz="1200" b="1">
                <a:solidFill>
                  <a:srgbClr val="1F2A3C"/>
                </a:solidFill>
                <a:latin typeface="Malgun Gothic"/>
                <a:ea typeface="Malgun Gothic"/>
                <a:cs typeface="Malgun Gothic"/>
              </a:rPr>
              <a:t>사용자가 Menu(= Page)를 전환한 경우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3364991"/>
            <a:ext cx="1115568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1F2A3C"/>
            </a:solidFill>
          </a:ln>
        </p:spPr>
        <p:txBody>
          <a:bodyPr rtlCol="0" anchor="ctr" lIns="45720" rIns="45720" wrap="square"/>
          <a:lstStyle/>
          <a:p>
            <a:pPr algn="ctr"/>
            <a:r>
              <a:rPr sz="950" b="0">
                <a:solidFill>
                  <a:srgbClr val="2A2F38"/>
                </a:solidFill>
                <a:latin typeface="Malgun Gothic"/>
                <a:ea typeface="Malgun Gothic"/>
                <a:cs typeface="Malgun Gothic"/>
              </a:rPr>
              <a:t>Menu (Page) 변경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315200" y="3547872"/>
            <a:ext cx="280416" cy="0"/>
          </a:xfrm>
          <a:prstGeom prst="line">
            <a:avLst/>
          </a:prstGeom>
          <a:ln w="12700">
            <a:solidFill>
              <a:srgbClr val="1F2A3C"/>
            </a:solidFill>
            <a:tailEnd type="triangle" w="sm" len="sm"/>
          </a:ln>
        </p:spPr>
      </p:cxnSp>
      <p:sp>
        <p:nvSpPr>
          <p:cNvPr id="33" name="Rectangle 32"/>
          <p:cNvSpPr/>
          <p:nvPr/>
        </p:nvSpPr>
        <p:spPr>
          <a:xfrm>
            <a:off x="7623047" y="3364991"/>
            <a:ext cx="1115568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1F2A3C"/>
            </a:solidFill>
          </a:ln>
        </p:spPr>
        <p:txBody>
          <a:bodyPr rtlCol="0" anchor="ctr" lIns="45720" rIns="45720" wrap="square"/>
          <a:lstStyle/>
          <a:p>
            <a:pPr algn="ctr"/>
            <a:r>
              <a:rPr sz="950" b="0">
                <a:solidFill>
                  <a:srgbClr val="2A2F38"/>
                </a:solidFill>
                <a:latin typeface="Malgun Gothic"/>
                <a:ea typeface="Malgun Gothic"/>
                <a:cs typeface="Malgun Gothic"/>
              </a:rPr>
              <a:t>HMI Core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766048" y="3547872"/>
            <a:ext cx="280416" cy="0"/>
          </a:xfrm>
          <a:prstGeom prst="line">
            <a:avLst/>
          </a:prstGeom>
          <a:ln w="12700">
            <a:solidFill>
              <a:srgbClr val="1F2A3C"/>
            </a:solidFill>
            <a:tailEnd type="triangle" w="sm" len="sm"/>
          </a:ln>
        </p:spPr>
      </p:cxnSp>
      <p:sp>
        <p:nvSpPr>
          <p:cNvPr id="35" name="Rectangle 34"/>
          <p:cNvSpPr/>
          <p:nvPr/>
        </p:nvSpPr>
        <p:spPr>
          <a:xfrm>
            <a:off x="9073896" y="3364991"/>
            <a:ext cx="1115568" cy="365760"/>
          </a:xfrm>
          <a:prstGeom prst="rect">
            <a:avLst/>
          </a:prstGeom>
          <a:solidFill>
            <a:srgbClr val="F5F6F8"/>
          </a:solidFill>
          <a:ln w="9525">
            <a:solidFill>
              <a:srgbClr val="C5CAD2"/>
            </a:solidFill>
          </a:ln>
        </p:spPr>
        <p:txBody>
          <a:bodyPr rtlCol="0" anchor="ctr" lIns="45720" rIns="45720" wrap="square"/>
          <a:lstStyle/>
          <a:p>
            <a:pPr algn="ctr"/>
            <a:r>
              <a:rPr sz="95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NGVA Topic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0216896" y="3547872"/>
            <a:ext cx="280416" cy="0"/>
          </a:xfrm>
          <a:prstGeom prst="line">
            <a:avLst/>
          </a:prstGeom>
          <a:ln w="12700">
            <a:solidFill>
              <a:srgbClr val="1F2A3C"/>
            </a:solidFill>
            <a:tailEnd type="triangle" w="sm" len="sm"/>
          </a:ln>
        </p:spPr>
      </p:cxnSp>
      <p:sp>
        <p:nvSpPr>
          <p:cNvPr id="37" name="Rectangle 36"/>
          <p:cNvSpPr/>
          <p:nvPr/>
        </p:nvSpPr>
        <p:spPr>
          <a:xfrm>
            <a:off x="10524744" y="3364991"/>
            <a:ext cx="1115568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1F2A3C"/>
            </a:solidFill>
          </a:ln>
        </p:spPr>
        <p:txBody>
          <a:bodyPr rtlCol="0" anchor="ctr" lIns="45720" rIns="45720" wrap="square"/>
          <a:lstStyle/>
          <a:p>
            <a:pPr algn="ctr"/>
            <a:r>
              <a:rPr sz="950" b="0">
                <a:solidFill>
                  <a:srgbClr val="2A2F38"/>
                </a:solidFill>
                <a:latin typeface="Malgun Gothic"/>
                <a:ea typeface="Malgun Gothic"/>
                <a:cs typeface="Malgun Gothic"/>
              </a:rPr>
              <a:t>HMI Application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1082528" y="3730752"/>
            <a:ext cx="0" cy="201168"/>
          </a:xfrm>
          <a:prstGeom prst="line">
            <a:avLst/>
          </a:prstGeom>
          <a:ln w="15875">
            <a:solidFill>
              <a:srgbClr val="C0561B"/>
            </a:solidFill>
            <a:tailEnd type="triangle" w="sm" len="sm"/>
          </a:ln>
        </p:spPr>
      </p:cxnSp>
      <p:sp>
        <p:nvSpPr>
          <p:cNvPr id="39" name="Rectangle 38"/>
          <p:cNvSpPr/>
          <p:nvPr/>
        </p:nvSpPr>
        <p:spPr>
          <a:xfrm>
            <a:off x="9125712" y="3931920"/>
            <a:ext cx="2514600" cy="566928"/>
          </a:xfrm>
          <a:prstGeom prst="rect">
            <a:avLst/>
          </a:prstGeom>
          <a:solidFill>
            <a:srgbClr val="F5F6F8"/>
          </a:solidFill>
          <a:ln w="15875">
            <a:solidFill>
              <a:srgbClr val="C0561B"/>
            </a:solidFill>
          </a:ln>
        </p:spPr>
        <p:txBody>
          <a:bodyPr rtlCol="0" anchor="ctr" lIns="36576" rIns="36576" tIns="36576" bIns="36576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125712" y="3931920"/>
            <a:ext cx="45720" cy="566928"/>
          </a:xfrm>
          <a:prstGeom prst="rect">
            <a:avLst/>
          </a:prstGeom>
          <a:solidFill>
            <a:srgbClr val="C0561B"/>
          </a:solidFill>
          <a:ln>
            <a:noFill/>
          </a:ln>
        </p:spPr>
        <p:txBody>
          <a:bodyPr rtlCol="0" anchor="ctr" lIns="36576" rIns="36576" tIns="36576" bIns="36576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290304" y="3977639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lIns="0" rIns="0" tIns="0" bIns="0" wrap="square"/>
          <a:lstStyle/>
          <a:p>
            <a:pPr algn="l"/>
            <a:r>
              <a:rPr sz="1250" b="0">
                <a:solidFill>
                  <a:srgbClr val="1F2A3C"/>
                </a:solidFill>
                <a:latin typeface="Consolas"/>
                <a:ea typeface="Consolas"/>
                <a:cs typeface="Consolas"/>
              </a:rPr>
              <a:t>OnActiveMenu(...)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290304" y="4233672"/>
            <a:ext cx="2286000" cy="219456"/>
          </a:xfrm>
          <a:prstGeom prst="rect">
            <a:avLst/>
          </a:prstGeom>
          <a:noFill/>
          <a:ln>
            <a:noFill/>
          </a:ln>
        </p:spPr>
        <p:txBody>
          <a:bodyPr rtlCol="0" anchor="ctr" lIns="0" rIns="0" tIns="0" bIns="0" wrap="square"/>
          <a:lstStyle/>
          <a:p>
            <a:pPr algn="l"/>
            <a:r>
              <a:rPr sz="950" b="0">
                <a:solidFill>
                  <a:srgbClr val="C0561B"/>
                </a:solidFill>
                <a:latin typeface="Malgun Gothic"/>
                <a:ea typeface="Malgun Gothic"/>
                <a:cs typeface="Malgun Gothic"/>
              </a:rPr>
              <a:t>활성 Menu / Page 변경 처리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72200" y="3950207"/>
            <a:ext cx="2770632" cy="548640"/>
          </a:xfrm>
          <a:prstGeom prst="rect">
            <a:avLst/>
          </a:prstGeom>
          <a:noFill/>
          <a:ln>
            <a:noFill/>
          </a:ln>
        </p:spPr>
        <p:txBody>
          <a:bodyPr rtlCol="0" anchor="ctr" lIns="0" rIns="0" tIns="0" bIns="0" wrap="square"/>
          <a:lstStyle/>
          <a:p>
            <a:pPr algn="l"/>
            <a:r>
              <a:rPr sz="1000" b="0">
                <a:solidFill>
                  <a:srgbClr val="2A2F38"/>
                </a:solidFill>
                <a:latin typeface="Malgun Gothic"/>
                <a:ea typeface="Malgun Gothic"/>
                <a:cs typeface="Malgun Gothic"/>
              </a:rPr>
              <a:t>현재 어떤 Menu 또는 Page가 활성화되었는지</a:t>
            </a:r>
          </a:p>
          <a:p>
            <a:pPr algn="l"/>
            <a:r>
              <a:rPr sz="1000" b="0">
                <a:solidFill>
                  <a:srgbClr val="2A2F38"/>
                </a:solidFill>
                <a:latin typeface="Malgun Gothic"/>
                <a:ea typeface="Malgun Gothic"/>
                <a:cs typeface="Malgun Gothic"/>
              </a:rPr>
              <a:t>확인하고 필요한 처리를 수행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4983480"/>
            <a:ext cx="11091672" cy="914400"/>
          </a:xfrm>
          <a:prstGeom prst="rect">
            <a:avLst/>
          </a:prstGeom>
          <a:solidFill>
            <a:srgbClr val="F5F6F8"/>
          </a:solidFill>
          <a:ln w="12700">
            <a:solidFill>
              <a:srgbClr val="9AA1AC"/>
            </a:solidFill>
            <a:prstDash val="dash"/>
          </a:ln>
        </p:spPr>
        <p:txBody>
          <a:bodyPr rtlCol="0" anchor="ctr" lIns="36576" rIns="36576" tIns="36576" bIns="36576" wrap="square"/>
          <a:lstStyle/>
          <a:p>
            <a:pPr algn="ctr"/>
            <a:r>
              <a:rPr sz="130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[실제 Callback 코드 삽입 영역]</a:t>
            </a:r>
          </a:p>
          <a:p>
            <a:pPr algn="ctr"/>
            <a:r>
              <a:rPr sz="950" b="0">
                <a:solidFill>
                  <a:srgbClr val="9AA1AC"/>
                </a:solidFill>
                <a:latin typeface="Malgun Gothic"/>
                <a:ea typeface="Malgun Gothic"/>
                <a:cs typeface="Malgun Gothic"/>
              </a:rPr>
              <a:t>OnSoftButtonProcess / OnActiveMenu 구현부 (C#)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6035040"/>
            <a:ext cx="45720" cy="329184"/>
          </a:xfrm>
          <a:prstGeom prst="rect">
            <a:avLst/>
          </a:prstGeom>
          <a:solidFill>
            <a:srgbClr val="C0561B"/>
          </a:solidFill>
          <a:ln>
            <a:noFill/>
          </a:ln>
        </p:spPr>
        <p:txBody>
          <a:bodyPr rtlCol="0" anchor="ctr" lIns="36576" rIns="36576" tIns="36576" bIns="36576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13232" y="6035040"/>
            <a:ext cx="10927080" cy="329184"/>
          </a:xfrm>
          <a:prstGeom prst="rect">
            <a:avLst/>
          </a:prstGeom>
          <a:noFill/>
          <a:ln>
            <a:noFill/>
          </a:ln>
        </p:spPr>
        <p:txBody>
          <a:bodyPr rtlCol="0" anchor="ctr" lIns="0" rIns="0" tIns="0" bIns="0" wrap="square"/>
          <a:lstStyle/>
          <a:p>
            <a:pPr algn="l"/>
            <a:r>
              <a:rPr sz="1300" b="0">
                <a:solidFill>
                  <a:srgbClr val="1F2A3C"/>
                </a:solidFill>
                <a:latin typeface="Malgun Gothic"/>
                <a:ea typeface="Malgun Gothic"/>
                <a:cs typeface="Malgun Gothic"/>
              </a:rPr>
              <a:t>HMI Core는 공통 UI와 사용자 입력을 관리, Application은 전달받은 Menu/Page/SoftButton Event를 기반으로 실제 기능을 수행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859536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lIns="0" rIns="0" tIns="0" bIns="0" wrap="square"/>
          <a:lstStyle/>
          <a:p>
            <a:pPr algn="l"/>
            <a:r>
              <a:rPr sz="2400" b="1">
                <a:solidFill>
                  <a:srgbClr val="1F2A3C"/>
                </a:solidFill>
                <a:latin typeface="Malgun Gothic"/>
                <a:ea typeface="Malgun Gothic"/>
                <a:cs typeface="Malgun Gothic"/>
              </a:rPr>
              <a:t>HMIJsonGenerator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64240" cy="384048"/>
          </a:xfrm>
          <a:prstGeom prst="rect">
            <a:avLst/>
          </a:prstGeom>
          <a:noFill/>
          <a:ln>
            <a:noFill/>
          </a:ln>
        </p:spPr>
        <p:txBody>
          <a:bodyPr rtlCol="0" anchor="t" lIns="0" rIns="0" tIns="0" bIns="0" wrap="square"/>
          <a:lstStyle/>
          <a:p>
            <a:pPr algn="l"/>
            <a:r>
              <a:rPr sz="120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Menu · SoftButton 구성 JSON을 UI로 작성하는 도구 · 상세 내용 추후 작성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43584"/>
            <a:ext cx="11091672" cy="0"/>
          </a:xfrm>
          <a:prstGeom prst="line">
            <a:avLst/>
          </a:prstGeom>
          <a:ln w="9525">
            <a:solidFill>
              <a:srgbClr val="C5CAD2"/>
            </a:solidFill>
          </a:ln>
        </p:spPr>
      </p:cxnSp>
      <p:sp>
        <p:nvSpPr>
          <p:cNvPr id="5" name="Rectangle 4"/>
          <p:cNvSpPr/>
          <p:nvPr/>
        </p:nvSpPr>
        <p:spPr>
          <a:xfrm>
            <a:off x="548640" y="6473952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rtlCol="0" anchor="ctr" lIns="0" rIns="0" tIns="0" bIns="0" wrap="square"/>
          <a:lstStyle/>
          <a:p>
            <a:pPr algn="l"/>
            <a:r>
              <a:rPr sz="900" b="0">
                <a:solidFill>
                  <a:srgbClr val="9AA1AC"/>
                </a:solidFill>
                <a:latin typeface="Malgun Gothic"/>
                <a:ea typeface="Malgun Gothic"/>
                <a:cs typeface="Malgun Gothic"/>
              </a:rPr>
              <a:t>GVA HMI 기술설명  ·  NGVA 기반 HMI 구조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25912" y="647395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rtlCol="0" anchor="ctr" lIns="0" rIns="0" tIns="0" bIns="0" wrap="square"/>
          <a:lstStyle/>
          <a:p>
            <a:pPr algn="r"/>
            <a:r>
              <a:rPr sz="900" b="0">
                <a:solidFill>
                  <a:srgbClr val="9AA1AC"/>
                </a:solidFill>
                <a:latin typeface="Malgun Gothic"/>
                <a:ea typeface="Malgun Gothic"/>
                <a:cs typeface="Malgun Gothic"/>
              </a:rPr>
              <a:t>9 /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9994392" y="411480"/>
            <a:ext cx="1645920" cy="292608"/>
          </a:xfrm>
          <a:prstGeom prst="rect">
            <a:avLst/>
          </a:prstGeom>
          <a:noFill/>
          <a:ln w="12700">
            <a:solidFill>
              <a:srgbClr val="9AA1AC"/>
            </a:solidFill>
          </a:ln>
        </p:spPr>
        <p:txBody>
          <a:bodyPr rtlCol="0" anchor="ctr" lIns="36576" rIns="36576" tIns="36576" bIns="36576" wrap="square"/>
          <a:lstStyle/>
          <a:p>
            <a:pPr algn="ctr"/>
            <a:r>
              <a:rPr sz="100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개발 지원 도구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81328"/>
            <a:ext cx="6903720" cy="3931920"/>
          </a:xfrm>
          <a:prstGeom prst="rect">
            <a:avLst/>
          </a:prstGeom>
          <a:solidFill>
            <a:srgbClr val="F5F6F8"/>
          </a:solidFill>
          <a:ln w="12700">
            <a:solidFill>
              <a:srgbClr val="9AA1AC"/>
            </a:solidFill>
            <a:prstDash val="dash"/>
          </a:ln>
        </p:spPr>
        <p:txBody>
          <a:bodyPr rtlCol="0" anchor="ctr" lIns="36576" rIns="36576" tIns="36576" bIns="36576" wrap="square"/>
          <a:lstStyle/>
          <a:p>
            <a:pPr algn="ctr"/>
            <a:r>
              <a:rPr sz="130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[HMIJsonGenerator 화면 삽입 영역]</a:t>
            </a:r>
          </a:p>
          <a:p>
            <a:pPr algn="ctr"/>
            <a:r>
              <a:rPr sz="950" b="0">
                <a:solidFill>
                  <a:srgbClr val="9AA1AC"/>
                </a:solidFill>
                <a:latin typeface="Malgun Gothic"/>
                <a:ea typeface="Malgun Gothic"/>
                <a:cs typeface="Malgun Gothic"/>
              </a:rPr>
              <a:t>도구 UI 캡처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468112"/>
            <a:ext cx="6903720" cy="274320"/>
          </a:xfrm>
          <a:prstGeom prst="rect">
            <a:avLst/>
          </a:prstGeom>
          <a:noFill/>
          <a:ln>
            <a:noFill/>
          </a:ln>
        </p:spPr>
        <p:txBody>
          <a:bodyPr rtlCol="0" anchor="t" lIns="0" rIns="0" tIns="0" bIns="0" wrap="square"/>
          <a:lstStyle/>
          <a:p>
            <a:pPr algn="l"/>
            <a:r>
              <a:rPr sz="900" b="0">
                <a:solidFill>
                  <a:srgbClr val="9AA1AC"/>
                </a:solidFill>
                <a:latin typeface="Malgun Gothic"/>
                <a:ea typeface="Malgun Gothic"/>
                <a:cs typeface="Malgun Gothic"/>
              </a:rPr>
              <a:t>화면 설명 캡션 작성 예정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35240" y="1517904"/>
            <a:ext cx="45720" cy="182880"/>
          </a:xfrm>
          <a:prstGeom prst="rect">
            <a:avLst/>
          </a:prstGeom>
          <a:solidFill>
            <a:srgbClr val="1F2A3C"/>
          </a:solidFill>
          <a:ln>
            <a:noFill/>
          </a:ln>
        </p:spPr>
        <p:txBody>
          <a:bodyPr rtlCol="0" anchor="ctr" lIns="36576" rIns="36576" tIns="36576" bIns="36576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44967" y="1481328"/>
            <a:ext cx="3895344" cy="256032"/>
          </a:xfrm>
          <a:prstGeom prst="rect">
            <a:avLst/>
          </a:prstGeom>
          <a:noFill/>
          <a:ln>
            <a:noFill/>
          </a:ln>
        </p:spPr>
        <p:txBody>
          <a:bodyPr rtlCol="0" anchor="ctr" lIns="0" rIns="0" tIns="0" bIns="0" wrap="square"/>
          <a:lstStyle/>
          <a:p>
            <a:pPr algn="l"/>
            <a:r>
              <a:rPr sz="1200" b="1">
                <a:solidFill>
                  <a:srgbClr val="1F2A3C"/>
                </a:solidFill>
                <a:latin typeface="Malgun Gothic"/>
                <a:ea typeface="Malgun Gothic"/>
                <a:cs typeface="Malgun Gothic"/>
              </a:rPr>
              <a:t>주요 기능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35240" y="1737360"/>
            <a:ext cx="274320" cy="219456"/>
          </a:xfrm>
          <a:prstGeom prst="rect">
            <a:avLst/>
          </a:prstGeom>
          <a:noFill/>
          <a:ln>
            <a:noFill/>
          </a:ln>
        </p:spPr>
        <p:txBody>
          <a:bodyPr rtlCol="0" anchor="ctr" lIns="0" rIns="0" tIns="0" bIns="0" wrap="square"/>
          <a:lstStyle/>
          <a:p>
            <a:pPr algn="l"/>
            <a:r>
              <a:rPr sz="1100" b="0">
                <a:solidFill>
                  <a:srgbClr val="1F2A3C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36408" y="1920240"/>
            <a:ext cx="3803904" cy="0"/>
          </a:xfrm>
          <a:prstGeom prst="line">
            <a:avLst/>
          </a:prstGeom>
          <a:ln w="9525">
            <a:solidFill>
              <a:srgbClr val="E4E7EB"/>
            </a:solidFill>
          </a:ln>
        </p:spPr>
      </p:cxnSp>
      <p:sp>
        <p:nvSpPr>
          <p:cNvPr id="14" name="Rectangle 13"/>
          <p:cNvSpPr/>
          <p:nvPr/>
        </p:nvSpPr>
        <p:spPr>
          <a:xfrm>
            <a:off x="7635240" y="2103120"/>
            <a:ext cx="274320" cy="219456"/>
          </a:xfrm>
          <a:prstGeom prst="rect">
            <a:avLst/>
          </a:prstGeom>
          <a:noFill/>
          <a:ln>
            <a:noFill/>
          </a:ln>
        </p:spPr>
        <p:txBody>
          <a:bodyPr rtlCol="0" anchor="ctr" lIns="0" rIns="0" tIns="0" bIns="0" wrap="square"/>
          <a:lstStyle/>
          <a:p>
            <a:pPr algn="l"/>
            <a:r>
              <a:rPr sz="1100" b="0">
                <a:solidFill>
                  <a:srgbClr val="1F2A3C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36408" y="2286000"/>
            <a:ext cx="3803904" cy="0"/>
          </a:xfrm>
          <a:prstGeom prst="line">
            <a:avLst/>
          </a:prstGeom>
          <a:ln w="9525">
            <a:solidFill>
              <a:srgbClr val="E4E7EB"/>
            </a:solidFill>
          </a:ln>
        </p:spPr>
      </p:cxnSp>
      <p:sp>
        <p:nvSpPr>
          <p:cNvPr id="16" name="Rectangle 15"/>
          <p:cNvSpPr/>
          <p:nvPr/>
        </p:nvSpPr>
        <p:spPr>
          <a:xfrm>
            <a:off x="7635240" y="2468880"/>
            <a:ext cx="274320" cy="219456"/>
          </a:xfrm>
          <a:prstGeom prst="rect">
            <a:avLst/>
          </a:prstGeom>
          <a:noFill/>
          <a:ln>
            <a:noFill/>
          </a:ln>
        </p:spPr>
        <p:txBody>
          <a:bodyPr rtlCol="0" anchor="ctr" lIns="0" rIns="0" tIns="0" bIns="0" wrap="square"/>
          <a:lstStyle/>
          <a:p>
            <a:pPr algn="l"/>
            <a:r>
              <a:rPr sz="1100" b="0">
                <a:solidFill>
                  <a:srgbClr val="1F2A3C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836408" y="2651760"/>
            <a:ext cx="3803904" cy="0"/>
          </a:xfrm>
          <a:prstGeom prst="line">
            <a:avLst/>
          </a:prstGeom>
          <a:ln w="9525">
            <a:solidFill>
              <a:srgbClr val="E4E7EB"/>
            </a:solidFill>
          </a:ln>
        </p:spPr>
      </p:cxnSp>
      <p:sp>
        <p:nvSpPr>
          <p:cNvPr id="18" name="Rectangle 17"/>
          <p:cNvSpPr/>
          <p:nvPr/>
        </p:nvSpPr>
        <p:spPr>
          <a:xfrm>
            <a:off x="7635240" y="2834640"/>
            <a:ext cx="274320" cy="219456"/>
          </a:xfrm>
          <a:prstGeom prst="rect">
            <a:avLst/>
          </a:prstGeom>
          <a:noFill/>
          <a:ln>
            <a:noFill/>
          </a:ln>
        </p:spPr>
        <p:txBody>
          <a:bodyPr rtlCol="0" anchor="ctr" lIns="0" rIns="0" tIns="0" bIns="0" wrap="square"/>
          <a:lstStyle/>
          <a:p>
            <a:pPr algn="l"/>
            <a:r>
              <a:rPr sz="1100" b="0">
                <a:solidFill>
                  <a:srgbClr val="1F2A3C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836408" y="3017520"/>
            <a:ext cx="3803904" cy="0"/>
          </a:xfrm>
          <a:prstGeom prst="line">
            <a:avLst/>
          </a:prstGeom>
          <a:ln w="9525">
            <a:solidFill>
              <a:srgbClr val="E4E7EB"/>
            </a:solidFill>
          </a:ln>
        </p:spPr>
      </p:cxnSp>
      <p:sp>
        <p:nvSpPr>
          <p:cNvPr id="20" name="Rectangle 19"/>
          <p:cNvSpPr/>
          <p:nvPr/>
        </p:nvSpPr>
        <p:spPr>
          <a:xfrm>
            <a:off x="7635240" y="3557016"/>
            <a:ext cx="45720" cy="182880"/>
          </a:xfrm>
          <a:prstGeom prst="rect">
            <a:avLst/>
          </a:prstGeom>
          <a:solidFill>
            <a:srgbClr val="1F2A3C"/>
          </a:solidFill>
          <a:ln>
            <a:noFill/>
          </a:ln>
        </p:spPr>
        <p:txBody>
          <a:bodyPr rtlCol="0" anchor="ctr" lIns="36576" rIns="36576" tIns="36576" bIns="36576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44967" y="3520440"/>
            <a:ext cx="3895344" cy="256032"/>
          </a:xfrm>
          <a:prstGeom prst="rect">
            <a:avLst/>
          </a:prstGeom>
          <a:noFill/>
          <a:ln>
            <a:noFill/>
          </a:ln>
        </p:spPr>
        <p:txBody>
          <a:bodyPr rtlCol="0" anchor="ctr" lIns="0" rIns="0" tIns="0" bIns="0" wrap="square"/>
          <a:lstStyle/>
          <a:p>
            <a:pPr algn="l"/>
            <a:r>
              <a:rPr sz="1200" b="1">
                <a:solidFill>
                  <a:srgbClr val="1F2A3C"/>
                </a:solidFill>
                <a:latin typeface="Malgun Gothic"/>
                <a:ea typeface="Malgun Gothic"/>
                <a:cs typeface="Malgun Gothic"/>
              </a:rPr>
              <a:t>생성 결과가 쓰이는 흐름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3840" y="3886200"/>
            <a:ext cx="338328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1F2A3C"/>
            </a:solidFill>
          </a:ln>
        </p:spPr>
        <p:txBody>
          <a:bodyPr rtlCol="0" anchor="ctr" lIns="45720" rIns="45720" wrap="square"/>
          <a:lstStyle/>
          <a:p>
            <a:pPr algn="ctr"/>
            <a:r>
              <a:rPr sz="1100" b="0">
                <a:solidFill>
                  <a:srgbClr val="1F2A3C"/>
                </a:solidFill>
                <a:latin typeface="Malgun Gothic"/>
                <a:ea typeface="Malgun Gothic"/>
                <a:cs typeface="Malgun Gothic"/>
              </a:rPr>
              <a:t>HMIJsonGenerator</a:t>
            </a:r>
          </a:p>
          <a:p>
            <a:pPr algn="ctr"/>
            <a:r>
              <a:rPr sz="80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UI로 Menu · SoftButton 구성 작성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555480" y="4343400"/>
            <a:ext cx="0" cy="164592"/>
          </a:xfrm>
          <a:prstGeom prst="line">
            <a:avLst/>
          </a:prstGeom>
          <a:ln w="12700">
            <a:solidFill>
              <a:srgbClr val="1F2A3C"/>
            </a:solidFill>
            <a:tailEnd type="triangle" w="sm" len="sm"/>
          </a:ln>
        </p:spPr>
      </p:cxnSp>
      <p:sp>
        <p:nvSpPr>
          <p:cNvPr id="24" name="Rectangle 23"/>
          <p:cNvSpPr/>
          <p:nvPr/>
        </p:nvSpPr>
        <p:spPr>
          <a:xfrm>
            <a:off x="7863840" y="4507992"/>
            <a:ext cx="33832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AD2"/>
            </a:solidFill>
          </a:ln>
        </p:spPr>
        <p:txBody>
          <a:bodyPr rtlCol="0" anchor="ctr" lIns="45720" rIns="45720" wrap="square"/>
          <a:lstStyle/>
          <a:p>
            <a:pPr algn="ctr"/>
            <a:r>
              <a:rPr sz="1100" b="0">
                <a:solidFill>
                  <a:srgbClr val="1F2A3C"/>
                </a:solidFill>
                <a:latin typeface="Malgun Gothic"/>
                <a:ea typeface="Malgun Gothic"/>
                <a:cs typeface="Malgun Gothic"/>
              </a:rPr>
              <a:t>CrewRole별 JSON</a:t>
            </a:r>
          </a:p>
          <a:p>
            <a:pPr algn="ctr"/>
            <a:r>
              <a:rPr sz="80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Application이 읽는 설정 파일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555480" y="4965192"/>
            <a:ext cx="0" cy="164591"/>
          </a:xfrm>
          <a:prstGeom prst="line">
            <a:avLst/>
          </a:prstGeom>
          <a:ln w="12700">
            <a:solidFill>
              <a:srgbClr val="1F2A3C"/>
            </a:solidFill>
            <a:tailEnd type="triangle" w="sm" len="sm"/>
          </a:ln>
        </p:spPr>
      </p:cxnSp>
      <p:sp>
        <p:nvSpPr>
          <p:cNvPr id="26" name="Rectangle 25"/>
          <p:cNvSpPr/>
          <p:nvPr/>
        </p:nvSpPr>
        <p:spPr>
          <a:xfrm>
            <a:off x="7863840" y="5129784"/>
            <a:ext cx="33832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AD2"/>
            </a:solidFill>
          </a:ln>
        </p:spPr>
        <p:txBody>
          <a:bodyPr rtlCol="0" anchor="ctr" lIns="45720" rIns="45720" wrap="square"/>
          <a:lstStyle/>
          <a:p>
            <a:pPr algn="ctr"/>
            <a:r>
              <a:rPr sz="1100" b="0">
                <a:solidFill>
                  <a:srgbClr val="1F2A3C"/>
                </a:solidFill>
                <a:latin typeface="Malgun Gothic"/>
                <a:ea typeface="Malgun Gothic"/>
                <a:cs typeface="Malgun Gothic"/>
              </a:rPr>
              <a:t>HMI Application</a:t>
            </a:r>
          </a:p>
          <a:p>
            <a:pPr algn="ctr"/>
            <a:r>
              <a:rPr sz="80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Menu / SoftButton 정보 생성 → HMI Core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6053328"/>
            <a:ext cx="45720" cy="329184"/>
          </a:xfrm>
          <a:prstGeom prst="rect">
            <a:avLst/>
          </a:prstGeom>
          <a:solidFill>
            <a:srgbClr val="C0561B"/>
          </a:solidFill>
          <a:ln>
            <a:noFill/>
          </a:ln>
        </p:spPr>
        <p:txBody>
          <a:bodyPr rtlCol="0" anchor="ctr" lIns="36576" rIns="36576" tIns="36576" bIns="36576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6053328"/>
            <a:ext cx="10927080" cy="329184"/>
          </a:xfrm>
          <a:prstGeom prst="rect">
            <a:avLst/>
          </a:prstGeom>
          <a:noFill/>
          <a:ln>
            <a:noFill/>
          </a:ln>
        </p:spPr>
        <p:txBody>
          <a:bodyPr rtlCol="0" anchor="ctr" lIns="0" rIns="0" tIns="0" bIns="0" wrap="square"/>
          <a:lstStyle/>
          <a:p>
            <a:pPr algn="l"/>
            <a:r>
              <a:rPr sz="1300" b="0">
                <a:solidFill>
                  <a:srgbClr val="1F2A3C"/>
                </a:solidFill>
                <a:latin typeface="Malgun Gothic"/>
                <a:ea typeface="Malgun Gothic"/>
                <a:cs typeface="Malgun Gothic"/>
              </a:rPr>
              <a:t>Menu · SoftButton 구성은 JSON으로 관리하며, 그 JSON을 HMIJsonGenerator로 작성 (p.5 참고)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859536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lIns="0" rIns="0" tIns="0" bIns="0" wrap="square"/>
          <a:lstStyle/>
          <a:p>
            <a:pPr algn="l"/>
            <a:r>
              <a:rPr sz="2400" b="1">
                <a:solidFill>
                  <a:srgbClr val="1F2A3C"/>
                </a:solidFill>
                <a:latin typeface="Malgun Gothic"/>
                <a:ea typeface="Malgun Gothic"/>
                <a:cs typeface="Malgun Gothic"/>
              </a:rPr>
              <a:t>Application → Core 제어 함수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64240" cy="384048"/>
          </a:xfrm>
          <a:prstGeom prst="rect">
            <a:avLst/>
          </a:prstGeom>
          <a:noFill/>
          <a:ln>
            <a:noFill/>
          </a:ln>
        </p:spPr>
        <p:txBody>
          <a:bodyPr rtlCol="0" anchor="t" lIns="0" rIns="0" tIns="0" bIns="0" wrap="square"/>
          <a:lstStyle/>
          <a:p>
            <a:pPr algn="l"/>
            <a:r>
              <a:rPr sz="120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HMI Application 이 HMI Core 를 제어하기 위해 호출하는 함수 목록 · 반대 방향(Core → Application)은 Callback 으로 처리 (p.8 참고)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43584"/>
            <a:ext cx="11091672" cy="0"/>
          </a:xfrm>
          <a:prstGeom prst="line">
            <a:avLst/>
          </a:prstGeom>
          <a:ln w="9525">
            <a:solidFill>
              <a:srgbClr val="C5CAD2"/>
            </a:solidFill>
          </a:ln>
        </p:spPr>
      </p:cxnSp>
      <p:sp>
        <p:nvSpPr>
          <p:cNvPr id="5" name="Rectangle 4"/>
          <p:cNvSpPr/>
          <p:nvPr/>
        </p:nvSpPr>
        <p:spPr>
          <a:xfrm>
            <a:off x="548640" y="6473952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rtlCol="0" anchor="ctr" lIns="0" rIns="0" tIns="0" bIns="0" wrap="square"/>
          <a:lstStyle/>
          <a:p>
            <a:pPr algn="l"/>
            <a:r>
              <a:rPr sz="900" b="0">
                <a:solidFill>
                  <a:srgbClr val="9AA1AC"/>
                </a:solidFill>
                <a:latin typeface="Malgun Gothic"/>
                <a:ea typeface="Malgun Gothic"/>
                <a:cs typeface="Malgun Gothic"/>
              </a:rPr>
              <a:t>GVA HMI 기술설명  ·  NGVA 기반 HMI 구조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25912" y="647395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rtlCol="0" anchor="ctr" lIns="0" rIns="0" tIns="0" bIns="0" wrap="square"/>
          <a:lstStyle/>
          <a:p>
            <a:pPr algn="r"/>
            <a:r>
              <a:rPr sz="900" b="0">
                <a:solidFill>
                  <a:srgbClr val="9AA1AC"/>
                </a:solidFill>
                <a:latin typeface="Malgun Gothic"/>
                <a:ea typeface="Malgun Gothic"/>
                <a:cs typeface="Malgun Gothic"/>
              </a:rPr>
              <a:t>10 /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68712" y="411480"/>
            <a:ext cx="1371600" cy="292608"/>
          </a:xfrm>
          <a:prstGeom prst="rect">
            <a:avLst/>
          </a:prstGeom>
          <a:noFill/>
          <a:ln w="12700">
            <a:solidFill>
              <a:srgbClr val="9AA1AC"/>
            </a:solidFill>
          </a:ln>
        </p:spPr>
        <p:txBody>
          <a:bodyPr rtlCol="0" anchor="ctr" lIns="36576" rIns="36576" tIns="36576" bIns="36576" wrap="square"/>
          <a:lstStyle/>
          <a:p>
            <a:pPr algn="ctr"/>
            <a:r>
              <a:rPr sz="100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작성 템플릿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664208"/>
          <a:ext cx="11091672" cy="398678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411480"/>
                <a:gridCol w="2788920"/>
                <a:gridCol w="2011680"/>
                <a:gridCol w="2743200"/>
                <a:gridCol w="3136392"/>
              </a:tblGrid>
              <a:tr h="329184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6A717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No</a:t>
                      </a:r>
                    </a:p>
                  </a:txBody>
                  <a:tcPr marL="128016" marR="91440" marT="45720" marB="45720" anchor="ctr">
                    <a:lnR w="9525" cap="flat" cmpd="sng" algn="ctr">
                      <a:solidFill>
                        <a:srgbClr val="DCE0E6"/>
                      </a:solidFill>
                    </a:lnR>
                    <a:lnT w="19050" cap="flat" cmpd="sng" algn="ctr">
                      <a:solidFill>
                        <a:srgbClr val="1F2A3C"/>
                      </a:solidFill>
                    </a:lnT>
                    <a:lnB w="12700" cap="flat" cmpd="sng" algn="ctr">
                      <a:solidFill>
                        <a:srgbClr val="1F2A3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6A717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함수명</a:t>
                      </a:r>
                    </a:p>
                  </a:txBody>
                  <a:tcPr marL="128016" marR="91440" marT="45720" marB="45720" anchor="ctr">
                    <a:lnL w="9525" cap="flat" cmpd="sng" algn="ctr">
                      <a:solidFill>
                        <a:srgbClr val="DCE0E6"/>
                      </a:solidFill>
                    </a:lnL>
                    <a:lnR w="9525" cap="flat" cmpd="sng" algn="ctr">
                      <a:solidFill>
                        <a:srgbClr val="DCE0E6"/>
                      </a:solidFill>
                    </a:lnR>
                    <a:lnT w="19050" cap="flat" cmpd="sng" algn="ctr">
                      <a:solidFill>
                        <a:srgbClr val="1F2A3C"/>
                      </a:solidFill>
                    </a:lnT>
                    <a:lnB w="12700" cap="flat" cmpd="sng" algn="ctr">
                      <a:solidFill>
                        <a:srgbClr val="1F2A3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6A717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매개변수</a:t>
                      </a:r>
                    </a:p>
                  </a:txBody>
                  <a:tcPr marL="128016" marR="91440" marT="45720" marB="45720" anchor="ctr">
                    <a:lnL w="9525" cap="flat" cmpd="sng" algn="ctr">
                      <a:solidFill>
                        <a:srgbClr val="DCE0E6"/>
                      </a:solidFill>
                    </a:lnL>
                    <a:lnR w="9525" cap="flat" cmpd="sng" algn="ctr">
                      <a:solidFill>
                        <a:srgbClr val="DCE0E6"/>
                      </a:solidFill>
                    </a:lnR>
                    <a:lnT w="19050" cap="flat" cmpd="sng" algn="ctr">
                      <a:solidFill>
                        <a:srgbClr val="1F2A3C"/>
                      </a:solidFill>
                    </a:lnT>
                    <a:lnB w="12700" cap="flat" cmpd="sng" algn="ctr">
                      <a:solidFill>
                        <a:srgbClr val="1F2A3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6A717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매개변수 역할</a:t>
                      </a:r>
                    </a:p>
                  </a:txBody>
                  <a:tcPr marL="128016" marR="91440" marT="45720" marB="45720" anchor="ctr">
                    <a:lnL w="9525" cap="flat" cmpd="sng" algn="ctr">
                      <a:solidFill>
                        <a:srgbClr val="DCE0E6"/>
                      </a:solidFill>
                    </a:lnL>
                    <a:lnR w="9525" cap="flat" cmpd="sng" algn="ctr">
                      <a:solidFill>
                        <a:srgbClr val="DCE0E6"/>
                      </a:solidFill>
                    </a:lnR>
                    <a:lnT w="19050" cap="flat" cmpd="sng" algn="ctr">
                      <a:solidFill>
                        <a:srgbClr val="1F2A3C"/>
                      </a:solidFill>
                    </a:lnT>
                    <a:lnB w="12700" cap="flat" cmpd="sng" algn="ctr">
                      <a:solidFill>
                        <a:srgbClr val="1F2A3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6A717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</a:t>
                      </a:r>
                    </a:p>
                  </a:txBody>
                  <a:tcPr marL="128016" marR="91440" marT="45720" marB="45720" anchor="ctr">
                    <a:lnL w="9525" cap="flat" cmpd="sng" algn="ctr">
                      <a:solidFill>
                        <a:srgbClr val="DCE0E6"/>
                      </a:solidFill>
                    </a:lnL>
                    <a:lnT w="19050" cap="flat" cmpd="sng" algn="ctr">
                      <a:solidFill>
                        <a:srgbClr val="1F2A3C"/>
                      </a:solidFill>
                    </a:lnT>
                    <a:lnB w="12700" cap="flat" cmpd="sng" algn="ctr">
                      <a:solidFill>
                        <a:srgbClr val="1F2A3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900" b="0">
                          <a:solidFill>
                            <a:srgbClr val="9AA1AC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128016" marR="91440" marT="45720" marB="45720" anchor="ctr">
                    <a:lnR w="9525" cap="flat" cmpd="sng" algn="ctr">
                      <a:solidFill>
                        <a:srgbClr val="DCE0E6"/>
                      </a:solidFill>
                    </a:lnR>
                    <a:lnB w="9525" cap="flat" cmpd="sng" algn="ctr">
                      <a:solidFill>
                        <a:srgbClr val="E4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defRPr sz="1050">
                          <a:solidFill>
                            <a:srgbClr val="1F2A3C"/>
                          </a:solidFill>
                          <a:latin typeface="Consolas"/>
                          <a:ea typeface="Consolas"/>
                          <a:cs typeface="Consolas"/>
                        </a:defRPr>
                      </a:pPr>
                    </a:p>
                  </a:txBody>
                  <a:tcPr marL="128016" marR="91440" marT="45720" marB="45720" anchor="ctr">
                    <a:lnL w="9525" cap="flat" cmpd="sng" algn="ctr">
                      <a:solidFill>
                        <a:srgbClr val="DCE0E6"/>
                      </a:solidFill>
                    </a:lnL>
                    <a:lnR w="9525" cap="flat" cmpd="sng" algn="ctr">
                      <a:solidFill>
                        <a:srgbClr val="DCE0E6"/>
                      </a:solidFill>
                    </a:lnR>
                    <a:lnB w="9525" cap="flat" cmpd="sng" algn="ctr">
                      <a:solidFill>
                        <a:srgbClr val="E4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defRPr sz="950">
                          <a:solidFill>
                            <a:srgbClr val="2A2F38"/>
                          </a:solidFill>
                          <a:latin typeface="Consolas"/>
                          <a:ea typeface="Consolas"/>
                          <a:cs typeface="Consolas"/>
                        </a:defRPr>
                      </a:pPr>
                    </a:p>
                  </a:txBody>
                  <a:tcPr marL="128016" marR="91440" marT="45720" marB="45720" anchor="ctr">
                    <a:lnL w="9525" cap="flat" cmpd="sng" algn="ctr">
                      <a:solidFill>
                        <a:srgbClr val="DCE0E6"/>
                      </a:solidFill>
                    </a:lnL>
                    <a:lnR w="9525" cap="flat" cmpd="sng" algn="ctr">
                      <a:solidFill>
                        <a:srgbClr val="DCE0E6"/>
                      </a:solidFill>
                    </a:lnR>
                    <a:lnB w="9525" cap="flat" cmpd="sng" algn="ctr">
                      <a:solidFill>
                        <a:srgbClr val="E4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defRPr sz="950">
                          <a:solidFill>
                            <a:srgbClr val="2A2F38"/>
                          </a:solidFill>
                          <a:latin typeface="Malgun Gothic"/>
                          <a:ea typeface="Malgun Gothic"/>
                          <a:cs typeface="Malgun Gothic"/>
                        </a:defRPr>
                      </a:pPr>
                    </a:p>
                  </a:txBody>
                  <a:tcPr marL="128016" marR="91440" marT="45720" marB="45720" anchor="ctr">
                    <a:lnL w="9525" cap="flat" cmpd="sng" algn="ctr">
                      <a:solidFill>
                        <a:srgbClr val="DCE0E6"/>
                      </a:solidFill>
                    </a:lnL>
                    <a:lnR w="9525" cap="flat" cmpd="sng" algn="ctr">
                      <a:solidFill>
                        <a:srgbClr val="DCE0E6"/>
                      </a:solidFill>
                    </a:lnR>
                    <a:lnB w="9525" cap="flat" cmpd="sng" algn="ctr">
                      <a:solidFill>
                        <a:srgbClr val="E4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defRPr sz="950">
                          <a:solidFill>
                            <a:srgbClr val="2A2F38"/>
                          </a:solidFill>
                          <a:latin typeface="Malgun Gothic"/>
                          <a:ea typeface="Malgun Gothic"/>
                          <a:cs typeface="Malgun Gothic"/>
                        </a:defRPr>
                      </a:pPr>
                    </a:p>
                  </a:txBody>
                  <a:tcPr marL="128016" marR="91440" marT="45720" marB="45720" anchor="ctr">
                    <a:lnL w="9525" cap="flat" cmpd="sng" algn="ctr">
                      <a:solidFill>
                        <a:srgbClr val="DCE0E6"/>
                      </a:solidFill>
                    </a:lnL>
                    <a:lnB w="9525" cap="flat" cmpd="sng" algn="ctr">
                      <a:solidFill>
                        <a:srgbClr val="E4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900" b="0">
                          <a:solidFill>
                            <a:srgbClr val="9AA1AC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128016" marR="91440" marT="45720" marB="45720" anchor="ctr">
                    <a:lnR w="9525" cap="flat" cmpd="sng" algn="ctr">
                      <a:solidFill>
                        <a:srgbClr val="DCE0E6"/>
                      </a:solidFill>
                    </a:lnR>
                    <a:lnB w="9525" cap="flat" cmpd="sng" algn="ctr">
                      <a:solidFill>
                        <a:srgbClr val="E4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defRPr sz="1050">
                          <a:solidFill>
                            <a:srgbClr val="1F2A3C"/>
                          </a:solidFill>
                          <a:latin typeface="Consolas"/>
                          <a:ea typeface="Consolas"/>
                          <a:cs typeface="Consolas"/>
                        </a:defRPr>
                      </a:pPr>
                    </a:p>
                  </a:txBody>
                  <a:tcPr marL="128016" marR="91440" marT="45720" marB="45720" anchor="ctr">
                    <a:lnL w="9525" cap="flat" cmpd="sng" algn="ctr">
                      <a:solidFill>
                        <a:srgbClr val="DCE0E6"/>
                      </a:solidFill>
                    </a:lnL>
                    <a:lnR w="9525" cap="flat" cmpd="sng" algn="ctr">
                      <a:solidFill>
                        <a:srgbClr val="DCE0E6"/>
                      </a:solidFill>
                    </a:lnR>
                    <a:lnB w="9525" cap="flat" cmpd="sng" algn="ctr">
                      <a:solidFill>
                        <a:srgbClr val="E4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defRPr sz="950">
                          <a:solidFill>
                            <a:srgbClr val="2A2F38"/>
                          </a:solidFill>
                          <a:latin typeface="Consolas"/>
                          <a:ea typeface="Consolas"/>
                          <a:cs typeface="Consolas"/>
                        </a:defRPr>
                      </a:pPr>
                    </a:p>
                  </a:txBody>
                  <a:tcPr marL="128016" marR="91440" marT="45720" marB="45720" anchor="ctr">
                    <a:lnL w="9525" cap="flat" cmpd="sng" algn="ctr">
                      <a:solidFill>
                        <a:srgbClr val="DCE0E6"/>
                      </a:solidFill>
                    </a:lnL>
                    <a:lnR w="9525" cap="flat" cmpd="sng" algn="ctr">
                      <a:solidFill>
                        <a:srgbClr val="DCE0E6"/>
                      </a:solidFill>
                    </a:lnR>
                    <a:lnB w="9525" cap="flat" cmpd="sng" algn="ctr">
                      <a:solidFill>
                        <a:srgbClr val="E4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defRPr sz="950">
                          <a:solidFill>
                            <a:srgbClr val="2A2F38"/>
                          </a:solidFill>
                          <a:latin typeface="Malgun Gothic"/>
                          <a:ea typeface="Malgun Gothic"/>
                          <a:cs typeface="Malgun Gothic"/>
                        </a:defRPr>
                      </a:pPr>
                    </a:p>
                  </a:txBody>
                  <a:tcPr marL="128016" marR="91440" marT="45720" marB="45720" anchor="ctr">
                    <a:lnL w="9525" cap="flat" cmpd="sng" algn="ctr">
                      <a:solidFill>
                        <a:srgbClr val="DCE0E6"/>
                      </a:solidFill>
                    </a:lnL>
                    <a:lnR w="9525" cap="flat" cmpd="sng" algn="ctr">
                      <a:solidFill>
                        <a:srgbClr val="DCE0E6"/>
                      </a:solidFill>
                    </a:lnR>
                    <a:lnB w="9525" cap="flat" cmpd="sng" algn="ctr">
                      <a:solidFill>
                        <a:srgbClr val="E4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defRPr sz="950">
                          <a:solidFill>
                            <a:srgbClr val="2A2F38"/>
                          </a:solidFill>
                          <a:latin typeface="Malgun Gothic"/>
                          <a:ea typeface="Malgun Gothic"/>
                          <a:cs typeface="Malgun Gothic"/>
                        </a:defRPr>
                      </a:pPr>
                    </a:p>
                  </a:txBody>
                  <a:tcPr marL="128016" marR="91440" marT="45720" marB="45720" anchor="ctr">
                    <a:lnL w="9525" cap="flat" cmpd="sng" algn="ctr">
                      <a:solidFill>
                        <a:srgbClr val="DCE0E6"/>
                      </a:solidFill>
                    </a:lnL>
                    <a:lnB w="9525" cap="flat" cmpd="sng" algn="ctr">
                      <a:solidFill>
                        <a:srgbClr val="E4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900" b="0">
                          <a:solidFill>
                            <a:srgbClr val="9AA1AC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128016" marR="91440" marT="45720" marB="45720" anchor="ctr">
                    <a:lnR w="9525" cap="flat" cmpd="sng" algn="ctr">
                      <a:solidFill>
                        <a:srgbClr val="DCE0E6"/>
                      </a:solidFill>
                    </a:lnR>
                    <a:lnB w="9525" cap="flat" cmpd="sng" algn="ctr">
                      <a:solidFill>
                        <a:srgbClr val="E4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defRPr sz="1050">
                          <a:solidFill>
                            <a:srgbClr val="1F2A3C"/>
                          </a:solidFill>
                          <a:latin typeface="Consolas"/>
                          <a:ea typeface="Consolas"/>
                          <a:cs typeface="Consolas"/>
                        </a:defRPr>
                      </a:pPr>
                    </a:p>
                  </a:txBody>
                  <a:tcPr marL="128016" marR="91440" marT="45720" marB="45720" anchor="ctr">
                    <a:lnL w="9525" cap="flat" cmpd="sng" algn="ctr">
                      <a:solidFill>
                        <a:srgbClr val="DCE0E6"/>
                      </a:solidFill>
                    </a:lnL>
                    <a:lnR w="9525" cap="flat" cmpd="sng" algn="ctr">
                      <a:solidFill>
                        <a:srgbClr val="DCE0E6"/>
                      </a:solidFill>
                    </a:lnR>
                    <a:lnB w="9525" cap="flat" cmpd="sng" algn="ctr">
                      <a:solidFill>
                        <a:srgbClr val="E4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defRPr sz="950">
                          <a:solidFill>
                            <a:srgbClr val="2A2F38"/>
                          </a:solidFill>
                          <a:latin typeface="Consolas"/>
                          <a:ea typeface="Consolas"/>
                          <a:cs typeface="Consolas"/>
                        </a:defRPr>
                      </a:pPr>
                    </a:p>
                  </a:txBody>
                  <a:tcPr marL="128016" marR="91440" marT="45720" marB="45720" anchor="ctr">
                    <a:lnL w="9525" cap="flat" cmpd="sng" algn="ctr">
                      <a:solidFill>
                        <a:srgbClr val="DCE0E6"/>
                      </a:solidFill>
                    </a:lnL>
                    <a:lnR w="9525" cap="flat" cmpd="sng" algn="ctr">
                      <a:solidFill>
                        <a:srgbClr val="DCE0E6"/>
                      </a:solidFill>
                    </a:lnR>
                    <a:lnB w="9525" cap="flat" cmpd="sng" algn="ctr">
                      <a:solidFill>
                        <a:srgbClr val="E4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defRPr sz="950">
                          <a:solidFill>
                            <a:srgbClr val="2A2F38"/>
                          </a:solidFill>
                          <a:latin typeface="Malgun Gothic"/>
                          <a:ea typeface="Malgun Gothic"/>
                          <a:cs typeface="Malgun Gothic"/>
                        </a:defRPr>
                      </a:pPr>
                    </a:p>
                  </a:txBody>
                  <a:tcPr marL="128016" marR="91440" marT="45720" marB="45720" anchor="ctr">
                    <a:lnL w="9525" cap="flat" cmpd="sng" algn="ctr">
                      <a:solidFill>
                        <a:srgbClr val="DCE0E6"/>
                      </a:solidFill>
                    </a:lnL>
                    <a:lnR w="9525" cap="flat" cmpd="sng" algn="ctr">
                      <a:solidFill>
                        <a:srgbClr val="DCE0E6"/>
                      </a:solidFill>
                    </a:lnR>
                    <a:lnB w="9525" cap="flat" cmpd="sng" algn="ctr">
                      <a:solidFill>
                        <a:srgbClr val="E4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defRPr sz="950">
                          <a:solidFill>
                            <a:srgbClr val="2A2F38"/>
                          </a:solidFill>
                          <a:latin typeface="Malgun Gothic"/>
                          <a:ea typeface="Malgun Gothic"/>
                          <a:cs typeface="Malgun Gothic"/>
                        </a:defRPr>
                      </a:pPr>
                    </a:p>
                  </a:txBody>
                  <a:tcPr marL="128016" marR="91440" marT="45720" marB="45720" anchor="ctr">
                    <a:lnL w="9525" cap="flat" cmpd="sng" algn="ctr">
                      <a:solidFill>
                        <a:srgbClr val="DCE0E6"/>
                      </a:solidFill>
                    </a:lnL>
                    <a:lnB w="9525" cap="flat" cmpd="sng" algn="ctr">
                      <a:solidFill>
                        <a:srgbClr val="E4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900" b="0">
                          <a:solidFill>
                            <a:srgbClr val="9AA1AC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128016" marR="91440" marT="45720" marB="45720" anchor="ctr">
                    <a:lnR w="9525" cap="flat" cmpd="sng" algn="ctr">
                      <a:solidFill>
                        <a:srgbClr val="DCE0E6"/>
                      </a:solidFill>
                    </a:lnR>
                    <a:lnB w="9525" cap="flat" cmpd="sng" algn="ctr">
                      <a:solidFill>
                        <a:srgbClr val="E4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defRPr sz="1050">
                          <a:solidFill>
                            <a:srgbClr val="1F2A3C"/>
                          </a:solidFill>
                          <a:latin typeface="Consolas"/>
                          <a:ea typeface="Consolas"/>
                          <a:cs typeface="Consolas"/>
                        </a:defRPr>
                      </a:pPr>
                    </a:p>
                  </a:txBody>
                  <a:tcPr marL="128016" marR="91440" marT="45720" marB="45720" anchor="ctr">
                    <a:lnL w="9525" cap="flat" cmpd="sng" algn="ctr">
                      <a:solidFill>
                        <a:srgbClr val="DCE0E6"/>
                      </a:solidFill>
                    </a:lnL>
                    <a:lnR w="9525" cap="flat" cmpd="sng" algn="ctr">
                      <a:solidFill>
                        <a:srgbClr val="DCE0E6"/>
                      </a:solidFill>
                    </a:lnR>
                    <a:lnB w="9525" cap="flat" cmpd="sng" algn="ctr">
                      <a:solidFill>
                        <a:srgbClr val="E4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defRPr sz="950">
                          <a:solidFill>
                            <a:srgbClr val="2A2F38"/>
                          </a:solidFill>
                          <a:latin typeface="Consolas"/>
                          <a:ea typeface="Consolas"/>
                          <a:cs typeface="Consolas"/>
                        </a:defRPr>
                      </a:pPr>
                    </a:p>
                  </a:txBody>
                  <a:tcPr marL="128016" marR="91440" marT="45720" marB="45720" anchor="ctr">
                    <a:lnL w="9525" cap="flat" cmpd="sng" algn="ctr">
                      <a:solidFill>
                        <a:srgbClr val="DCE0E6"/>
                      </a:solidFill>
                    </a:lnL>
                    <a:lnR w="9525" cap="flat" cmpd="sng" algn="ctr">
                      <a:solidFill>
                        <a:srgbClr val="DCE0E6"/>
                      </a:solidFill>
                    </a:lnR>
                    <a:lnB w="9525" cap="flat" cmpd="sng" algn="ctr">
                      <a:solidFill>
                        <a:srgbClr val="E4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defRPr sz="950">
                          <a:solidFill>
                            <a:srgbClr val="2A2F38"/>
                          </a:solidFill>
                          <a:latin typeface="Malgun Gothic"/>
                          <a:ea typeface="Malgun Gothic"/>
                          <a:cs typeface="Malgun Gothic"/>
                        </a:defRPr>
                      </a:pPr>
                    </a:p>
                  </a:txBody>
                  <a:tcPr marL="128016" marR="91440" marT="45720" marB="45720" anchor="ctr">
                    <a:lnL w="9525" cap="flat" cmpd="sng" algn="ctr">
                      <a:solidFill>
                        <a:srgbClr val="DCE0E6"/>
                      </a:solidFill>
                    </a:lnL>
                    <a:lnR w="9525" cap="flat" cmpd="sng" algn="ctr">
                      <a:solidFill>
                        <a:srgbClr val="DCE0E6"/>
                      </a:solidFill>
                    </a:lnR>
                    <a:lnB w="9525" cap="flat" cmpd="sng" algn="ctr">
                      <a:solidFill>
                        <a:srgbClr val="E4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defRPr sz="950">
                          <a:solidFill>
                            <a:srgbClr val="2A2F38"/>
                          </a:solidFill>
                          <a:latin typeface="Malgun Gothic"/>
                          <a:ea typeface="Malgun Gothic"/>
                          <a:cs typeface="Malgun Gothic"/>
                        </a:defRPr>
                      </a:pPr>
                    </a:p>
                  </a:txBody>
                  <a:tcPr marL="128016" marR="91440" marT="45720" marB="45720" anchor="ctr">
                    <a:lnL w="9525" cap="flat" cmpd="sng" algn="ctr">
                      <a:solidFill>
                        <a:srgbClr val="DCE0E6"/>
                      </a:solidFill>
                    </a:lnL>
                    <a:lnB w="9525" cap="flat" cmpd="sng" algn="ctr">
                      <a:solidFill>
                        <a:srgbClr val="E4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900" b="0">
                          <a:solidFill>
                            <a:srgbClr val="9AA1AC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128016" marR="91440" marT="45720" marB="45720" anchor="ctr">
                    <a:lnR w="9525" cap="flat" cmpd="sng" algn="ctr">
                      <a:solidFill>
                        <a:srgbClr val="DCE0E6"/>
                      </a:solidFill>
                    </a:lnR>
                    <a:lnB w="9525" cap="flat" cmpd="sng" algn="ctr">
                      <a:solidFill>
                        <a:srgbClr val="E4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defRPr sz="1050">
                          <a:solidFill>
                            <a:srgbClr val="1F2A3C"/>
                          </a:solidFill>
                          <a:latin typeface="Consolas"/>
                          <a:ea typeface="Consolas"/>
                          <a:cs typeface="Consolas"/>
                        </a:defRPr>
                      </a:pPr>
                    </a:p>
                  </a:txBody>
                  <a:tcPr marL="128016" marR="91440" marT="45720" marB="45720" anchor="ctr">
                    <a:lnL w="9525" cap="flat" cmpd="sng" algn="ctr">
                      <a:solidFill>
                        <a:srgbClr val="DCE0E6"/>
                      </a:solidFill>
                    </a:lnL>
                    <a:lnR w="9525" cap="flat" cmpd="sng" algn="ctr">
                      <a:solidFill>
                        <a:srgbClr val="DCE0E6"/>
                      </a:solidFill>
                    </a:lnR>
                    <a:lnB w="9525" cap="flat" cmpd="sng" algn="ctr">
                      <a:solidFill>
                        <a:srgbClr val="E4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defRPr sz="950">
                          <a:solidFill>
                            <a:srgbClr val="2A2F38"/>
                          </a:solidFill>
                          <a:latin typeface="Consolas"/>
                          <a:ea typeface="Consolas"/>
                          <a:cs typeface="Consolas"/>
                        </a:defRPr>
                      </a:pPr>
                    </a:p>
                  </a:txBody>
                  <a:tcPr marL="128016" marR="91440" marT="45720" marB="45720" anchor="ctr">
                    <a:lnL w="9525" cap="flat" cmpd="sng" algn="ctr">
                      <a:solidFill>
                        <a:srgbClr val="DCE0E6"/>
                      </a:solidFill>
                    </a:lnL>
                    <a:lnR w="9525" cap="flat" cmpd="sng" algn="ctr">
                      <a:solidFill>
                        <a:srgbClr val="DCE0E6"/>
                      </a:solidFill>
                    </a:lnR>
                    <a:lnB w="9525" cap="flat" cmpd="sng" algn="ctr">
                      <a:solidFill>
                        <a:srgbClr val="E4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defRPr sz="950">
                          <a:solidFill>
                            <a:srgbClr val="2A2F38"/>
                          </a:solidFill>
                          <a:latin typeface="Malgun Gothic"/>
                          <a:ea typeface="Malgun Gothic"/>
                          <a:cs typeface="Malgun Gothic"/>
                        </a:defRPr>
                      </a:pPr>
                    </a:p>
                  </a:txBody>
                  <a:tcPr marL="128016" marR="91440" marT="45720" marB="45720" anchor="ctr">
                    <a:lnL w="9525" cap="flat" cmpd="sng" algn="ctr">
                      <a:solidFill>
                        <a:srgbClr val="DCE0E6"/>
                      </a:solidFill>
                    </a:lnL>
                    <a:lnR w="9525" cap="flat" cmpd="sng" algn="ctr">
                      <a:solidFill>
                        <a:srgbClr val="DCE0E6"/>
                      </a:solidFill>
                    </a:lnR>
                    <a:lnB w="9525" cap="flat" cmpd="sng" algn="ctr">
                      <a:solidFill>
                        <a:srgbClr val="E4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defRPr sz="950">
                          <a:solidFill>
                            <a:srgbClr val="2A2F38"/>
                          </a:solidFill>
                          <a:latin typeface="Malgun Gothic"/>
                          <a:ea typeface="Malgun Gothic"/>
                          <a:cs typeface="Malgun Gothic"/>
                        </a:defRPr>
                      </a:pPr>
                    </a:p>
                  </a:txBody>
                  <a:tcPr marL="128016" marR="91440" marT="45720" marB="45720" anchor="ctr">
                    <a:lnL w="9525" cap="flat" cmpd="sng" algn="ctr">
                      <a:solidFill>
                        <a:srgbClr val="DCE0E6"/>
                      </a:solidFill>
                    </a:lnL>
                    <a:lnB w="9525" cap="flat" cmpd="sng" algn="ctr">
                      <a:solidFill>
                        <a:srgbClr val="E4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900" b="0">
                          <a:solidFill>
                            <a:srgbClr val="9AA1AC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128016" marR="91440" marT="45720" marB="45720" anchor="ctr">
                    <a:lnR w="9525" cap="flat" cmpd="sng" algn="ctr">
                      <a:solidFill>
                        <a:srgbClr val="DCE0E6"/>
                      </a:solidFill>
                    </a:lnR>
                    <a:lnB w="9525" cap="flat" cmpd="sng" algn="ctr">
                      <a:solidFill>
                        <a:srgbClr val="E4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defRPr sz="1050">
                          <a:solidFill>
                            <a:srgbClr val="1F2A3C"/>
                          </a:solidFill>
                          <a:latin typeface="Consolas"/>
                          <a:ea typeface="Consolas"/>
                          <a:cs typeface="Consolas"/>
                        </a:defRPr>
                      </a:pPr>
                    </a:p>
                  </a:txBody>
                  <a:tcPr marL="128016" marR="91440" marT="45720" marB="45720" anchor="ctr">
                    <a:lnL w="9525" cap="flat" cmpd="sng" algn="ctr">
                      <a:solidFill>
                        <a:srgbClr val="DCE0E6"/>
                      </a:solidFill>
                    </a:lnL>
                    <a:lnR w="9525" cap="flat" cmpd="sng" algn="ctr">
                      <a:solidFill>
                        <a:srgbClr val="DCE0E6"/>
                      </a:solidFill>
                    </a:lnR>
                    <a:lnB w="9525" cap="flat" cmpd="sng" algn="ctr">
                      <a:solidFill>
                        <a:srgbClr val="E4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defRPr sz="950">
                          <a:solidFill>
                            <a:srgbClr val="2A2F38"/>
                          </a:solidFill>
                          <a:latin typeface="Consolas"/>
                          <a:ea typeface="Consolas"/>
                          <a:cs typeface="Consolas"/>
                        </a:defRPr>
                      </a:pPr>
                    </a:p>
                  </a:txBody>
                  <a:tcPr marL="128016" marR="91440" marT="45720" marB="45720" anchor="ctr">
                    <a:lnL w="9525" cap="flat" cmpd="sng" algn="ctr">
                      <a:solidFill>
                        <a:srgbClr val="DCE0E6"/>
                      </a:solidFill>
                    </a:lnL>
                    <a:lnR w="9525" cap="flat" cmpd="sng" algn="ctr">
                      <a:solidFill>
                        <a:srgbClr val="DCE0E6"/>
                      </a:solidFill>
                    </a:lnR>
                    <a:lnB w="9525" cap="flat" cmpd="sng" algn="ctr">
                      <a:solidFill>
                        <a:srgbClr val="E4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defRPr sz="950">
                          <a:solidFill>
                            <a:srgbClr val="2A2F38"/>
                          </a:solidFill>
                          <a:latin typeface="Malgun Gothic"/>
                          <a:ea typeface="Malgun Gothic"/>
                          <a:cs typeface="Malgun Gothic"/>
                        </a:defRPr>
                      </a:pPr>
                    </a:p>
                  </a:txBody>
                  <a:tcPr marL="128016" marR="91440" marT="45720" marB="45720" anchor="ctr">
                    <a:lnL w="9525" cap="flat" cmpd="sng" algn="ctr">
                      <a:solidFill>
                        <a:srgbClr val="DCE0E6"/>
                      </a:solidFill>
                    </a:lnL>
                    <a:lnR w="9525" cap="flat" cmpd="sng" algn="ctr">
                      <a:solidFill>
                        <a:srgbClr val="DCE0E6"/>
                      </a:solidFill>
                    </a:lnR>
                    <a:lnB w="9525" cap="flat" cmpd="sng" algn="ctr">
                      <a:solidFill>
                        <a:srgbClr val="E4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defRPr sz="950">
                          <a:solidFill>
                            <a:srgbClr val="2A2F38"/>
                          </a:solidFill>
                          <a:latin typeface="Malgun Gothic"/>
                          <a:ea typeface="Malgun Gothic"/>
                          <a:cs typeface="Malgun Gothic"/>
                        </a:defRPr>
                      </a:pPr>
                    </a:p>
                  </a:txBody>
                  <a:tcPr marL="128016" marR="91440" marT="45720" marB="45720" anchor="ctr">
                    <a:lnL w="9525" cap="flat" cmpd="sng" algn="ctr">
                      <a:solidFill>
                        <a:srgbClr val="DCE0E6"/>
                      </a:solidFill>
                    </a:lnL>
                    <a:lnB w="9525" cap="flat" cmpd="sng" algn="ctr">
                      <a:solidFill>
                        <a:srgbClr val="E4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900" b="0">
                          <a:solidFill>
                            <a:srgbClr val="9AA1AC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128016" marR="91440" marT="45720" marB="45720" anchor="ctr">
                    <a:lnR w="9525" cap="flat" cmpd="sng" algn="ctr">
                      <a:solidFill>
                        <a:srgbClr val="DCE0E6"/>
                      </a:solidFill>
                    </a:lnR>
                    <a:lnB w="9525" cap="flat" cmpd="sng" algn="ctr">
                      <a:solidFill>
                        <a:srgbClr val="E4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defRPr sz="1050">
                          <a:solidFill>
                            <a:srgbClr val="1F2A3C"/>
                          </a:solidFill>
                          <a:latin typeface="Consolas"/>
                          <a:ea typeface="Consolas"/>
                          <a:cs typeface="Consolas"/>
                        </a:defRPr>
                      </a:pPr>
                    </a:p>
                  </a:txBody>
                  <a:tcPr marL="128016" marR="91440" marT="45720" marB="45720" anchor="ctr">
                    <a:lnL w="9525" cap="flat" cmpd="sng" algn="ctr">
                      <a:solidFill>
                        <a:srgbClr val="DCE0E6"/>
                      </a:solidFill>
                    </a:lnL>
                    <a:lnR w="9525" cap="flat" cmpd="sng" algn="ctr">
                      <a:solidFill>
                        <a:srgbClr val="DCE0E6"/>
                      </a:solidFill>
                    </a:lnR>
                    <a:lnB w="9525" cap="flat" cmpd="sng" algn="ctr">
                      <a:solidFill>
                        <a:srgbClr val="E4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defRPr sz="950">
                          <a:solidFill>
                            <a:srgbClr val="2A2F38"/>
                          </a:solidFill>
                          <a:latin typeface="Consolas"/>
                          <a:ea typeface="Consolas"/>
                          <a:cs typeface="Consolas"/>
                        </a:defRPr>
                      </a:pPr>
                    </a:p>
                  </a:txBody>
                  <a:tcPr marL="128016" marR="91440" marT="45720" marB="45720" anchor="ctr">
                    <a:lnL w="9525" cap="flat" cmpd="sng" algn="ctr">
                      <a:solidFill>
                        <a:srgbClr val="DCE0E6"/>
                      </a:solidFill>
                    </a:lnL>
                    <a:lnR w="9525" cap="flat" cmpd="sng" algn="ctr">
                      <a:solidFill>
                        <a:srgbClr val="DCE0E6"/>
                      </a:solidFill>
                    </a:lnR>
                    <a:lnB w="9525" cap="flat" cmpd="sng" algn="ctr">
                      <a:solidFill>
                        <a:srgbClr val="E4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defRPr sz="950">
                          <a:solidFill>
                            <a:srgbClr val="2A2F38"/>
                          </a:solidFill>
                          <a:latin typeface="Malgun Gothic"/>
                          <a:ea typeface="Malgun Gothic"/>
                          <a:cs typeface="Malgun Gothic"/>
                        </a:defRPr>
                      </a:pPr>
                    </a:p>
                  </a:txBody>
                  <a:tcPr marL="128016" marR="91440" marT="45720" marB="45720" anchor="ctr">
                    <a:lnL w="9525" cap="flat" cmpd="sng" algn="ctr">
                      <a:solidFill>
                        <a:srgbClr val="DCE0E6"/>
                      </a:solidFill>
                    </a:lnL>
                    <a:lnR w="9525" cap="flat" cmpd="sng" algn="ctr">
                      <a:solidFill>
                        <a:srgbClr val="DCE0E6"/>
                      </a:solidFill>
                    </a:lnR>
                    <a:lnB w="9525" cap="flat" cmpd="sng" algn="ctr">
                      <a:solidFill>
                        <a:srgbClr val="E4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defRPr sz="950">
                          <a:solidFill>
                            <a:srgbClr val="2A2F38"/>
                          </a:solidFill>
                          <a:latin typeface="Malgun Gothic"/>
                          <a:ea typeface="Malgun Gothic"/>
                          <a:cs typeface="Malgun Gothic"/>
                        </a:defRPr>
                      </a:pPr>
                    </a:p>
                  </a:txBody>
                  <a:tcPr marL="128016" marR="91440" marT="45720" marB="45720" anchor="ctr">
                    <a:lnL w="9525" cap="flat" cmpd="sng" algn="ctr">
                      <a:solidFill>
                        <a:srgbClr val="DCE0E6"/>
                      </a:solidFill>
                    </a:lnL>
                    <a:lnB w="9525" cap="flat" cmpd="sng" algn="ctr">
                      <a:solidFill>
                        <a:srgbClr val="E4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900" b="0">
                          <a:solidFill>
                            <a:srgbClr val="9AA1AC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128016" marR="91440" marT="45720" marB="45720" anchor="ctr">
                    <a:lnR w="9525" cap="flat" cmpd="sng" algn="ctr">
                      <a:solidFill>
                        <a:srgbClr val="DCE0E6"/>
                      </a:solidFill>
                    </a:lnR>
                    <a:lnB w="9525" cap="flat" cmpd="sng" algn="ctr">
                      <a:solidFill>
                        <a:srgbClr val="E4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defRPr sz="1050">
                          <a:solidFill>
                            <a:srgbClr val="1F2A3C"/>
                          </a:solidFill>
                          <a:latin typeface="Consolas"/>
                          <a:ea typeface="Consolas"/>
                          <a:cs typeface="Consolas"/>
                        </a:defRPr>
                      </a:pPr>
                    </a:p>
                  </a:txBody>
                  <a:tcPr marL="128016" marR="91440" marT="45720" marB="45720" anchor="ctr">
                    <a:lnL w="9525" cap="flat" cmpd="sng" algn="ctr">
                      <a:solidFill>
                        <a:srgbClr val="DCE0E6"/>
                      </a:solidFill>
                    </a:lnL>
                    <a:lnR w="9525" cap="flat" cmpd="sng" algn="ctr">
                      <a:solidFill>
                        <a:srgbClr val="DCE0E6"/>
                      </a:solidFill>
                    </a:lnR>
                    <a:lnB w="9525" cap="flat" cmpd="sng" algn="ctr">
                      <a:solidFill>
                        <a:srgbClr val="E4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defRPr sz="950">
                          <a:solidFill>
                            <a:srgbClr val="2A2F38"/>
                          </a:solidFill>
                          <a:latin typeface="Consolas"/>
                          <a:ea typeface="Consolas"/>
                          <a:cs typeface="Consolas"/>
                        </a:defRPr>
                      </a:pPr>
                    </a:p>
                  </a:txBody>
                  <a:tcPr marL="128016" marR="91440" marT="45720" marB="45720" anchor="ctr">
                    <a:lnL w="9525" cap="flat" cmpd="sng" algn="ctr">
                      <a:solidFill>
                        <a:srgbClr val="DCE0E6"/>
                      </a:solidFill>
                    </a:lnL>
                    <a:lnR w="9525" cap="flat" cmpd="sng" algn="ctr">
                      <a:solidFill>
                        <a:srgbClr val="DCE0E6"/>
                      </a:solidFill>
                    </a:lnR>
                    <a:lnB w="9525" cap="flat" cmpd="sng" algn="ctr">
                      <a:solidFill>
                        <a:srgbClr val="E4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defRPr sz="950">
                          <a:solidFill>
                            <a:srgbClr val="2A2F38"/>
                          </a:solidFill>
                          <a:latin typeface="Malgun Gothic"/>
                          <a:ea typeface="Malgun Gothic"/>
                          <a:cs typeface="Malgun Gothic"/>
                        </a:defRPr>
                      </a:pPr>
                    </a:p>
                  </a:txBody>
                  <a:tcPr marL="128016" marR="91440" marT="45720" marB="45720" anchor="ctr">
                    <a:lnL w="9525" cap="flat" cmpd="sng" algn="ctr">
                      <a:solidFill>
                        <a:srgbClr val="DCE0E6"/>
                      </a:solidFill>
                    </a:lnL>
                    <a:lnR w="9525" cap="flat" cmpd="sng" algn="ctr">
                      <a:solidFill>
                        <a:srgbClr val="DCE0E6"/>
                      </a:solidFill>
                    </a:lnR>
                    <a:lnB w="9525" cap="flat" cmpd="sng" algn="ctr">
                      <a:solidFill>
                        <a:srgbClr val="E4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defRPr sz="950">
                          <a:solidFill>
                            <a:srgbClr val="2A2F38"/>
                          </a:solidFill>
                          <a:latin typeface="Malgun Gothic"/>
                          <a:ea typeface="Malgun Gothic"/>
                          <a:cs typeface="Malgun Gothic"/>
                        </a:defRPr>
                      </a:pPr>
                    </a:p>
                  </a:txBody>
                  <a:tcPr marL="128016" marR="91440" marT="45720" marB="45720" anchor="ctr">
                    <a:lnL w="9525" cap="flat" cmpd="sng" algn="ctr">
                      <a:solidFill>
                        <a:srgbClr val="DCE0E6"/>
                      </a:solidFill>
                    </a:lnL>
                    <a:lnB w="9525" cap="flat" cmpd="sng" algn="ctr">
                      <a:solidFill>
                        <a:srgbClr val="E4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900" b="0">
                          <a:solidFill>
                            <a:srgbClr val="9AA1AC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128016" marR="91440" marT="45720" marB="45720" anchor="ctr">
                    <a:lnR w="9525" cap="flat" cmpd="sng" algn="ctr">
                      <a:solidFill>
                        <a:srgbClr val="DCE0E6"/>
                      </a:solidFill>
                    </a:lnR>
                    <a:lnB w="9525" cap="flat" cmpd="sng" algn="ctr">
                      <a:solidFill>
                        <a:srgbClr val="E4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defRPr sz="1050">
                          <a:solidFill>
                            <a:srgbClr val="1F2A3C"/>
                          </a:solidFill>
                          <a:latin typeface="Consolas"/>
                          <a:ea typeface="Consolas"/>
                          <a:cs typeface="Consolas"/>
                        </a:defRPr>
                      </a:pPr>
                    </a:p>
                  </a:txBody>
                  <a:tcPr marL="128016" marR="91440" marT="45720" marB="45720" anchor="ctr">
                    <a:lnL w="9525" cap="flat" cmpd="sng" algn="ctr">
                      <a:solidFill>
                        <a:srgbClr val="DCE0E6"/>
                      </a:solidFill>
                    </a:lnL>
                    <a:lnR w="9525" cap="flat" cmpd="sng" algn="ctr">
                      <a:solidFill>
                        <a:srgbClr val="DCE0E6"/>
                      </a:solidFill>
                    </a:lnR>
                    <a:lnB w="9525" cap="flat" cmpd="sng" algn="ctr">
                      <a:solidFill>
                        <a:srgbClr val="E4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defRPr sz="950">
                          <a:solidFill>
                            <a:srgbClr val="2A2F38"/>
                          </a:solidFill>
                          <a:latin typeface="Consolas"/>
                          <a:ea typeface="Consolas"/>
                          <a:cs typeface="Consolas"/>
                        </a:defRPr>
                      </a:pPr>
                    </a:p>
                  </a:txBody>
                  <a:tcPr marL="128016" marR="91440" marT="45720" marB="45720" anchor="ctr">
                    <a:lnL w="9525" cap="flat" cmpd="sng" algn="ctr">
                      <a:solidFill>
                        <a:srgbClr val="DCE0E6"/>
                      </a:solidFill>
                    </a:lnL>
                    <a:lnR w="9525" cap="flat" cmpd="sng" algn="ctr">
                      <a:solidFill>
                        <a:srgbClr val="DCE0E6"/>
                      </a:solidFill>
                    </a:lnR>
                    <a:lnB w="9525" cap="flat" cmpd="sng" algn="ctr">
                      <a:solidFill>
                        <a:srgbClr val="E4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defRPr sz="950">
                          <a:solidFill>
                            <a:srgbClr val="2A2F38"/>
                          </a:solidFill>
                          <a:latin typeface="Malgun Gothic"/>
                          <a:ea typeface="Malgun Gothic"/>
                          <a:cs typeface="Malgun Gothic"/>
                        </a:defRPr>
                      </a:pPr>
                    </a:p>
                  </a:txBody>
                  <a:tcPr marL="128016" marR="91440" marT="45720" marB="45720" anchor="ctr">
                    <a:lnL w="9525" cap="flat" cmpd="sng" algn="ctr">
                      <a:solidFill>
                        <a:srgbClr val="DCE0E6"/>
                      </a:solidFill>
                    </a:lnL>
                    <a:lnR w="9525" cap="flat" cmpd="sng" algn="ctr">
                      <a:solidFill>
                        <a:srgbClr val="DCE0E6"/>
                      </a:solidFill>
                    </a:lnR>
                    <a:lnB w="9525" cap="flat" cmpd="sng" algn="ctr">
                      <a:solidFill>
                        <a:srgbClr val="E4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defRPr sz="950">
                          <a:solidFill>
                            <a:srgbClr val="2A2F38"/>
                          </a:solidFill>
                          <a:latin typeface="Malgun Gothic"/>
                          <a:ea typeface="Malgun Gothic"/>
                          <a:cs typeface="Malgun Gothic"/>
                        </a:defRPr>
                      </a:pPr>
                    </a:p>
                  </a:txBody>
                  <a:tcPr marL="128016" marR="91440" marT="45720" marB="45720" anchor="ctr">
                    <a:lnL w="9525" cap="flat" cmpd="sng" algn="ctr">
                      <a:solidFill>
                        <a:srgbClr val="DCE0E6"/>
                      </a:solidFill>
                    </a:lnL>
                    <a:lnB w="9525" cap="flat" cmpd="sng" algn="ctr">
                      <a:solidFill>
                        <a:srgbClr val="E4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900" b="0">
                          <a:solidFill>
                            <a:srgbClr val="9AA1AC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128016" marR="91440" marT="45720" marB="45720" anchor="ctr">
                    <a:lnR w="9525" cap="flat" cmpd="sng" algn="ctr">
                      <a:solidFill>
                        <a:srgbClr val="DCE0E6"/>
                      </a:solidFill>
                    </a:lnR>
                    <a:lnB w="12700" cap="flat" cmpd="sng" algn="ctr">
                      <a:solidFill>
                        <a:srgbClr val="1F2A3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defRPr sz="1050">
                          <a:solidFill>
                            <a:srgbClr val="1F2A3C"/>
                          </a:solidFill>
                          <a:latin typeface="Consolas"/>
                          <a:ea typeface="Consolas"/>
                          <a:cs typeface="Consolas"/>
                        </a:defRPr>
                      </a:pPr>
                    </a:p>
                  </a:txBody>
                  <a:tcPr marL="128016" marR="91440" marT="45720" marB="45720" anchor="ctr">
                    <a:lnL w="9525" cap="flat" cmpd="sng" algn="ctr">
                      <a:solidFill>
                        <a:srgbClr val="DCE0E6"/>
                      </a:solidFill>
                    </a:lnL>
                    <a:lnR w="9525" cap="flat" cmpd="sng" algn="ctr">
                      <a:solidFill>
                        <a:srgbClr val="DCE0E6"/>
                      </a:solidFill>
                    </a:lnR>
                    <a:lnB w="12700" cap="flat" cmpd="sng" algn="ctr">
                      <a:solidFill>
                        <a:srgbClr val="1F2A3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defRPr sz="950">
                          <a:solidFill>
                            <a:srgbClr val="2A2F38"/>
                          </a:solidFill>
                          <a:latin typeface="Consolas"/>
                          <a:ea typeface="Consolas"/>
                          <a:cs typeface="Consolas"/>
                        </a:defRPr>
                      </a:pPr>
                    </a:p>
                  </a:txBody>
                  <a:tcPr marL="128016" marR="91440" marT="45720" marB="45720" anchor="ctr">
                    <a:lnL w="9525" cap="flat" cmpd="sng" algn="ctr">
                      <a:solidFill>
                        <a:srgbClr val="DCE0E6"/>
                      </a:solidFill>
                    </a:lnL>
                    <a:lnR w="9525" cap="flat" cmpd="sng" algn="ctr">
                      <a:solidFill>
                        <a:srgbClr val="DCE0E6"/>
                      </a:solidFill>
                    </a:lnR>
                    <a:lnB w="12700" cap="flat" cmpd="sng" algn="ctr">
                      <a:solidFill>
                        <a:srgbClr val="1F2A3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defRPr sz="950">
                          <a:solidFill>
                            <a:srgbClr val="2A2F38"/>
                          </a:solidFill>
                          <a:latin typeface="Malgun Gothic"/>
                          <a:ea typeface="Malgun Gothic"/>
                          <a:cs typeface="Malgun Gothic"/>
                        </a:defRPr>
                      </a:pPr>
                    </a:p>
                  </a:txBody>
                  <a:tcPr marL="128016" marR="91440" marT="45720" marB="45720" anchor="ctr">
                    <a:lnL w="9525" cap="flat" cmpd="sng" algn="ctr">
                      <a:solidFill>
                        <a:srgbClr val="DCE0E6"/>
                      </a:solidFill>
                    </a:lnL>
                    <a:lnR w="9525" cap="flat" cmpd="sng" algn="ctr">
                      <a:solidFill>
                        <a:srgbClr val="DCE0E6"/>
                      </a:solidFill>
                    </a:lnR>
                    <a:lnB w="12700" cap="flat" cmpd="sng" algn="ctr">
                      <a:solidFill>
                        <a:srgbClr val="1F2A3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defRPr sz="950">
                          <a:solidFill>
                            <a:srgbClr val="2A2F38"/>
                          </a:solidFill>
                          <a:latin typeface="Malgun Gothic"/>
                          <a:ea typeface="Malgun Gothic"/>
                          <a:cs typeface="Malgun Gothic"/>
                        </a:defRPr>
                      </a:pPr>
                    </a:p>
                  </a:txBody>
                  <a:tcPr marL="128016" marR="91440" marT="45720" marB="45720" anchor="ctr">
                    <a:lnL w="9525" cap="flat" cmpd="sng" algn="ctr">
                      <a:solidFill>
                        <a:srgbClr val="DCE0E6"/>
                      </a:solidFill>
                    </a:lnL>
                    <a:lnB w="12700" cap="flat" cmpd="sng" algn="ctr">
                      <a:solidFill>
                        <a:srgbClr val="1F2A3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5705856"/>
            <a:ext cx="11091672" cy="402336"/>
          </a:xfrm>
          <a:prstGeom prst="rect">
            <a:avLst/>
          </a:prstGeom>
          <a:noFill/>
          <a:ln>
            <a:noFill/>
          </a:ln>
        </p:spPr>
        <p:txBody>
          <a:bodyPr rtlCol="0" anchor="t" lIns="0" rIns="0" tIns="0" bIns="0" wrap="square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1F2A3C"/>
                </a:solidFill>
                <a:latin typeface="Malgun Gothic"/>
                <a:ea typeface="Malgun Gothic"/>
                <a:cs typeface="Malgun Gothic"/>
              </a:rPr>
              <a:t>작성 방법</a:t>
            </a:r>
            <a:r>
              <a:rPr sz="95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    매개변수가 여러 개면 한 칸 안에 줄바꿈(Shift+Enter)으로 나열, ‘매개변수 역할’도 같은 순서로 작성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1F2A3C"/>
                </a:solidFill>
                <a:latin typeface="Malgun Gothic"/>
                <a:ea typeface="Malgun Gothic"/>
                <a:cs typeface="Malgun Gothic"/>
              </a:rPr>
              <a:t>행 추가</a:t>
            </a:r>
            <a:r>
              <a:rPr sz="950" b="0">
                <a:solidFill>
                  <a:srgbClr val="6A717D"/>
                </a:solidFill>
                <a:latin typeface="Malgun Gothic"/>
                <a:ea typeface="Malgun Gothic"/>
                <a:cs typeface="Malgun Gothic"/>
              </a:rPr>
              <a:t>    맨 끝 칸에서 Tab 을 누르면 행이 늘어남 · 함수가 10개를 넘으면 이 페이지를 복제해 이어서 작성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126480"/>
            <a:ext cx="45720" cy="329184"/>
          </a:xfrm>
          <a:prstGeom prst="rect">
            <a:avLst/>
          </a:prstGeom>
          <a:solidFill>
            <a:srgbClr val="C0561B"/>
          </a:solidFill>
          <a:ln>
            <a:noFill/>
          </a:ln>
        </p:spPr>
        <p:txBody>
          <a:bodyPr rtlCol="0" anchor="ctr" lIns="36576" rIns="36576" tIns="36576" bIns="36576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6126480"/>
            <a:ext cx="10927080" cy="329184"/>
          </a:xfrm>
          <a:prstGeom prst="rect">
            <a:avLst/>
          </a:prstGeom>
          <a:noFill/>
          <a:ln>
            <a:noFill/>
          </a:ln>
        </p:spPr>
        <p:txBody>
          <a:bodyPr rtlCol="0" anchor="ctr" lIns="0" rIns="0" tIns="0" bIns="0" wrap="square"/>
          <a:lstStyle/>
          <a:p>
            <a:pPr algn="l"/>
            <a:r>
              <a:rPr sz="1200" b="0">
                <a:solidFill>
                  <a:srgbClr val="1F2A3C"/>
                </a:solidFill>
                <a:latin typeface="Malgun Gothic"/>
                <a:ea typeface="Malgun Gothic"/>
                <a:cs typeface="Malgun Gothic"/>
              </a:rPr>
              <a:t>Core ↔ Application 제어는 위 함수 호출과 Callback으로 이루어짐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